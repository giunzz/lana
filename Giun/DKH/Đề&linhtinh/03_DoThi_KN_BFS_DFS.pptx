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0" r:id="rId1"/>
  </p:sldMasterIdLst>
  <p:sldIdLst>
    <p:sldId id="256" r:id="rId2"/>
    <p:sldId id="257" r:id="rId3"/>
    <p:sldId id="258" r:id="rId4"/>
    <p:sldId id="259" r:id="rId5"/>
    <p:sldId id="260" r:id="rId6"/>
    <p:sldId id="261" r:id="rId7"/>
    <p:sldId id="262" r:id="rId8"/>
    <p:sldId id="264" r:id="rId9"/>
    <p:sldId id="265" r:id="rId10"/>
    <p:sldId id="266" r:id="rId11"/>
    <p:sldId id="267" r:id="rId1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a:extLst>
              <a:ext uri="{FF2B5EF4-FFF2-40B4-BE49-F238E27FC236}">
                <a16:creationId xmlns:a16="http://schemas.microsoft.com/office/drawing/2014/main" id="{239A9D2C-FE40-456A-A13D-7326D272888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DDB4BA8D-07A7-41A3-8CAD-324B905CEFA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66F125D-E552-4C68-83F9-D8994FD6DB08}"/>
              </a:ext>
            </a:extLst>
          </p:cNvPr>
          <p:cNvSpPr>
            <a:spLocks noGrp="1" noChangeArrowheads="1"/>
          </p:cNvSpPr>
          <p:nvPr>
            <p:ph type="sldNum" sz="quarter" idx="12"/>
          </p:nvPr>
        </p:nvSpPr>
        <p:spPr>
          <a:ln/>
        </p:spPr>
        <p:txBody>
          <a:bodyPr/>
          <a:lstStyle>
            <a:lvl1pPr>
              <a:defRPr/>
            </a:lvl1pPr>
          </a:lstStyle>
          <a:p>
            <a:fld id="{615CE965-EA7C-4228-BC5D-0F70F0C2D92A}" type="slidenum">
              <a:rPr lang="en-US" altLang="en-US"/>
              <a:pPr/>
              <a:t>‹#›</a:t>
            </a:fld>
            <a:endParaRPr lang="en-US" altLang="en-US"/>
          </a:p>
        </p:txBody>
      </p:sp>
    </p:spTree>
    <p:extLst>
      <p:ext uri="{BB962C8B-B14F-4D97-AF65-F5344CB8AC3E}">
        <p14:creationId xmlns:p14="http://schemas.microsoft.com/office/powerpoint/2010/main" val="29056665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52250D2C-B8D2-4405-8E42-677BED8CE64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33C89A1D-A0BB-424A-A69F-4208B76890E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B1FEA9E0-3D8B-455D-B3BB-89EE1E28E14D}"/>
              </a:ext>
            </a:extLst>
          </p:cNvPr>
          <p:cNvSpPr>
            <a:spLocks noGrp="1" noChangeArrowheads="1"/>
          </p:cNvSpPr>
          <p:nvPr>
            <p:ph type="sldNum" sz="quarter" idx="12"/>
          </p:nvPr>
        </p:nvSpPr>
        <p:spPr>
          <a:ln/>
        </p:spPr>
        <p:txBody>
          <a:bodyPr/>
          <a:lstStyle>
            <a:lvl1pPr>
              <a:defRPr/>
            </a:lvl1pPr>
          </a:lstStyle>
          <a:p>
            <a:fld id="{3B31ADD6-296E-4630-9D57-B5BF96030FD0}" type="slidenum">
              <a:rPr lang="en-US" altLang="en-US"/>
              <a:pPr/>
              <a:t>‹#›</a:t>
            </a:fld>
            <a:endParaRPr lang="en-US" altLang="en-US"/>
          </a:p>
        </p:txBody>
      </p:sp>
    </p:spTree>
    <p:extLst>
      <p:ext uri="{BB962C8B-B14F-4D97-AF65-F5344CB8AC3E}">
        <p14:creationId xmlns:p14="http://schemas.microsoft.com/office/powerpoint/2010/main" val="3707237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C6E0504A-58BC-4BD4-9E93-D8D0F58F5B9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175F2BF-002F-4591-B854-B8BE6731907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0AEC231-6470-4994-90C8-7ADDA74228D3}"/>
              </a:ext>
            </a:extLst>
          </p:cNvPr>
          <p:cNvSpPr>
            <a:spLocks noGrp="1" noChangeArrowheads="1"/>
          </p:cNvSpPr>
          <p:nvPr>
            <p:ph type="sldNum" sz="quarter" idx="12"/>
          </p:nvPr>
        </p:nvSpPr>
        <p:spPr>
          <a:ln/>
        </p:spPr>
        <p:txBody>
          <a:bodyPr/>
          <a:lstStyle>
            <a:lvl1pPr>
              <a:defRPr/>
            </a:lvl1pPr>
          </a:lstStyle>
          <a:p>
            <a:fld id="{2ED4B9DE-D28D-460A-AEFA-6B7882910B41}" type="slidenum">
              <a:rPr lang="en-US" altLang="en-US"/>
              <a:pPr/>
              <a:t>‹#›</a:t>
            </a:fld>
            <a:endParaRPr lang="en-US" altLang="en-US"/>
          </a:p>
        </p:txBody>
      </p:sp>
    </p:spTree>
    <p:extLst>
      <p:ext uri="{BB962C8B-B14F-4D97-AF65-F5344CB8AC3E}">
        <p14:creationId xmlns:p14="http://schemas.microsoft.com/office/powerpoint/2010/main" val="3812134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7EABAE5-1D3E-4A02-B79E-E2CBE597F72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A1BB6441-C604-4449-94FC-843F72BBBC1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8AE77CC4-2673-451F-AB2F-B1AAD591D7F2}"/>
              </a:ext>
            </a:extLst>
          </p:cNvPr>
          <p:cNvSpPr>
            <a:spLocks noGrp="1" noChangeArrowheads="1"/>
          </p:cNvSpPr>
          <p:nvPr>
            <p:ph type="sldNum" sz="quarter" idx="12"/>
          </p:nvPr>
        </p:nvSpPr>
        <p:spPr>
          <a:ln/>
        </p:spPr>
        <p:txBody>
          <a:bodyPr/>
          <a:lstStyle>
            <a:lvl1pPr>
              <a:defRPr/>
            </a:lvl1pPr>
          </a:lstStyle>
          <a:p>
            <a:fld id="{F461FF09-9242-455D-8849-799A289D1851}" type="slidenum">
              <a:rPr lang="en-US" altLang="en-US"/>
              <a:pPr/>
              <a:t>‹#›</a:t>
            </a:fld>
            <a:endParaRPr lang="en-US" altLang="en-US"/>
          </a:p>
        </p:txBody>
      </p:sp>
    </p:spTree>
    <p:extLst>
      <p:ext uri="{BB962C8B-B14F-4D97-AF65-F5344CB8AC3E}">
        <p14:creationId xmlns:p14="http://schemas.microsoft.com/office/powerpoint/2010/main" val="864854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2A04444F-6F19-4111-BB2D-12542C4DC6B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C7AA5E08-14F8-49C2-B753-F4C30883CE4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CDCF9CB3-5C67-4494-989E-5AE77DD00FAE}"/>
              </a:ext>
            </a:extLst>
          </p:cNvPr>
          <p:cNvSpPr>
            <a:spLocks noGrp="1" noChangeArrowheads="1"/>
          </p:cNvSpPr>
          <p:nvPr>
            <p:ph type="sldNum" sz="quarter" idx="12"/>
          </p:nvPr>
        </p:nvSpPr>
        <p:spPr>
          <a:ln/>
        </p:spPr>
        <p:txBody>
          <a:bodyPr/>
          <a:lstStyle>
            <a:lvl1pPr>
              <a:defRPr/>
            </a:lvl1pPr>
          </a:lstStyle>
          <a:p>
            <a:fld id="{1E8ECC52-BB36-47EA-AB51-878B17B9A13E}" type="slidenum">
              <a:rPr lang="en-US" altLang="en-US"/>
              <a:pPr/>
              <a:t>‹#›</a:t>
            </a:fld>
            <a:endParaRPr lang="en-US" altLang="en-US"/>
          </a:p>
        </p:txBody>
      </p:sp>
    </p:spTree>
    <p:extLst>
      <p:ext uri="{BB962C8B-B14F-4D97-AF65-F5344CB8AC3E}">
        <p14:creationId xmlns:p14="http://schemas.microsoft.com/office/powerpoint/2010/main" val="267808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F451C06-0A7C-40E3-B967-82F5DCB6F5D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3E2C4A71-19F3-483F-BE1B-B47218DB4FD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074B541D-493C-4BFE-8CA7-CB181076FF7A}"/>
              </a:ext>
            </a:extLst>
          </p:cNvPr>
          <p:cNvSpPr>
            <a:spLocks noGrp="1" noChangeArrowheads="1"/>
          </p:cNvSpPr>
          <p:nvPr>
            <p:ph type="sldNum" sz="quarter" idx="12"/>
          </p:nvPr>
        </p:nvSpPr>
        <p:spPr>
          <a:ln/>
        </p:spPr>
        <p:txBody>
          <a:bodyPr/>
          <a:lstStyle>
            <a:lvl1pPr>
              <a:defRPr/>
            </a:lvl1pPr>
          </a:lstStyle>
          <a:p>
            <a:fld id="{5AC9F68D-BA29-44E9-95F3-EC3574202CC6}" type="slidenum">
              <a:rPr lang="en-US" altLang="en-US"/>
              <a:pPr/>
              <a:t>‹#›</a:t>
            </a:fld>
            <a:endParaRPr lang="en-US" altLang="en-US"/>
          </a:p>
        </p:txBody>
      </p:sp>
    </p:spTree>
    <p:extLst>
      <p:ext uri="{BB962C8B-B14F-4D97-AF65-F5344CB8AC3E}">
        <p14:creationId xmlns:p14="http://schemas.microsoft.com/office/powerpoint/2010/main" val="2244170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E100FCC-2522-4001-AC1F-2706CF90B3FD}"/>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03E60394-40CE-43BD-916A-8F5311E07C5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B55ED0E9-CA6B-48E5-AF43-08D31D9F5B03}"/>
              </a:ext>
            </a:extLst>
          </p:cNvPr>
          <p:cNvSpPr>
            <a:spLocks noGrp="1" noChangeArrowheads="1"/>
          </p:cNvSpPr>
          <p:nvPr>
            <p:ph type="sldNum" sz="quarter" idx="12"/>
          </p:nvPr>
        </p:nvSpPr>
        <p:spPr>
          <a:ln/>
        </p:spPr>
        <p:txBody>
          <a:bodyPr/>
          <a:lstStyle>
            <a:lvl1pPr>
              <a:defRPr/>
            </a:lvl1pPr>
          </a:lstStyle>
          <a:p>
            <a:fld id="{C05CBB2E-D4F5-4A0F-A960-C5FCB8A62DA4}" type="slidenum">
              <a:rPr lang="en-US" altLang="en-US"/>
              <a:pPr/>
              <a:t>‹#›</a:t>
            </a:fld>
            <a:endParaRPr lang="en-US" altLang="en-US"/>
          </a:p>
        </p:txBody>
      </p:sp>
    </p:spTree>
    <p:extLst>
      <p:ext uri="{BB962C8B-B14F-4D97-AF65-F5344CB8AC3E}">
        <p14:creationId xmlns:p14="http://schemas.microsoft.com/office/powerpoint/2010/main" val="2937939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4CC0A181-22D6-4BB5-B1BC-9FCA2C1B995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3C9E10CB-0BEC-445D-B15B-7819FAEACF0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FA76246F-1C8D-4AEF-B744-DD7DF2D5E2AA}"/>
              </a:ext>
            </a:extLst>
          </p:cNvPr>
          <p:cNvSpPr>
            <a:spLocks noGrp="1" noChangeArrowheads="1"/>
          </p:cNvSpPr>
          <p:nvPr>
            <p:ph type="sldNum" sz="quarter" idx="12"/>
          </p:nvPr>
        </p:nvSpPr>
        <p:spPr>
          <a:ln/>
        </p:spPr>
        <p:txBody>
          <a:bodyPr/>
          <a:lstStyle>
            <a:lvl1pPr>
              <a:defRPr/>
            </a:lvl1pPr>
          </a:lstStyle>
          <a:p>
            <a:fld id="{B421DE7C-C645-4C5A-ACC5-395B1C78AC97}" type="slidenum">
              <a:rPr lang="en-US" altLang="en-US"/>
              <a:pPr/>
              <a:t>‹#›</a:t>
            </a:fld>
            <a:endParaRPr lang="en-US" altLang="en-US"/>
          </a:p>
        </p:txBody>
      </p:sp>
    </p:spTree>
    <p:extLst>
      <p:ext uri="{BB962C8B-B14F-4D97-AF65-F5344CB8AC3E}">
        <p14:creationId xmlns:p14="http://schemas.microsoft.com/office/powerpoint/2010/main" val="345947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47DCD529-F6A5-4CE0-A6A5-D4E020354AB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2BB94B22-6B80-404C-A762-2754A210101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A8D4E1A0-26E9-41B2-8B68-7FF5D631BE2A}"/>
              </a:ext>
            </a:extLst>
          </p:cNvPr>
          <p:cNvSpPr>
            <a:spLocks noGrp="1" noChangeArrowheads="1"/>
          </p:cNvSpPr>
          <p:nvPr>
            <p:ph type="sldNum" sz="quarter" idx="12"/>
          </p:nvPr>
        </p:nvSpPr>
        <p:spPr>
          <a:ln/>
        </p:spPr>
        <p:txBody>
          <a:bodyPr/>
          <a:lstStyle>
            <a:lvl1pPr>
              <a:defRPr/>
            </a:lvl1pPr>
          </a:lstStyle>
          <a:p>
            <a:fld id="{4DE64CC4-48C8-4DDF-BEE6-FC54C9355703}" type="slidenum">
              <a:rPr lang="en-US" altLang="en-US"/>
              <a:pPr/>
              <a:t>‹#›</a:t>
            </a:fld>
            <a:endParaRPr lang="en-US" altLang="en-US"/>
          </a:p>
        </p:txBody>
      </p:sp>
    </p:spTree>
    <p:extLst>
      <p:ext uri="{BB962C8B-B14F-4D97-AF65-F5344CB8AC3E}">
        <p14:creationId xmlns:p14="http://schemas.microsoft.com/office/powerpoint/2010/main" val="31475586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3DCA760-565E-4C13-BC02-54E65B19098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473B4701-A9EA-433A-AD25-B00EEFA5B35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25076F9A-A229-454B-9A64-46EE40F4F71F}"/>
              </a:ext>
            </a:extLst>
          </p:cNvPr>
          <p:cNvSpPr>
            <a:spLocks noGrp="1" noChangeArrowheads="1"/>
          </p:cNvSpPr>
          <p:nvPr>
            <p:ph type="sldNum" sz="quarter" idx="12"/>
          </p:nvPr>
        </p:nvSpPr>
        <p:spPr>
          <a:ln/>
        </p:spPr>
        <p:txBody>
          <a:bodyPr/>
          <a:lstStyle>
            <a:lvl1pPr>
              <a:defRPr/>
            </a:lvl1pPr>
          </a:lstStyle>
          <a:p>
            <a:fld id="{6D0D9E94-F7E8-4CC3-84E7-498BB051C8F2}" type="slidenum">
              <a:rPr lang="en-US" altLang="en-US"/>
              <a:pPr/>
              <a:t>‹#›</a:t>
            </a:fld>
            <a:endParaRPr lang="en-US" altLang="en-US"/>
          </a:p>
        </p:txBody>
      </p:sp>
    </p:spTree>
    <p:extLst>
      <p:ext uri="{BB962C8B-B14F-4D97-AF65-F5344CB8AC3E}">
        <p14:creationId xmlns:p14="http://schemas.microsoft.com/office/powerpoint/2010/main" val="341027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2EE7C404-FF75-4D30-87E8-2B90E133FCB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9B46D78-1657-4806-9263-C2B7E9988A7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8896B92-811A-4028-9332-4F8E4416FDF1}"/>
              </a:ext>
            </a:extLst>
          </p:cNvPr>
          <p:cNvSpPr>
            <a:spLocks noGrp="1" noChangeArrowheads="1"/>
          </p:cNvSpPr>
          <p:nvPr>
            <p:ph type="sldNum" sz="quarter" idx="12"/>
          </p:nvPr>
        </p:nvSpPr>
        <p:spPr>
          <a:ln/>
        </p:spPr>
        <p:txBody>
          <a:bodyPr/>
          <a:lstStyle>
            <a:lvl1pPr>
              <a:defRPr/>
            </a:lvl1pPr>
          </a:lstStyle>
          <a:p>
            <a:fld id="{A51BF694-C54E-41B8-81F1-986E4BFCB472}" type="slidenum">
              <a:rPr lang="en-US" altLang="en-US"/>
              <a:pPr/>
              <a:t>‹#›</a:t>
            </a:fld>
            <a:endParaRPr lang="en-US" altLang="en-US"/>
          </a:p>
        </p:txBody>
      </p:sp>
    </p:spTree>
    <p:extLst>
      <p:ext uri="{BB962C8B-B14F-4D97-AF65-F5344CB8AC3E}">
        <p14:creationId xmlns:p14="http://schemas.microsoft.com/office/powerpoint/2010/main" val="2020865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7687E27-1F57-48A7-B0B2-57A2EAE01FE1}"/>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08A29C4F-FAA2-477F-8184-75071AE355BF}"/>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9940" name="Rectangle 4">
            <a:extLst>
              <a:ext uri="{FF2B5EF4-FFF2-40B4-BE49-F238E27FC236}">
                <a16:creationId xmlns:a16="http://schemas.microsoft.com/office/drawing/2014/main" id="{D33185DC-60D3-4B13-B8C4-369141C8C3EF}"/>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39941" name="Rectangle 5">
            <a:extLst>
              <a:ext uri="{FF2B5EF4-FFF2-40B4-BE49-F238E27FC236}">
                <a16:creationId xmlns:a16="http://schemas.microsoft.com/office/drawing/2014/main" id="{1DEAD371-88FC-4D92-A47D-DC82680198EF}"/>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39942" name="Rectangle 6">
            <a:extLst>
              <a:ext uri="{FF2B5EF4-FFF2-40B4-BE49-F238E27FC236}">
                <a16:creationId xmlns:a16="http://schemas.microsoft.com/office/drawing/2014/main" id="{ECC85837-0F96-4ED9-8AFC-65B2DF41ADC5}"/>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2AE88AFF-7364-41A0-91DC-20F803A84A89}"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ext Box 4">
            <a:extLst>
              <a:ext uri="{FF2B5EF4-FFF2-40B4-BE49-F238E27FC236}">
                <a16:creationId xmlns:a16="http://schemas.microsoft.com/office/drawing/2014/main" id="{2CBD7FC7-714E-4CFE-8CBE-34C7687E1172}"/>
              </a:ext>
            </a:extLst>
          </p:cNvPr>
          <p:cNvSpPr txBox="1">
            <a:spLocks noChangeArrowheads="1"/>
          </p:cNvSpPr>
          <p:nvPr/>
        </p:nvSpPr>
        <p:spPr bwMode="auto">
          <a:xfrm>
            <a:off x="2514600" y="2667000"/>
            <a:ext cx="4114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sz="4400" b="1"/>
              <a:t>ĐỒ THỊ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2">
            <a:extLst>
              <a:ext uri="{FF2B5EF4-FFF2-40B4-BE49-F238E27FC236}">
                <a16:creationId xmlns:a16="http://schemas.microsoft.com/office/drawing/2014/main" id="{E848040F-B232-4CA7-92C1-1FA657DB923C}"/>
              </a:ext>
            </a:extLst>
          </p:cNvPr>
          <p:cNvSpPr txBox="1">
            <a:spLocks noChangeArrowheads="1"/>
          </p:cNvSpPr>
          <p:nvPr/>
        </p:nvSpPr>
        <p:spPr bwMode="auto">
          <a:xfrm>
            <a:off x="304800" y="457200"/>
            <a:ext cx="594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 Định nghĩa - Các khái niệm</a:t>
            </a:r>
          </a:p>
        </p:txBody>
      </p:sp>
      <p:sp>
        <p:nvSpPr>
          <p:cNvPr id="3075" name="Text Box 3">
            <a:extLst>
              <a:ext uri="{FF2B5EF4-FFF2-40B4-BE49-F238E27FC236}">
                <a16:creationId xmlns:a16="http://schemas.microsoft.com/office/drawing/2014/main" id="{49E32BDC-D237-4629-8350-47FDC77509EF}"/>
              </a:ext>
            </a:extLst>
          </p:cNvPr>
          <p:cNvSpPr txBox="1">
            <a:spLocks noChangeArrowheads="1"/>
          </p:cNvSpPr>
          <p:nvPr/>
        </p:nvSpPr>
        <p:spPr bwMode="auto">
          <a:xfrm>
            <a:off x="304800" y="1143000"/>
            <a:ext cx="8610600"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a:t>Đồ thị G (Graph) là một tập hữu hạn V gồm các đỉnh (Vertices) hay nút và một tập hữu hạn E gồm các cung (Edges) nối các cặp đỉnh.</a:t>
            </a:r>
          </a:p>
          <a:p>
            <a:pPr eaLnBrk="1" hangingPunct="1">
              <a:spcBef>
                <a:spcPct val="0"/>
              </a:spcBef>
              <a:buFontTx/>
              <a:buNone/>
            </a:pPr>
            <a:r>
              <a:rPr lang="en-US" altLang="en-US" sz="2800"/>
              <a:t>Đồ thị được ký hiệu G=&lt;V,E&gt;.</a:t>
            </a:r>
          </a:p>
          <a:p>
            <a:pPr eaLnBrk="1" hangingPunct="1">
              <a:spcBef>
                <a:spcPct val="0"/>
              </a:spcBef>
              <a:buFontTx/>
              <a:buNone/>
            </a:pPr>
            <a:r>
              <a:rPr lang="en-US" altLang="en-US" sz="2800"/>
              <a:t>Nếu (v1, v2) là cặp đỉnh thuộc E thì có một cung nối v1 và v2.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 Box 4">
            <a:extLst>
              <a:ext uri="{FF2B5EF4-FFF2-40B4-BE49-F238E27FC236}">
                <a16:creationId xmlns:a16="http://schemas.microsoft.com/office/drawing/2014/main" id="{6EFDF183-CA02-4367-938B-F8C75C692D8A}"/>
              </a:ext>
            </a:extLst>
          </p:cNvPr>
          <p:cNvSpPr txBox="1">
            <a:spLocks noChangeArrowheads="1"/>
          </p:cNvSpPr>
          <p:nvPr/>
        </p:nvSpPr>
        <p:spPr bwMode="auto">
          <a:xfrm>
            <a:off x="558800" y="990600"/>
            <a:ext cx="5384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t>1. Đồ thị định hướng</a:t>
            </a:r>
            <a:r>
              <a:rPr lang="en-US" altLang="en-US"/>
              <a:t> </a:t>
            </a:r>
            <a:r>
              <a:rPr lang="en-US" altLang="en-US" b="1"/>
              <a:t>hướng</a:t>
            </a:r>
            <a:r>
              <a:rPr lang="en-US" altLang="en-US"/>
              <a:t> (directed graph) </a:t>
            </a:r>
          </a:p>
        </p:txBody>
      </p:sp>
      <p:sp>
        <p:nvSpPr>
          <p:cNvPr id="4099" name="Text Box 5">
            <a:extLst>
              <a:ext uri="{FF2B5EF4-FFF2-40B4-BE49-F238E27FC236}">
                <a16:creationId xmlns:a16="http://schemas.microsoft.com/office/drawing/2014/main" id="{0DA5CFB9-C97E-4332-BAC8-604FCAD9718B}"/>
              </a:ext>
            </a:extLst>
          </p:cNvPr>
          <p:cNvSpPr txBox="1">
            <a:spLocks noChangeArrowheads="1"/>
          </p:cNvSpPr>
          <p:nvPr/>
        </p:nvSpPr>
        <p:spPr bwMode="auto">
          <a:xfrm>
            <a:off x="304800" y="457200"/>
            <a:ext cx="594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 Định nghĩa - Các khái niệm</a:t>
            </a:r>
          </a:p>
        </p:txBody>
      </p:sp>
      <p:sp>
        <p:nvSpPr>
          <p:cNvPr id="4100" name="Text Box 6">
            <a:extLst>
              <a:ext uri="{FF2B5EF4-FFF2-40B4-BE49-F238E27FC236}">
                <a16:creationId xmlns:a16="http://schemas.microsoft.com/office/drawing/2014/main" id="{98A74236-D029-426F-9ED0-0D4E210DFCAA}"/>
              </a:ext>
            </a:extLst>
          </p:cNvPr>
          <p:cNvSpPr txBox="1">
            <a:spLocks noChangeArrowheads="1"/>
          </p:cNvSpPr>
          <p:nvPr/>
        </p:nvSpPr>
        <p:spPr bwMode="auto">
          <a:xfrm>
            <a:off x="838200" y="1752600"/>
            <a:ext cx="75438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t>với đồ thị G(V,E) nếu có cung nối từ v1 đến v2 và cung khác nối từ v2 đến v1 thì G là đồ thị định hướng, cung (v1, v2) là cung định hướng từ v1 đến v2. </a:t>
            </a:r>
          </a:p>
        </p:txBody>
      </p:sp>
      <p:grpSp>
        <p:nvGrpSpPr>
          <p:cNvPr id="4101" name="Group 7">
            <a:extLst>
              <a:ext uri="{FF2B5EF4-FFF2-40B4-BE49-F238E27FC236}">
                <a16:creationId xmlns:a16="http://schemas.microsoft.com/office/drawing/2014/main" id="{1927BADE-6842-4490-B6CA-EA50E95B6027}"/>
              </a:ext>
            </a:extLst>
          </p:cNvPr>
          <p:cNvGrpSpPr>
            <a:grpSpLocks/>
          </p:cNvGrpSpPr>
          <p:nvPr/>
        </p:nvGrpSpPr>
        <p:grpSpPr bwMode="auto">
          <a:xfrm>
            <a:off x="4572000" y="3124200"/>
            <a:ext cx="3810000" cy="3505200"/>
            <a:chOff x="1980" y="4500"/>
            <a:chExt cx="2160" cy="2160"/>
          </a:xfrm>
        </p:grpSpPr>
        <p:sp>
          <p:nvSpPr>
            <p:cNvPr id="4102" name="Oval 8">
              <a:extLst>
                <a:ext uri="{FF2B5EF4-FFF2-40B4-BE49-F238E27FC236}">
                  <a16:creationId xmlns:a16="http://schemas.microsoft.com/office/drawing/2014/main" id="{84F8903C-C63A-4777-B469-A23483A6A09A}"/>
                </a:ext>
              </a:extLst>
            </p:cNvPr>
            <p:cNvSpPr>
              <a:spLocks noChangeArrowheads="1"/>
            </p:cNvSpPr>
            <p:nvPr/>
          </p:nvSpPr>
          <p:spPr bwMode="auto">
            <a:xfrm>
              <a:off x="2700" y="450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3600"/>
                <a:t>1</a:t>
              </a:r>
              <a:endParaRPr lang="en-US" altLang="en-US" sz="1800"/>
            </a:p>
          </p:txBody>
        </p:sp>
        <p:sp>
          <p:nvSpPr>
            <p:cNvPr id="4103" name="Oval 9">
              <a:extLst>
                <a:ext uri="{FF2B5EF4-FFF2-40B4-BE49-F238E27FC236}">
                  <a16:creationId xmlns:a16="http://schemas.microsoft.com/office/drawing/2014/main" id="{74F3D62B-2CF3-4141-A487-3811F768BF23}"/>
                </a:ext>
              </a:extLst>
            </p:cNvPr>
            <p:cNvSpPr>
              <a:spLocks noChangeArrowheads="1"/>
            </p:cNvSpPr>
            <p:nvPr/>
          </p:nvSpPr>
          <p:spPr bwMode="auto">
            <a:xfrm>
              <a:off x="1980" y="522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2</a:t>
              </a:r>
              <a:endParaRPr lang="en-US" altLang="en-US" sz="1800"/>
            </a:p>
          </p:txBody>
        </p:sp>
        <p:sp>
          <p:nvSpPr>
            <p:cNvPr id="4104" name="Oval 10">
              <a:extLst>
                <a:ext uri="{FF2B5EF4-FFF2-40B4-BE49-F238E27FC236}">
                  <a16:creationId xmlns:a16="http://schemas.microsoft.com/office/drawing/2014/main" id="{9077066A-62EA-46B9-9D32-680990EA9B3E}"/>
                </a:ext>
              </a:extLst>
            </p:cNvPr>
            <p:cNvSpPr>
              <a:spLocks noChangeArrowheads="1"/>
            </p:cNvSpPr>
            <p:nvPr/>
          </p:nvSpPr>
          <p:spPr bwMode="auto">
            <a:xfrm>
              <a:off x="3600" y="522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a:t>3</a:t>
              </a:r>
              <a:endParaRPr lang="en-US" altLang="en-US" sz="1800"/>
            </a:p>
          </p:txBody>
        </p:sp>
        <p:sp>
          <p:nvSpPr>
            <p:cNvPr id="4105" name="Oval 11">
              <a:extLst>
                <a:ext uri="{FF2B5EF4-FFF2-40B4-BE49-F238E27FC236}">
                  <a16:creationId xmlns:a16="http://schemas.microsoft.com/office/drawing/2014/main" id="{EC3EA9C3-84F6-4B2F-B0CB-D4B5635A3303}"/>
                </a:ext>
              </a:extLst>
            </p:cNvPr>
            <p:cNvSpPr>
              <a:spLocks noChangeArrowheads="1"/>
            </p:cNvSpPr>
            <p:nvPr/>
          </p:nvSpPr>
          <p:spPr bwMode="auto">
            <a:xfrm>
              <a:off x="2880" y="612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800"/>
                <a:t>4</a:t>
              </a:r>
              <a:endParaRPr lang="en-US" altLang="en-US" sz="6000"/>
            </a:p>
          </p:txBody>
        </p:sp>
        <p:sp>
          <p:nvSpPr>
            <p:cNvPr id="4106" name="Line 12">
              <a:extLst>
                <a:ext uri="{FF2B5EF4-FFF2-40B4-BE49-F238E27FC236}">
                  <a16:creationId xmlns:a16="http://schemas.microsoft.com/office/drawing/2014/main" id="{CA83C774-34C5-402E-94D1-E044F21C6502}"/>
                </a:ext>
              </a:extLst>
            </p:cNvPr>
            <p:cNvSpPr>
              <a:spLocks noChangeShapeType="1"/>
            </p:cNvSpPr>
            <p:nvPr/>
          </p:nvSpPr>
          <p:spPr bwMode="auto">
            <a:xfrm flipH="1">
              <a:off x="2340" y="4860"/>
              <a:ext cx="36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07" name="Line 13">
              <a:extLst>
                <a:ext uri="{FF2B5EF4-FFF2-40B4-BE49-F238E27FC236}">
                  <a16:creationId xmlns:a16="http://schemas.microsoft.com/office/drawing/2014/main" id="{78E92779-03F8-4DD5-939E-33069B59CF67}"/>
                </a:ext>
              </a:extLst>
            </p:cNvPr>
            <p:cNvSpPr>
              <a:spLocks noChangeShapeType="1"/>
            </p:cNvSpPr>
            <p:nvPr/>
          </p:nvSpPr>
          <p:spPr bwMode="auto">
            <a:xfrm flipV="1">
              <a:off x="2520" y="5040"/>
              <a:ext cx="36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08" name="Line 14">
              <a:extLst>
                <a:ext uri="{FF2B5EF4-FFF2-40B4-BE49-F238E27FC236}">
                  <a16:creationId xmlns:a16="http://schemas.microsoft.com/office/drawing/2014/main" id="{4A80E756-FE65-4499-848D-9E8B460E983C}"/>
                </a:ext>
              </a:extLst>
            </p:cNvPr>
            <p:cNvSpPr>
              <a:spLocks noChangeShapeType="1"/>
            </p:cNvSpPr>
            <p:nvPr/>
          </p:nvSpPr>
          <p:spPr bwMode="auto">
            <a:xfrm>
              <a:off x="3240" y="4860"/>
              <a:ext cx="540" cy="36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09" name="Line 15">
              <a:extLst>
                <a:ext uri="{FF2B5EF4-FFF2-40B4-BE49-F238E27FC236}">
                  <a16:creationId xmlns:a16="http://schemas.microsoft.com/office/drawing/2014/main" id="{8DABDFEE-6F9F-4916-A104-4F584498D775}"/>
                </a:ext>
              </a:extLst>
            </p:cNvPr>
            <p:cNvSpPr>
              <a:spLocks noChangeShapeType="1"/>
            </p:cNvSpPr>
            <p:nvPr/>
          </p:nvSpPr>
          <p:spPr bwMode="auto">
            <a:xfrm flipH="1">
              <a:off x="3420" y="5760"/>
              <a:ext cx="360" cy="54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110" name="Line 16">
              <a:extLst>
                <a:ext uri="{FF2B5EF4-FFF2-40B4-BE49-F238E27FC236}">
                  <a16:creationId xmlns:a16="http://schemas.microsoft.com/office/drawing/2014/main" id="{1D8F3B05-34C9-4F57-ADA6-AF58FD04E7D5}"/>
                </a:ext>
              </a:extLst>
            </p:cNvPr>
            <p:cNvSpPr>
              <a:spLocks noChangeShapeType="1"/>
            </p:cNvSpPr>
            <p:nvPr/>
          </p:nvSpPr>
          <p:spPr bwMode="auto">
            <a:xfrm flipV="1">
              <a:off x="3060" y="5040"/>
              <a:ext cx="0" cy="108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a:extLst>
              <a:ext uri="{FF2B5EF4-FFF2-40B4-BE49-F238E27FC236}">
                <a16:creationId xmlns:a16="http://schemas.microsoft.com/office/drawing/2014/main" id="{1B2900E7-63D6-446E-99E9-5916CD1BD51F}"/>
              </a:ext>
            </a:extLst>
          </p:cNvPr>
          <p:cNvSpPr txBox="1">
            <a:spLocks noChangeArrowheads="1"/>
          </p:cNvSpPr>
          <p:nvPr/>
        </p:nvSpPr>
        <p:spPr bwMode="auto">
          <a:xfrm>
            <a:off x="558800" y="990600"/>
            <a:ext cx="728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t>2. Đồ thị không định hướng (undirected graph)</a:t>
            </a:r>
            <a:r>
              <a:rPr lang="en-US" altLang="en-US"/>
              <a:t> </a:t>
            </a:r>
          </a:p>
        </p:txBody>
      </p:sp>
      <p:sp>
        <p:nvSpPr>
          <p:cNvPr id="5123" name="Text Box 3">
            <a:extLst>
              <a:ext uri="{FF2B5EF4-FFF2-40B4-BE49-F238E27FC236}">
                <a16:creationId xmlns:a16="http://schemas.microsoft.com/office/drawing/2014/main" id="{4F8D7BC4-47C5-416A-B305-1A66D0DCAC3C}"/>
              </a:ext>
            </a:extLst>
          </p:cNvPr>
          <p:cNvSpPr txBox="1">
            <a:spLocks noChangeArrowheads="1"/>
          </p:cNvSpPr>
          <p:nvPr/>
        </p:nvSpPr>
        <p:spPr bwMode="auto">
          <a:xfrm>
            <a:off x="304800" y="457200"/>
            <a:ext cx="594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 Định nghĩa - Các khái niệm</a:t>
            </a:r>
          </a:p>
        </p:txBody>
      </p:sp>
      <p:sp>
        <p:nvSpPr>
          <p:cNvPr id="5124" name="Text Box 4">
            <a:extLst>
              <a:ext uri="{FF2B5EF4-FFF2-40B4-BE49-F238E27FC236}">
                <a16:creationId xmlns:a16="http://schemas.microsoft.com/office/drawing/2014/main" id="{FFB343D9-6FC3-4FCA-8C47-A493554C32ED}"/>
              </a:ext>
            </a:extLst>
          </p:cNvPr>
          <p:cNvSpPr txBox="1">
            <a:spLocks noChangeArrowheads="1"/>
          </p:cNvSpPr>
          <p:nvPr/>
        </p:nvSpPr>
        <p:spPr bwMode="auto">
          <a:xfrm>
            <a:off x="838200" y="1752600"/>
            <a:ext cx="7543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t>đồ thị G(V,E) trong đó nếu thứ tự các nút không được coi trọng thì gọi là đồ thị không định hướng.</a:t>
            </a:r>
          </a:p>
        </p:txBody>
      </p:sp>
      <p:grpSp>
        <p:nvGrpSpPr>
          <p:cNvPr id="5125" name="Group 15">
            <a:extLst>
              <a:ext uri="{FF2B5EF4-FFF2-40B4-BE49-F238E27FC236}">
                <a16:creationId xmlns:a16="http://schemas.microsoft.com/office/drawing/2014/main" id="{3B98B947-6B76-4378-A4B0-59E6E5413792}"/>
              </a:ext>
            </a:extLst>
          </p:cNvPr>
          <p:cNvGrpSpPr>
            <a:grpSpLocks/>
          </p:cNvGrpSpPr>
          <p:nvPr/>
        </p:nvGrpSpPr>
        <p:grpSpPr bwMode="auto">
          <a:xfrm>
            <a:off x="2895600" y="2819400"/>
            <a:ext cx="3679825" cy="3657600"/>
            <a:chOff x="6480" y="6480"/>
            <a:chExt cx="2175" cy="2340"/>
          </a:xfrm>
        </p:grpSpPr>
        <p:sp>
          <p:nvSpPr>
            <p:cNvPr id="5126" name="Oval 16">
              <a:extLst>
                <a:ext uri="{FF2B5EF4-FFF2-40B4-BE49-F238E27FC236}">
                  <a16:creationId xmlns:a16="http://schemas.microsoft.com/office/drawing/2014/main" id="{D2171709-E786-4573-9435-577AD5B65EA3}"/>
                </a:ext>
              </a:extLst>
            </p:cNvPr>
            <p:cNvSpPr>
              <a:spLocks noChangeArrowheads="1"/>
            </p:cNvSpPr>
            <p:nvPr/>
          </p:nvSpPr>
          <p:spPr bwMode="auto">
            <a:xfrm>
              <a:off x="7200" y="648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1</a:t>
              </a:r>
              <a:endParaRPr lang="en-US" altLang="en-US" sz="1800"/>
            </a:p>
          </p:txBody>
        </p:sp>
        <p:sp>
          <p:nvSpPr>
            <p:cNvPr id="5127" name="Oval 17">
              <a:extLst>
                <a:ext uri="{FF2B5EF4-FFF2-40B4-BE49-F238E27FC236}">
                  <a16:creationId xmlns:a16="http://schemas.microsoft.com/office/drawing/2014/main" id="{0A0B499E-1803-439A-BF76-EBAAC681A6F0}"/>
                </a:ext>
              </a:extLst>
            </p:cNvPr>
            <p:cNvSpPr>
              <a:spLocks noChangeArrowheads="1"/>
            </p:cNvSpPr>
            <p:nvPr/>
          </p:nvSpPr>
          <p:spPr bwMode="auto">
            <a:xfrm>
              <a:off x="6480" y="720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2</a:t>
              </a:r>
              <a:endParaRPr lang="en-US" altLang="en-US" sz="5400"/>
            </a:p>
          </p:txBody>
        </p:sp>
        <p:sp>
          <p:nvSpPr>
            <p:cNvPr id="5128" name="Oval 18">
              <a:extLst>
                <a:ext uri="{FF2B5EF4-FFF2-40B4-BE49-F238E27FC236}">
                  <a16:creationId xmlns:a16="http://schemas.microsoft.com/office/drawing/2014/main" id="{08E904FA-F2DE-40BA-971C-827F1A988386}"/>
                </a:ext>
              </a:extLst>
            </p:cNvPr>
            <p:cNvSpPr>
              <a:spLocks noChangeArrowheads="1"/>
            </p:cNvSpPr>
            <p:nvPr/>
          </p:nvSpPr>
          <p:spPr bwMode="auto">
            <a:xfrm>
              <a:off x="8100" y="720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3</a:t>
              </a:r>
              <a:endParaRPr lang="en-US" altLang="en-US" sz="5400"/>
            </a:p>
          </p:txBody>
        </p:sp>
        <p:sp>
          <p:nvSpPr>
            <p:cNvPr id="5129" name="Oval 19">
              <a:extLst>
                <a:ext uri="{FF2B5EF4-FFF2-40B4-BE49-F238E27FC236}">
                  <a16:creationId xmlns:a16="http://schemas.microsoft.com/office/drawing/2014/main" id="{BEAB4A74-23CA-42FD-8467-6BFBA5964062}"/>
                </a:ext>
              </a:extLst>
            </p:cNvPr>
            <p:cNvSpPr>
              <a:spLocks noChangeArrowheads="1"/>
            </p:cNvSpPr>
            <p:nvPr/>
          </p:nvSpPr>
          <p:spPr bwMode="auto">
            <a:xfrm>
              <a:off x="6480" y="828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4</a:t>
              </a:r>
              <a:endParaRPr lang="en-US" altLang="en-US" sz="5400"/>
            </a:p>
          </p:txBody>
        </p:sp>
        <p:sp>
          <p:nvSpPr>
            <p:cNvPr id="5130" name="Oval 20">
              <a:extLst>
                <a:ext uri="{FF2B5EF4-FFF2-40B4-BE49-F238E27FC236}">
                  <a16:creationId xmlns:a16="http://schemas.microsoft.com/office/drawing/2014/main" id="{9DC3E830-CA7A-4F79-B6BF-2438A7930C9A}"/>
                </a:ext>
              </a:extLst>
            </p:cNvPr>
            <p:cNvSpPr>
              <a:spLocks noChangeArrowheads="1"/>
            </p:cNvSpPr>
            <p:nvPr/>
          </p:nvSpPr>
          <p:spPr bwMode="auto">
            <a:xfrm>
              <a:off x="8115" y="828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5</a:t>
              </a:r>
              <a:endParaRPr lang="en-US" altLang="en-US" sz="1800"/>
            </a:p>
          </p:txBody>
        </p:sp>
        <p:sp>
          <p:nvSpPr>
            <p:cNvPr id="5131" name="Line 21">
              <a:extLst>
                <a:ext uri="{FF2B5EF4-FFF2-40B4-BE49-F238E27FC236}">
                  <a16:creationId xmlns:a16="http://schemas.microsoft.com/office/drawing/2014/main" id="{8D96746E-B7F9-4373-9FB8-87F3683D7E91}"/>
                </a:ext>
              </a:extLst>
            </p:cNvPr>
            <p:cNvSpPr>
              <a:spLocks noChangeShapeType="1"/>
            </p:cNvSpPr>
            <p:nvPr/>
          </p:nvSpPr>
          <p:spPr bwMode="auto">
            <a:xfrm flipH="1">
              <a:off x="6840" y="6840"/>
              <a:ext cx="36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2" name="Line 22">
              <a:extLst>
                <a:ext uri="{FF2B5EF4-FFF2-40B4-BE49-F238E27FC236}">
                  <a16:creationId xmlns:a16="http://schemas.microsoft.com/office/drawing/2014/main" id="{BCFBF2A9-E420-4E11-82A2-1EB96FDE373F}"/>
                </a:ext>
              </a:extLst>
            </p:cNvPr>
            <p:cNvSpPr>
              <a:spLocks noChangeShapeType="1"/>
            </p:cNvSpPr>
            <p:nvPr/>
          </p:nvSpPr>
          <p:spPr bwMode="auto">
            <a:xfrm>
              <a:off x="6735" y="774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3" name="Line 23">
              <a:extLst>
                <a:ext uri="{FF2B5EF4-FFF2-40B4-BE49-F238E27FC236}">
                  <a16:creationId xmlns:a16="http://schemas.microsoft.com/office/drawing/2014/main" id="{05C15C45-BC7E-4AA9-8154-F1747F196162}"/>
                </a:ext>
              </a:extLst>
            </p:cNvPr>
            <p:cNvSpPr>
              <a:spLocks noChangeShapeType="1"/>
            </p:cNvSpPr>
            <p:nvPr/>
          </p:nvSpPr>
          <p:spPr bwMode="auto">
            <a:xfrm>
              <a:off x="7680" y="6900"/>
              <a:ext cx="54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4" name="Line 24">
              <a:extLst>
                <a:ext uri="{FF2B5EF4-FFF2-40B4-BE49-F238E27FC236}">
                  <a16:creationId xmlns:a16="http://schemas.microsoft.com/office/drawing/2014/main" id="{6145FF7D-8803-431F-AB76-59C1CB294E2D}"/>
                </a:ext>
              </a:extLst>
            </p:cNvPr>
            <p:cNvSpPr>
              <a:spLocks noChangeShapeType="1"/>
            </p:cNvSpPr>
            <p:nvPr/>
          </p:nvSpPr>
          <p:spPr bwMode="auto">
            <a:xfrm>
              <a:off x="8370" y="774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35" name="Line 25">
              <a:extLst>
                <a:ext uri="{FF2B5EF4-FFF2-40B4-BE49-F238E27FC236}">
                  <a16:creationId xmlns:a16="http://schemas.microsoft.com/office/drawing/2014/main" id="{5690363C-CB98-44EF-80CA-722D68459B18}"/>
                </a:ext>
              </a:extLst>
            </p:cNvPr>
            <p:cNvSpPr>
              <a:spLocks noChangeShapeType="1"/>
            </p:cNvSpPr>
            <p:nvPr/>
          </p:nvSpPr>
          <p:spPr bwMode="auto">
            <a:xfrm>
              <a:off x="7020" y="7560"/>
              <a:ext cx="108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2">
            <a:extLst>
              <a:ext uri="{FF2B5EF4-FFF2-40B4-BE49-F238E27FC236}">
                <a16:creationId xmlns:a16="http://schemas.microsoft.com/office/drawing/2014/main" id="{D644C61E-AE38-4E0E-88A6-EE88EC582E05}"/>
              </a:ext>
            </a:extLst>
          </p:cNvPr>
          <p:cNvSpPr txBox="1">
            <a:spLocks noChangeArrowheads="1"/>
          </p:cNvSpPr>
          <p:nvPr/>
        </p:nvSpPr>
        <p:spPr bwMode="auto">
          <a:xfrm>
            <a:off x="558800" y="990600"/>
            <a:ext cx="728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3. </a:t>
            </a:r>
            <a:r>
              <a:rPr lang="en-US" altLang="en-US" b="1"/>
              <a:t>Lân cận</a:t>
            </a:r>
            <a:r>
              <a:rPr lang="en-US" altLang="en-US"/>
              <a:t> (adjacent) </a:t>
            </a:r>
          </a:p>
        </p:txBody>
      </p:sp>
      <p:sp>
        <p:nvSpPr>
          <p:cNvPr id="6147" name="Text Box 3">
            <a:extLst>
              <a:ext uri="{FF2B5EF4-FFF2-40B4-BE49-F238E27FC236}">
                <a16:creationId xmlns:a16="http://schemas.microsoft.com/office/drawing/2014/main" id="{36E6032B-C2D7-4023-949F-0B99640FB7E1}"/>
              </a:ext>
            </a:extLst>
          </p:cNvPr>
          <p:cNvSpPr txBox="1">
            <a:spLocks noChangeArrowheads="1"/>
          </p:cNvSpPr>
          <p:nvPr/>
        </p:nvSpPr>
        <p:spPr bwMode="auto">
          <a:xfrm>
            <a:off x="304800" y="457200"/>
            <a:ext cx="594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 Định nghĩa - Các khái niệm</a:t>
            </a:r>
          </a:p>
        </p:txBody>
      </p:sp>
      <p:sp>
        <p:nvSpPr>
          <p:cNvPr id="6148" name="Text Box 4">
            <a:extLst>
              <a:ext uri="{FF2B5EF4-FFF2-40B4-BE49-F238E27FC236}">
                <a16:creationId xmlns:a16="http://schemas.microsoft.com/office/drawing/2014/main" id="{29ED09EB-47E9-4EA9-8A34-299366EB3B10}"/>
              </a:ext>
            </a:extLst>
          </p:cNvPr>
          <p:cNvSpPr txBox="1">
            <a:spLocks noChangeArrowheads="1"/>
          </p:cNvSpPr>
          <p:nvPr/>
        </p:nvSpPr>
        <p:spPr bwMode="auto">
          <a:xfrm>
            <a:off x="838200" y="1752600"/>
            <a:ext cx="7543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t>(v1, v2) là một cung trong E (tập các cung của đồ thị) thì v1 và v2 được gọi là lân cận của nhau. </a:t>
            </a:r>
          </a:p>
        </p:txBody>
      </p:sp>
      <p:sp>
        <p:nvSpPr>
          <p:cNvPr id="6149" name="Text Box 16">
            <a:extLst>
              <a:ext uri="{FF2B5EF4-FFF2-40B4-BE49-F238E27FC236}">
                <a16:creationId xmlns:a16="http://schemas.microsoft.com/office/drawing/2014/main" id="{6C3AB4BD-3E92-4EA8-AFE4-482A10DFEEEA}"/>
              </a:ext>
            </a:extLst>
          </p:cNvPr>
          <p:cNvSpPr txBox="1">
            <a:spLocks noChangeArrowheads="1"/>
          </p:cNvSpPr>
          <p:nvPr/>
        </p:nvSpPr>
        <p:spPr bwMode="auto">
          <a:xfrm>
            <a:off x="571500" y="2819400"/>
            <a:ext cx="728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4. </a:t>
            </a:r>
            <a:r>
              <a:rPr lang="en-US" altLang="en-US" b="1"/>
              <a:t>Đường đi</a:t>
            </a:r>
            <a:r>
              <a:rPr lang="en-US" altLang="en-US"/>
              <a:t> (path): </a:t>
            </a:r>
          </a:p>
        </p:txBody>
      </p:sp>
      <p:sp>
        <p:nvSpPr>
          <p:cNvPr id="6150" name="Text Box 17">
            <a:extLst>
              <a:ext uri="{FF2B5EF4-FFF2-40B4-BE49-F238E27FC236}">
                <a16:creationId xmlns:a16="http://schemas.microsoft.com/office/drawing/2014/main" id="{6A736827-473A-4EDA-AB8C-FF11B0132E52}"/>
              </a:ext>
            </a:extLst>
          </p:cNvPr>
          <p:cNvSpPr txBox="1">
            <a:spLocks noChangeArrowheads="1"/>
          </p:cNvSpPr>
          <p:nvPr/>
        </p:nvSpPr>
        <p:spPr bwMode="auto">
          <a:xfrm>
            <a:off x="838200" y="3505200"/>
            <a:ext cx="7543800" cy="1674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t>một dãy các đỉnh v­p, vi1, vi2, …, vin, v­q mà (v­p, vi1), ( vi1, vi2),…,( vin, v­q) là các cung thuộc E được gọi là một đường đi. Số lượng các cung trên đường đi ấy được gọi là độ dài của đường đi.</a:t>
            </a:r>
            <a:r>
              <a:rPr lang="en-US" altLang="en-US"/>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a:extLst>
              <a:ext uri="{FF2B5EF4-FFF2-40B4-BE49-F238E27FC236}">
                <a16:creationId xmlns:a16="http://schemas.microsoft.com/office/drawing/2014/main" id="{88B1A679-32E9-430B-B4D3-A98FF89319AA}"/>
              </a:ext>
            </a:extLst>
          </p:cNvPr>
          <p:cNvSpPr txBox="1">
            <a:spLocks noChangeArrowheads="1"/>
          </p:cNvSpPr>
          <p:nvPr/>
        </p:nvSpPr>
        <p:spPr bwMode="auto">
          <a:xfrm>
            <a:off x="558800" y="990600"/>
            <a:ext cx="728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5. </a:t>
            </a:r>
            <a:r>
              <a:rPr lang="en-US" altLang="en-US" b="1"/>
              <a:t>Đường đi đơn</a:t>
            </a:r>
            <a:r>
              <a:rPr lang="en-US" altLang="en-US"/>
              <a:t> </a:t>
            </a:r>
          </a:p>
        </p:txBody>
      </p:sp>
      <p:sp>
        <p:nvSpPr>
          <p:cNvPr id="7171" name="Text Box 3">
            <a:extLst>
              <a:ext uri="{FF2B5EF4-FFF2-40B4-BE49-F238E27FC236}">
                <a16:creationId xmlns:a16="http://schemas.microsoft.com/office/drawing/2014/main" id="{55068B36-30A0-4991-9029-930043AC0B37}"/>
              </a:ext>
            </a:extLst>
          </p:cNvPr>
          <p:cNvSpPr txBox="1">
            <a:spLocks noChangeArrowheads="1"/>
          </p:cNvSpPr>
          <p:nvPr/>
        </p:nvSpPr>
        <p:spPr bwMode="auto">
          <a:xfrm>
            <a:off x="304800" y="457200"/>
            <a:ext cx="594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 Định nghĩa - Các khái niệm</a:t>
            </a:r>
          </a:p>
        </p:txBody>
      </p:sp>
      <p:sp>
        <p:nvSpPr>
          <p:cNvPr id="7172" name="Text Box 4">
            <a:extLst>
              <a:ext uri="{FF2B5EF4-FFF2-40B4-BE49-F238E27FC236}">
                <a16:creationId xmlns:a16="http://schemas.microsoft.com/office/drawing/2014/main" id="{FAF9CA32-02CE-4940-863D-D3DCFBD75751}"/>
              </a:ext>
            </a:extLst>
          </p:cNvPr>
          <p:cNvSpPr txBox="1">
            <a:spLocks noChangeArrowheads="1"/>
          </p:cNvSpPr>
          <p:nvPr/>
        </p:nvSpPr>
        <p:spPr bwMode="auto">
          <a:xfrm>
            <a:off x="838200" y="1752600"/>
            <a:ext cx="7543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t>Là đường đi mà mọi đỉnh trên đó trừ đỉnh đầu và đỉnh cuối đều khác nhau.</a:t>
            </a:r>
          </a:p>
        </p:txBody>
      </p:sp>
      <p:sp>
        <p:nvSpPr>
          <p:cNvPr id="7173" name="Text Box 5">
            <a:extLst>
              <a:ext uri="{FF2B5EF4-FFF2-40B4-BE49-F238E27FC236}">
                <a16:creationId xmlns:a16="http://schemas.microsoft.com/office/drawing/2014/main" id="{5BF80068-D72B-4545-8CC1-567AFE3C8652}"/>
              </a:ext>
            </a:extLst>
          </p:cNvPr>
          <p:cNvSpPr txBox="1">
            <a:spLocks noChangeArrowheads="1"/>
          </p:cNvSpPr>
          <p:nvPr/>
        </p:nvSpPr>
        <p:spPr bwMode="auto">
          <a:xfrm>
            <a:off x="571500" y="2819400"/>
            <a:ext cx="728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6. </a:t>
            </a:r>
            <a:r>
              <a:rPr lang="en-US" altLang="en-US" sz="2000" b="1"/>
              <a:t>Chu trình</a:t>
            </a:r>
            <a:r>
              <a:rPr lang="en-US" altLang="en-US" sz="2000"/>
              <a:t> </a:t>
            </a:r>
          </a:p>
        </p:txBody>
      </p:sp>
      <p:sp>
        <p:nvSpPr>
          <p:cNvPr id="7174" name="Text Box 6">
            <a:extLst>
              <a:ext uri="{FF2B5EF4-FFF2-40B4-BE49-F238E27FC236}">
                <a16:creationId xmlns:a16="http://schemas.microsoft.com/office/drawing/2014/main" id="{FDF23A48-C6F6-43A1-86B4-25DDD39370DC}"/>
              </a:ext>
            </a:extLst>
          </p:cNvPr>
          <p:cNvSpPr txBox="1">
            <a:spLocks noChangeArrowheads="1"/>
          </p:cNvSpPr>
          <p:nvPr/>
        </p:nvSpPr>
        <p:spPr bwMode="auto">
          <a:xfrm>
            <a:off x="838200" y="3505200"/>
            <a:ext cx="7848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t>Là một đường đi đơn mà đỉnh đầu và đỉnh cuối trùng nhau.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2">
            <a:extLst>
              <a:ext uri="{FF2B5EF4-FFF2-40B4-BE49-F238E27FC236}">
                <a16:creationId xmlns:a16="http://schemas.microsoft.com/office/drawing/2014/main" id="{664D7FF7-051C-4D8E-8507-DAD28285DF54}"/>
              </a:ext>
            </a:extLst>
          </p:cNvPr>
          <p:cNvSpPr txBox="1">
            <a:spLocks noChangeArrowheads="1"/>
          </p:cNvSpPr>
          <p:nvPr/>
        </p:nvSpPr>
        <p:spPr bwMode="auto">
          <a:xfrm>
            <a:off x="558800" y="990600"/>
            <a:ext cx="728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7. </a:t>
            </a:r>
            <a:r>
              <a:rPr lang="en-US" altLang="en-US" b="1"/>
              <a:t>Tính liên thông</a:t>
            </a:r>
            <a:r>
              <a:rPr lang="en-US" altLang="en-US"/>
              <a:t> </a:t>
            </a:r>
          </a:p>
        </p:txBody>
      </p:sp>
      <p:sp>
        <p:nvSpPr>
          <p:cNvPr id="8195" name="Text Box 3">
            <a:extLst>
              <a:ext uri="{FF2B5EF4-FFF2-40B4-BE49-F238E27FC236}">
                <a16:creationId xmlns:a16="http://schemas.microsoft.com/office/drawing/2014/main" id="{33D07F61-FD95-47D8-8B32-7662448EC118}"/>
              </a:ext>
            </a:extLst>
          </p:cNvPr>
          <p:cNvSpPr txBox="1">
            <a:spLocks noChangeArrowheads="1"/>
          </p:cNvSpPr>
          <p:nvPr/>
        </p:nvSpPr>
        <p:spPr bwMode="auto">
          <a:xfrm>
            <a:off x="304800" y="457200"/>
            <a:ext cx="594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 Định nghĩa - Các khái niệm</a:t>
            </a:r>
          </a:p>
        </p:txBody>
      </p:sp>
      <p:sp>
        <p:nvSpPr>
          <p:cNvPr id="8196" name="Text Box 4">
            <a:extLst>
              <a:ext uri="{FF2B5EF4-FFF2-40B4-BE49-F238E27FC236}">
                <a16:creationId xmlns:a16="http://schemas.microsoft.com/office/drawing/2014/main" id="{184443CA-8934-4C74-82AA-641FD0DDEE73}"/>
              </a:ext>
            </a:extLst>
          </p:cNvPr>
          <p:cNvSpPr txBox="1">
            <a:spLocks noChangeArrowheads="1"/>
          </p:cNvSpPr>
          <p:nvPr/>
        </p:nvSpPr>
        <p:spPr bwMode="auto">
          <a:xfrm>
            <a:off x="838200" y="1752600"/>
            <a:ext cx="7543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t>Trong đồ thị G, hai đỉnh vi và vj được gọi là liên thông nếu có một đường đi từ vi đến vj.</a:t>
            </a:r>
          </a:p>
        </p:txBody>
      </p:sp>
      <p:sp>
        <p:nvSpPr>
          <p:cNvPr id="8197" name="Text Box 5">
            <a:extLst>
              <a:ext uri="{FF2B5EF4-FFF2-40B4-BE49-F238E27FC236}">
                <a16:creationId xmlns:a16="http://schemas.microsoft.com/office/drawing/2014/main" id="{52B9BB77-4265-4815-8DC8-892A199C1B2E}"/>
              </a:ext>
            </a:extLst>
          </p:cNvPr>
          <p:cNvSpPr txBox="1">
            <a:spLocks noChangeArrowheads="1"/>
          </p:cNvSpPr>
          <p:nvPr/>
        </p:nvSpPr>
        <p:spPr bwMode="auto">
          <a:xfrm>
            <a:off x="571500" y="2819400"/>
            <a:ext cx="72898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8. </a:t>
            </a:r>
            <a:r>
              <a:rPr lang="en-US" altLang="en-US" b="1"/>
              <a:t>Đồ thị liên thông</a:t>
            </a:r>
            <a:r>
              <a:rPr lang="en-US" altLang="en-US"/>
              <a:t> </a:t>
            </a:r>
          </a:p>
        </p:txBody>
      </p:sp>
      <p:sp>
        <p:nvSpPr>
          <p:cNvPr id="8198" name="Text Box 6">
            <a:extLst>
              <a:ext uri="{FF2B5EF4-FFF2-40B4-BE49-F238E27FC236}">
                <a16:creationId xmlns:a16="http://schemas.microsoft.com/office/drawing/2014/main" id="{CD46145B-1B8B-4643-A3C9-C220EB6F9B8C}"/>
              </a:ext>
            </a:extLst>
          </p:cNvPr>
          <p:cNvSpPr txBox="1">
            <a:spLocks noChangeArrowheads="1"/>
          </p:cNvSpPr>
          <p:nvPr/>
        </p:nvSpPr>
        <p:spPr bwMode="auto">
          <a:xfrm>
            <a:off x="838200" y="3505200"/>
            <a:ext cx="78486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a:t>Một đồ thị G là liên thông nếu đối với mọi cặp đỉnh phân biệt vi, vj trong V đều có đường đi từ vi đến vj.</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a:extLst>
              <a:ext uri="{FF2B5EF4-FFF2-40B4-BE49-F238E27FC236}">
                <a16:creationId xmlns:a16="http://schemas.microsoft.com/office/drawing/2014/main" id="{DE36B8C8-F547-41AA-9BE6-786DD25C2642}"/>
              </a:ext>
            </a:extLst>
          </p:cNvPr>
          <p:cNvSpPr txBox="1">
            <a:spLocks noChangeArrowheads="1"/>
          </p:cNvSpPr>
          <p:nvPr/>
        </p:nvSpPr>
        <p:spPr bwMode="auto">
          <a:xfrm>
            <a:off x="558800" y="990600"/>
            <a:ext cx="728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t>1</a:t>
            </a:r>
            <a:r>
              <a:rPr lang="en-US" altLang="en-US"/>
              <a:t>. </a:t>
            </a:r>
            <a:r>
              <a:rPr lang="en-US" altLang="en-US" b="1"/>
              <a:t>Biểu diễn bằng ma trận lân cận</a:t>
            </a:r>
            <a:r>
              <a:rPr lang="en-US" altLang="en-US"/>
              <a:t> </a:t>
            </a:r>
          </a:p>
        </p:txBody>
      </p:sp>
      <p:sp>
        <p:nvSpPr>
          <p:cNvPr id="9219" name="Text Box 3">
            <a:extLst>
              <a:ext uri="{FF2B5EF4-FFF2-40B4-BE49-F238E27FC236}">
                <a16:creationId xmlns:a16="http://schemas.microsoft.com/office/drawing/2014/main" id="{49B78DB7-269B-4A3A-A591-3D38201513E8}"/>
              </a:ext>
            </a:extLst>
          </p:cNvPr>
          <p:cNvSpPr txBox="1">
            <a:spLocks noChangeArrowheads="1"/>
          </p:cNvSpPr>
          <p:nvPr/>
        </p:nvSpPr>
        <p:spPr bwMode="auto">
          <a:xfrm>
            <a:off x="304800" y="457200"/>
            <a:ext cx="594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II. </a:t>
            </a:r>
            <a:r>
              <a:rPr lang="en-US" altLang="en-US" sz="2800" b="1"/>
              <a:t>Biểu diễn đồ thị</a:t>
            </a:r>
          </a:p>
        </p:txBody>
      </p:sp>
      <p:sp>
        <p:nvSpPr>
          <p:cNvPr id="9220" name="Text Box 4">
            <a:extLst>
              <a:ext uri="{FF2B5EF4-FFF2-40B4-BE49-F238E27FC236}">
                <a16:creationId xmlns:a16="http://schemas.microsoft.com/office/drawing/2014/main" id="{3F73451A-8786-45A0-BB27-0511BDED9719}"/>
              </a:ext>
            </a:extLst>
          </p:cNvPr>
          <p:cNvSpPr txBox="1">
            <a:spLocks noChangeArrowheads="1"/>
          </p:cNvSpPr>
          <p:nvPr/>
        </p:nvSpPr>
        <p:spPr bwMode="auto">
          <a:xfrm>
            <a:off x="533400" y="1549400"/>
            <a:ext cx="8229600"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Xét đồ thị G(V,E) có n đỉnh (n&gt;=1) , các đỉnh được đánh số thứ tự theo quy định nào đó. Có thể dùng ma trận vuông A kích thước n x n để biểu diễn đồ thị G. </a:t>
            </a:r>
          </a:p>
          <a:p>
            <a:pPr eaLnBrk="1" hangingPunct="1">
              <a:spcBef>
                <a:spcPct val="0"/>
              </a:spcBef>
              <a:buFontTx/>
              <a:buNone/>
            </a:pPr>
            <a:r>
              <a:rPr lang="en-US" altLang="en-US" sz="1800"/>
              <a:t>Các phần tử của ma trận A có giá trị 0 hoặc 1.</a:t>
            </a:r>
          </a:p>
          <a:p>
            <a:pPr eaLnBrk="1" hangingPunct="1">
              <a:spcBef>
                <a:spcPct val="0"/>
              </a:spcBef>
              <a:buFontTx/>
              <a:buNone/>
            </a:pPr>
            <a:r>
              <a:rPr lang="en-US" altLang="en-US" sz="1800"/>
              <a:t>Nếu:	Aij = 1 tức là có cung (vi, vj);</a:t>
            </a:r>
          </a:p>
          <a:p>
            <a:pPr eaLnBrk="1" hangingPunct="1">
              <a:spcBef>
                <a:spcPct val="0"/>
              </a:spcBef>
              <a:buFontTx/>
              <a:buNone/>
            </a:pPr>
            <a:r>
              <a:rPr lang="en-US" altLang="en-US" sz="1800"/>
              <a:t>	Aij = 0 không tồn tại cung (vi, vj)12345</a:t>
            </a:r>
          </a:p>
          <a:p>
            <a:pPr eaLnBrk="1" hangingPunct="1">
              <a:spcBef>
                <a:spcPct val="0"/>
              </a:spcBef>
              <a:buFontTx/>
              <a:buNone/>
            </a:pPr>
            <a:r>
              <a:rPr lang="en-US" altLang="en-US" sz="1800"/>
              <a:t>Ví dụ</a:t>
            </a:r>
          </a:p>
          <a:p>
            <a:pPr eaLnBrk="1" hangingPunct="1">
              <a:spcBef>
                <a:spcPct val="0"/>
              </a:spcBef>
              <a:buFontTx/>
              <a:buNone/>
            </a:pPr>
            <a:r>
              <a:rPr lang="en-US" altLang="en-US" sz="1800"/>
              <a:t>Đồ thị hình bên được biểu diễn bằng ma trận sau: </a:t>
            </a:r>
          </a:p>
        </p:txBody>
      </p:sp>
      <p:graphicFrame>
        <p:nvGraphicFramePr>
          <p:cNvPr id="51205" name="Group 5">
            <a:extLst>
              <a:ext uri="{FF2B5EF4-FFF2-40B4-BE49-F238E27FC236}">
                <a16:creationId xmlns:a16="http://schemas.microsoft.com/office/drawing/2014/main" id="{4852CCAD-012E-4FE4-9212-66E71787B21D}"/>
              </a:ext>
            </a:extLst>
          </p:cNvPr>
          <p:cNvGraphicFramePr>
            <a:graphicFrameLocks noGrp="1"/>
          </p:cNvGraphicFramePr>
          <p:nvPr/>
        </p:nvGraphicFramePr>
        <p:xfrm>
          <a:off x="533400" y="4114800"/>
          <a:ext cx="2209800" cy="1828800"/>
        </p:xfrm>
        <a:graphic>
          <a:graphicData uri="http://schemas.openxmlformats.org/drawingml/2006/table">
            <a:tbl>
              <a:tblPr/>
              <a:tblGrid>
                <a:gridCol w="393700">
                  <a:extLst>
                    <a:ext uri="{9D8B030D-6E8A-4147-A177-3AD203B41FA5}">
                      <a16:colId xmlns:a16="http://schemas.microsoft.com/office/drawing/2014/main" val="20000"/>
                    </a:ext>
                  </a:extLst>
                </a:gridCol>
                <a:gridCol w="454025">
                  <a:extLst>
                    <a:ext uri="{9D8B030D-6E8A-4147-A177-3AD203B41FA5}">
                      <a16:colId xmlns:a16="http://schemas.microsoft.com/office/drawing/2014/main" val="20001"/>
                    </a:ext>
                  </a:extLst>
                </a:gridCol>
                <a:gridCol w="454025">
                  <a:extLst>
                    <a:ext uri="{9D8B030D-6E8A-4147-A177-3AD203B41FA5}">
                      <a16:colId xmlns:a16="http://schemas.microsoft.com/office/drawing/2014/main" val="20002"/>
                    </a:ext>
                  </a:extLst>
                </a:gridCol>
                <a:gridCol w="454025">
                  <a:extLst>
                    <a:ext uri="{9D8B030D-6E8A-4147-A177-3AD203B41FA5}">
                      <a16:colId xmlns:a16="http://schemas.microsoft.com/office/drawing/2014/main" val="20003"/>
                    </a:ext>
                  </a:extLst>
                </a:gridCol>
                <a:gridCol w="454025">
                  <a:extLst>
                    <a:ext uri="{9D8B030D-6E8A-4147-A177-3AD203B41FA5}">
                      <a16:colId xmlns:a16="http://schemas.microsoft.com/office/drawing/2014/main" val="20004"/>
                    </a:ext>
                  </a:extLst>
                </a:gridCol>
              </a:tblGrid>
              <a:tr h="350838">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0838">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9250">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838">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838">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1</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cs typeface="Arial" panose="020B0604020202020204" pitchFamily="34" charset="0"/>
                        </a:defRPr>
                      </a:lvl1pPr>
                      <a:lvl2pPr>
                        <a:spcBef>
                          <a:spcPct val="20000"/>
                        </a:spcBef>
                        <a:defRPr sz="2400">
                          <a:solidFill>
                            <a:schemeClr val="tx1"/>
                          </a:solidFill>
                          <a:latin typeface="Arial" panose="020B0604020202020204" pitchFamily="34" charset="0"/>
                          <a:cs typeface="Arial" panose="020B0604020202020204" pitchFamily="34" charset="0"/>
                        </a:defRPr>
                      </a:lvl2pPr>
                      <a:lvl3pPr>
                        <a:spcBef>
                          <a:spcPct val="20000"/>
                        </a:spcBef>
                        <a:defRPr sz="2000">
                          <a:solidFill>
                            <a:schemeClr val="tx1"/>
                          </a:solidFill>
                          <a:latin typeface="Arial" panose="020B0604020202020204" pitchFamily="34" charset="0"/>
                          <a:cs typeface="Arial" panose="020B0604020202020204" pitchFamily="34" charset="0"/>
                        </a:defRPr>
                      </a:lvl3pPr>
                      <a:lvl4pPr>
                        <a:spcBef>
                          <a:spcPct val="20000"/>
                        </a:spcBef>
                        <a:defRPr>
                          <a:solidFill>
                            <a:schemeClr val="tx1"/>
                          </a:solidFill>
                          <a:latin typeface="Arial" panose="020B0604020202020204" pitchFamily="34" charset="0"/>
                          <a:cs typeface="Arial" panose="020B0604020202020204" pitchFamily="34" charset="0"/>
                        </a:defRPr>
                      </a:lvl4pPr>
                      <a:lvl5pPr>
                        <a:spcBef>
                          <a:spcPct val="20000"/>
                        </a:spcBef>
                        <a:defRPr>
                          <a:solidFill>
                            <a:schemeClr val="tx1"/>
                          </a:solidFill>
                          <a:latin typeface="Arial" panose="020B0604020202020204" pitchFamily="34" charset="0"/>
                          <a:cs typeface="Arial" panose="020B0604020202020204" pitchFamily="34" charset="0"/>
                        </a:defRPr>
                      </a:lvl5pPr>
                      <a:lvl6pPr fontAlgn="base">
                        <a:spcBef>
                          <a:spcPct val="20000"/>
                        </a:spcBef>
                        <a:spcAft>
                          <a:spcPct val="0"/>
                        </a:spcAft>
                        <a:defRPr>
                          <a:solidFill>
                            <a:schemeClr val="tx1"/>
                          </a:solidFill>
                          <a:latin typeface="Arial" panose="020B0604020202020204" pitchFamily="34" charset="0"/>
                          <a:cs typeface="Arial" panose="020B0604020202020204" pitchFamily="34" charset="0"/>
                        </a:defRPr>
                      </a:lvl6pPr>
                      <a:lvl7pPr fontAlgn="base">
                        <a:spcBef>
                          <a:spcPct val="20000"/>
                        </a:spcBef>
                        <a:spcAft>
                          <a:spcPct val="0"/>
                        </a:spcAft>
                        <a:defRPr>
                          <a:solidFill>
                            <a:schemeClr val="tx1"/>
                          </a:solidFill>
                          <a:latin typeface="Arial" panose="020B0604020202020204" pitchFamily="34" charset="0"/>
                          <a:cs typeface="Arial" panose="020B0604020202020204" pitchFamily="34" charset="0"/>
                        </a:defRPr>
                      </a:lvl7pPr>
                      <a:lvl8pPr fontAlgn="base">
                        <a:spcBef>
                          <a:spcPct val="20000"/>
                        </a:spcBef>
                        <a:spcAft>
                          <a:spcPct val="0"/>
                        </a:spcAft>
                        <a:defRPr>
                          <a:solidFill>
                            <a:schemeClr val="tx1"/>
                          </a:solidFill>
                          <a:latin typeface="Arial" panose="020B0604020202020204" pitchFamily="34" charset="0"/>
                          <a:cs typeface="Arial" panose="020B0604020202020204" pitchFamily="34" charset="0"/>
                        </a:defRPr>
                      </a:lvl8pPr>
                      <a:lvl9pPr fontAlgn="base">
                        <a:spcBef>
                          <a:spcPct val="2000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0</a:t>
                      </a:r>
                      <a:endParaRPr kumimoji="0" lang="en-US" altLang="en-US" sz="2800" b="0" i="0" u="none" strike="noStrike" cap="none" normalizeH="0" baseline="0">
                        <a:ln>
                          <a:noFill/>
                        </a:ln>
                        <a:solidFill>
                          <a:schemeClr val="tx1"/>
                        </a:solidFill>
                        <a:effectLst/>
                        <a:latin typeface="Arial" panose="020B0604020202020204" pitchFamily="34" charset="0"/>
                        <a:cs typeface="Arial" panose="020B0604020202020204" pitchFamily="34"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9259" name="Text Box 54">
            <a:extLst>
              <a:ext uri="{FF2B5EF4-FFF2-40B4-BE49-F238E27FC236}">
                <a16:creationId xmlns:a16="http://schemas.microsoft.com/office/drawing/2014/main" id="{D5961614-82CC-49B6-9623-0039528451CB}"/>
              </a:ext>
            </a:extLst>
          </p:cNvPr>
          <p:cNvSpPr txBox="1">
            <a:spLocks noChangeArrowheads="1"/>
          </p:cNvSpPr>
          <p:nvPr/>
        </p:nvSpPr>
        <p:spPr bwMode="auto">
          <a:xfrm>
            <a:off x="381000" y="5969000"/>
            <a:ext cx="8458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Đối với đồ thị có trọng số thì ma trận lân cận có thể lập bằng cách thay giá trị 1 bởi trọng số tương ứng.</a:t>
            </a:r>
          </a:p>
        </p:txBody>
      </p:sp>
      <p:grpSp>
        <p:nvGrpSpPr>
          <p:cNvPr id="9260" name="Group 15">
            <a:extLst>
              <a:ext uri="{FF2B5EF4-FFF2-40B4-BE49-F238E27FC236}">
                <a16:creationId xmlns:a16="http://schemas.microsoft.com/office/drawing/2014/main" id="{6F6A95C1-900C-4E03-AE52-36725E97DDBC}"/>
              </a:ext>
            </a:extLst>
          </p:cNvPr>
          <p:cNvGrpSpPr>
            <a:grpSpLocks/>
          </p:cNvGrpSpPr>
          <p:nvPr/>
        </p:nvGrpSpPr>
        <p:grpSpPr bwMode="auto">
          <a:xfrm>
            <a:off x="5830888" y="2693988"/>
            <a:ext cx="2971800" cy="2819400"/>
            <a:chOff x="6480" y="6480"/>
            <a:chExt cx="2175" cy="2340"/>
          </a:xfrm>
        </p:grpSpPr>
        <p:sp>
          <p:nvSpPr>
            <p:cNvPr id="9261" name="Oval 16">
              <a:extLst>
                <a:ext uri="{FF2B5EF4-FFF2-40B4-BE49-F238E27FC236}">
                  <a16:creationId xmlns:a16="http://schemas.microsoft.com/office/drawing/2014/main" id="{3F909A65-6081-41C8-B9AB-CC0764596257}"/>
                </a:ext>
              </a:extLst>
            </p:cNvPr>
            <p:cNvSpPr>
              <a:spLocks noChangeArrowheads="1"/>
            </p:cNvSpPr>
            <p:nvPr/>
          </p:nvSpPr>
          <p:spPr bwMode="auto">
            <a:xfrm>
              <a:off x="7200" y="648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1</a:t>
              </a:r>
              <a:endParaRPr lang="en-US" altLang="en-US" sz="1800"/>
            </a:p>
          </p:txBody>
        </p:sp>
        <p:sp>
          <p:nvSpPr>
            <p:cNvPr id="9262" name="Oval 17">
              <a:extLst>
                <a:ext uri="{FF2B5EF4-FFF2-40B4-BE49-F238E27FC236}">
                  <a16:creationId xmlns:a16="http://schemas.microsoft.com/office/drawing/2014/main" id="{87CC68FB-902C-405F-BEA3-13BD965DC321}"/>
                </a:ext>
              </a:extLst>
            </p:cNvPr>
            <p:cNvSpPr>
              <a:spLocks noChangeArrowheads="1"/>
            </p:cNvSpPr>
            <p:nvPr/>
          </p:nvSpPr>
          <p:spPr bwMode="auto">
            <a:xfrm>
              <a:off x="6480" y="720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2</a:t>
              </a:r>
              <a:endParaRPr lang="en-US" altLang="en-US" sz="5400"/>
            </a:p>
          </p:txBody>
        </p:sp>
        <p:sp>
          <p:nvSpPr>
            <p:cNvPr id="9263" name="Oval 18">
              <a:extLst>
                <a:ext uri="{FF2B5EF4-FFF2-40B4-BE49-F238E27FC236}">
                  <a16:creationId xmlns:a16="http://schemas.microsoft.com/office/drawing/2014/main" id="{4A06B739-1598-4AA2-AF38-8F82B8692F80}"/>
                </a:ext>
              </a:extLst>
            </p:cNvPr>
            <p:cNvSpPr>
              <a:spLocks noChangeArrowheads="1"/>
            </p:cNvSpPr>
            <p:nvPr/>
          </p:nvSpPr>
          <p:spPr bwMode="auto">
            <a:xfrm>
              <a:off x="8100" y="720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3</a:t>
              </a:r>
              <a:endParaRPr lang="en-US" altLang="en-US" sz="5400"/>
            </a:p>
          </p:txBody>
        </p:sp>
        <p:sp>
          <p:nvSpPr>
            <p:cNvPr id="9264" name="Oval 19">
              <a:extLst>
                <a:ext uri="{FF2B5EF4-FFF2-40B4-BE49-F238E27FC236}">
                  <a16:creationId xmlns:a16="http://schemas.microsoft.com/office/drawing/2014/main" id="{DEF5B8E9-6FA2-4181-B9C7-57D34127213B}"/>
                </a:ext>
              </a:extLst>
            </p:cNvPr>
            <p:cNvSpPr>
              <a:spLocks noChangeArrowheads="1"/>
            </p:cNvSpPr>
            <p:nvPr/>
          </p:nvSpPr>
          <p:spPr bwMode="auto">
            <a:xfrm>
              <a:off x="6480" y="828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4</a:t>
              </a:r>
              <a:endParaRPr lang="en-US" altLang="en-US" sz="5400"/>
            </a:p>
          </p:txBody>
        </p:sp>
        <p:sp>
          <p:nvSpPr>
            <p:cNvPr id="9265" name="Oval 20">
              <a:extLst>
                <a:ext uri="{FF2B5EF4-FFF2-40B4-BE49-F238E27FC236}">
                  <a16:creationId xmlns:a16="http://schemas.microsoft.com/office/drawing/2014/main" id="{8DCFBD0A-78D0-4435-AAAC-38102CD2E5AC}"/>
                </a:ext>
              </a:extLst>
            </p:cNvPr>
            <p:cNvSpPr>
              <a:spLocks noChangeArrowheads="1"/>
            </p:cNvSpPr>
            <p:nvPr/>
          </p:nvSpPr>
          <p:spPr bwMode="auto">
            <a:xfrm>
              <a:off x="8115" y="828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400"/>
                <a:t>5</a:t>
              </a:r>
              <a:endParaRPr lang="en-US" altLang="en-US" sz="1800"/>
            </a:p>
          </p:txBody>
        </p:sp>
        <p:sp>
          <p:nvSpPr>
            <p:cNvPr id="9266" name="Line 21">
              <a:extLst>
                <a:ext uri="{FF2B5EF4-FFF2-40B4-BE49-F238E27FC236}">
                  <a16:creationId xmlns:a16="http://schemas.microsoft.com/office/drawing/2014/main" id="{5C846387-902B-420E-B088-C83E3E8A41C2}"/>
                </a:ext>
              </a:extLst>
            </p:cNvPr>
            <p:cNvSpPr>
              <a:spLocks noChangeShapeType="1"/>
            </p:cNvSpPr>
            <p:nvPr/>
          </p:nvSpPr>
          <p:spPr bwMode="auto">
            <a:xfrm flipH="1">
              <a:off x="6840" y="6840"/>
              <a:ext cx="36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7" name="Line 22">
              <a:extLst>
                <a:ext uri="{FF2B5EF4-FFF2-40B4-BE49-F238E27FC236}">
                  <a16:creationId xmlns:a16="http://schemas.microsoft.com/office/drawing/2014/main" id="{FC971374-4E32-4053-B6AD-DED05FFA65A9}"/>
                </a:ext>
              </a:extLst>
            </p:cNvPr>
            <p:cNvSpPr>
              <a:spLocks noChangeShapeType="1"/>
            </p:cNvSpPr>
            <p:nvPr/>
          </p:nvSpPr>
          <p:spPr bwMode="auto">
            <a:xfrm>
              <a:off x="6735" y="774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8" name="Line 23">
              <a:extLst>
                <a:ext uri="{FF2B5EF4-FFF2-40B4-BE49-F238E27FC236}">
                  <a16:creationId xmlns:a16="http://schemas.microsoft.com/office/drawing/2014/main" id="{0C956796-5195-4482-BC58-D9328009A50C}"/>
                </a:ext>
              </a:extLst>
            </p:cNvPr>
            <p:cNvSpPr>
              <a:spLocks noChangeShapeType="1"/>
            </p:cNvSpPr>
            <p:nvPr/>
          </p:nvSpPr>
          <p:spPr bwMode="auto">
            <a:xfrm>
              <a:off x="7680" y="6900"/>
              <a:ext cx="54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69" name="Line 24">
              <a:extLst>
                <a:ext uri="{FF2B5EF4-FFF2-40B4-BE49-F238E27FC236}">
                  <a16:creationId xmlns:a16="http://schemas.microsoft.com/office/drawing/2014/main" id="{8817E147-CBE8-4CE0-8E18-485967935888}"/>
                </a:ext>
              </a:extLst>
            </p:cNvPr>
            <p:cNvSpPr>
              <a:spLocks noChangeShapeType="1"/>
            </p:cNvSpPr>
            <p:nvPr/>
          </p:nvSpPr>
          <p:spPr bwMode="auto">
            <a:xfrm>
              <a:off x="8370" y="7740"/>
              <a:ext cx="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270" name="Line 25">
              <a:extLst>
                <a:ext uri="{FF2B5EF4-FFF2-40B4-BE49-F238E27FC236}">
                  <a16:creationId xmlns:a16="http://schemas.microsoft.com/office/drawing/2014/main" id="{7A334D8A-481A-4D12-A35E-820ADDE8FFE6}"/>
                </a:ext>
              </a:extLst>
            </p:cNvPr>
            <p:cNvSpPr>
              <a:spLocks noChangeShapeType="1"/>
            </p:cNvSpPr>
            <p:nvPr/>
          </p:nvSpPr>
          <p:spPr bwMode="auto">
            <a:xfrm>
              <a:off x="7020" y="7560"/>
              <a:ext cx="108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2">
            <a:extLst>
              <a:ext uri="{FF2B5EF4-FFF2-40B4-BE49-F238E27FC236}">
                <a16:creationId xmlns:a16="http://schemas.microsoft.com/office/drawing/2014/main" id="{4D1F9A2E-C968-4014-9E69-D39FB5D18EC5}"/>
              </a:ext>
            </a:extLst>
          </p:cNvPr>
          <p:cNvSpPr txBox="1">
            <a:spLocks noChangeArrowheads="1"/>
          </p:cNvSpPr>
          <p:nvPr/>
        </p:nvSpPr>
        <p:spPr bwMode="auto">
          <a:xfrm>
            <a:off x="558800" y="990600"/>
            <a:ext cx="728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b="1"/>
              <a:t>2</a:t>
            </a:r>
            <a:r>
              <a:rPr lang="en-US" altLang="en-US"/>
              <a:t>. </a:t>
            </a:r>
            <a:r>
              <a:rPr lang="en-US" altLang="en-US" b="1"/>
              <a:t>Biểu diễn bằng danh sách lân cận</a:t>
            </a:r>
            <a:r>
              <a:rPr lang="en-US" altLang="en-US"/>
              <a:t> </a:t>
            </a:r>
          </a:p>
        </p:txBody>
      </p:sp>
      <p:sp>
        <p:nvSpPr>
          <p:cNvPr id="10243" name="Text Box 3">
            <a:extLst>
              <a:ext uri="{FF2B5EF4-FFF2-40B4-BE49-F238E27FC236}">
                <a16:creationId xmlns:a16="http://schemas.microsoft.com/office/drawing/2014/main" id="{F280AF78-3F54-42F7-84AB-D04AE81C2098}"/>
              </a:ext>
            </a:extLst>
          </p:cNvPr>
          <p:cNvSpPr txBox="1">
            <a:spLocks noChangeArrowheads="1"/>
          </p:cNvSpPr>
          <p:nvPr/>
        </p:nvSpPr>
        <p:spPr bwMode="auto">
          <a:xfrm>
            <a:off x="304800" y="457200"/>
            <a:ext cx="594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II. </a:t>
            </a:r>
            <a:r>
              <a:rPr lang="en-US" altLang="en-US" sz="2800" b="1"/>
              <a:t>Biểu diễn đồ thị</a:t>
            </a:r>
          </a:p>
        </p:txBody>
      </p:sp>
      <p:sp>
        <p:nvSpPr>
          <p:cNvPr id="10244" name="Text Box 4">
            <a:extLst>
              <a:ext uri="{FF2B5EF4-FFF2-40B4-BE49-F238E27FC236}">
                <a16:creationId xmlns:a16="http://schemas.microsoft.com/office/drawing/2014/main" id="{7F2B41C2-11C2-440F-B20F-DB9C43854F02}"/>
              </a:ext>
            </a:extLst>
          </p:cNvPr>
          <p:cNvSpPr txBox="1">
            <a:spLocks noChangeArrowheads="1"/>
          </p:cNvSpPr>
          <p:nvPr/>
        </p:nvSpPr>
        <p:spPr bwMode="auto">
          <a:xfrm>
            <a:off x="533400" y="1549400"/>
            <a:ext cx="8229600" cy="2014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Trong cách biểu diễn này, n hàng của ma trận được thay đổi bởi n danh sách móc nối.</a:t>
            </a:r>
          </a:p>
          <a:p>
            <a:pPr eaLnBrk="1" hangingPunct="1">
              <a:spcBef>
                <a:spcPct val="0"/>
              </a:spcBef>
              <a:buFontTx/>
              <a:buNone/>
            </a:pPr>
            <a:r>
              <a:rPr lang="en-US" altLang="en-US" sz="1800"/>
              <a:t>Mỗi đỉnh của G có một danh sách tương ứng, các nút trong danh sách i biểu diễn các đỉnh lân cận với nút i. Mỗi nút có hai trường Index và Link. Trường Index là chỉ số (số thứ tự) của các đỉnh lân cận, trường Link là con trỏ trỏ tới nút kế tiếp trong danh sách.</a:t>
            </a:r>
          </a:p>
          <a:p>
            <a:pPr eaLnBrk="1" hangingPunct="1">
              <a:spcBef>
                <a:spcPct val="0"/>
              </a:spcBef>
              <a:buFontTx/>
              <a:buNone/>
            </a:pPr>
            <a:r>
              <a:rPr lang="en-US" altLang="en-US" sz="1800"/>
              <a:t>Với đồ thị ở hình trên có thể biểu diễn như sau:</a:t>
            </a:r>
          </a:p>
        </p:txBody>
      </p:sp>
      <p:grpSp>
        <p:nvGrpSpPr>
          <p:cNvPr id="10245" name="Group 55">
            <a:extLst>
              <a:ext uri="{FF2B5EF4-FFF2-40B4-BE49-F238E27FC236}">
                <a16:creationId xmlns:a16="http://schemas.microsoft.com/office/drawing/2014/main" id="{5CD90CA1-F4C8-4802-A903-FACFA2CE9B30}"/>
              </a:ext>
            </a:extLst>
          </p:cNvPr>
          <p:cNvGrpSpPr>
            <a:grpSpLocks/>
          </p:cNvGrpSpPr>
          <p:nvPr/>
        </p:nvGrpSpPr>
        <p:grpSpPr bwMode="auto">
          <a:xfrm>
            <a:off x="2514600" y="3581400"/>
            <a:ext cx="5029200" cy="2514600"/>
            <a:chOff x="2340" y="10440"/>
            <a:chExt cx="4860" cy="1950"/>
          </a:xfrm>
        </p:grpSpPr>
        <p:sp>
          <p:nvSpPr>
            <p:cNvPr id="10251" name="Rectangle 56">
              <a:extLst>
                <a:ext uri="{FF2B5EF4-FFF2-40B4-BE49-F238E27FC236}">
                  <a16:creationId xmlns:a16="http://schemas.microsoft.com/office/drawing/2014/main" id="{168AB1E7-7356-43FD-996D-015671AA885D}"/>
                </a:ext>
              </a:extLst>
            </p:cNvPr>
            <p:cNvSpPr>
              <a:spLocks noChangeArrowheads="1"/>
            </p:cNvSpPr>
            <p:nvPr/>
          </p:nvSpPr>
          <p:spPr bwMode="auto">
            <a:xfrm>
              <a:off x="2340" y="10440"/>
              <a:ext cx="54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10252" name="Rectangle 57">
              <a:extLst>
                <a:ext uri="{FF2B5EF4-FFF2-40B4-BE49-F238E27FC236}">
                  <a16:creationId xmlns:a16="http://schemas.microsoft.com/office/drawing/2014/main" id="{25E9F673-944F-4CD1-92CC-E8E913A42D37}"/>
                </a:ext>
              </a:extLst>
            </p:cNvPr>
            <p:cNvSpPr>
              <a:spLocks noChangeArrowheads="1"/>
            </p:cNvSpPr>
            <p:nvPr/>
          </p:nvSpPr>
          <p:spPr bwMode="auto">
            <a:xfrm>
              <a:off x="2340" y="10830"/>
              <a:ext cx="54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10253" name="Rectangle 58">
              <a:extLst>
                <a:ext uri="{FF2B5EF4-FFF2-40B4-BE49-F238E27FC236}">
                  <a16:creationId xmlns:a16="http://schemas.microsoft.com/office/drawing/2014/main" id="{C8A33437-FA55-4EE4-AAEC-8FB392F903A0}"/>
                </a:ext>
              </a:extLst>
            </p:cNvPr>
            <p:cNvSpPr>
              <a:spLocks noChangeArrowheads="1"/>
            </p:cNvSpPr>
            <p:nvPr/>
          </p:nvSpPr>
          <p:spPr bwMode="auto">
            <a:xfrm>
              <a:off x="2340" y="11220"/>
              <a:ext cx="54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10254" name="Rectangle 59">
              <a:extLst>
                <a:ext uri="{FF2B5EF4-FFF2-40B4-BE49-F238E27FC236}">
                  <a16:creationId xmlns:a16="http://schemas.microsoft.com/office/drawing/2014/main" id="{F8455030-CD86-4B69-B86B-35B6AAE7FE2C}"/>
                </a:ext>
              </a:extLst>
            </p:cNvPr>
            <p:cNvSpPr>
              <a:spLocks noChangeArrowheads="1"/>
            </p:cNvSpPr>
            <p:nvPr/>
          </p:nvSpPr>
          <p:spPr bwMode="auto">
            <a:xfrm>
              <a:off x="2340" y="11610"/>
              <a:ext cx="54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10255" name="Rectangle 60">
              <a:extLst>
                <a:ext uri="{FF2B5EF4-FFF2-40B4-BE49-F238E27FC236}">
                  <a16:creationId xmlns:a16="http://schemas.microsoft.com/office/drawing/2014/main" id="{C96A8DAD-79C0-4EE8-A1BB-35855340F6BB}"/>
                </a:ext>
              </a:extLst>
            </p:cNvPr>
            <p:cNvSpPr>
              <a:spLocks noChangeArrowheads="1"/>
            </p:cNvSpPr>
            <p:nvPr/>
          </p:nvSpPr>
          <p:spPr bwMode="auto">
            <a:xfrm>
              <a:off x="2340" y="12000"/>
              <a:ext cx="54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p>
          </p:txBody>
        </p:sp>
        <p:sp>
          <p:nvSpPr>
            <p:cNvPr id="10256" name="Rectangle 61">
              <a:extLst>
                <a:ext uri="{FF2B5EF4-FFF2-40B4-BE49-F238E27FC236}">
                  <a16:creationId xmlns:a16="http://schemas.microsoft.com/office/drawing/2014/main" id="{A507D064-56B4-4200-A876-D33DC78C194B}"/>
                </a:ext>
              </a:extLst>
            </p:cNvPr>
            <p:cNvSpPr>
              <a:spLocks noChangeArrowheads="1"/>
            </p:cNvSpPr>
            <p:nvPr/>
          </p:nvSpPr>
          <p:spPr bwMode="auto">
            <a:xfrm>
              <a:off x="3240" y="10440"/>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t>2</a:t>
              </a:r>
              <a:endParaRPr lang="en-US" altLang="en-US" sz="1800"/>
            </a:p>
          </p:txBody>
        </p:sp>
        <p:sp>
          <p:nvSpPr>
            <p:cNvPr id="10257" name="Line 62">
              <a:extLst>
                <a:ext uri="{FF2B5EF4-FFF2-40B4-BE49-F238E27FC236}">
                  <a16:creationId xmlns:a16="http://schemas.microsoft.com/office/drawing/2014/main" id="{1F397870-F918-4149-A829-22147D0B9ED7}"/>
                </a:ext>
              </a:extLst>
            </p:cNvPr>
            <p:cNvSpPr>
              <a:spLocks noChangeShapeType="1"/>
            </p:cNvSpPr>
            <p:nvPr/>
          </p:nvSpPr>
          <p:spPr bwMode="auto">
            <a:xfrm>
              <a:off x="3960" y="10440"/>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8" name="Rectangle 63">
              <a:extLst>
                <a:ext uri="{FF2B5EF4-FFF2-40B4-BE49-F238E27FC236}">
                  <a16:creationId xmlns:a16="http://schemas.microsoft.com/office/drawing/2014/main" id="{3222AFFA-62E4-4BA8-B6FB-68EE9E3F539C}"/>
                </a:ext>
              </a:extLst>
            </p:cNvPr>
            <p:cNvSpPr>
              <a:spLocks noChangeArrowheads="1"/>
            </p:cNvSpPr>
            <p:nvPr/>
          </p:nvSpPr>
          <p:spPr bwMode="auto">
            <a:xfrm>
              <a:off x="3240" y="10845"/>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t>1</a:t>
              </a:r>
              <a:endParaRPr lang="en-US" altLang="en-US" sz="4400"/>
            </a:p>
          </p:txBody>
        </p:sp>
        <p:sp>
          <p:nvSpPr>
            <p:cNvPr id="10259" name="Line 64">
              <a:extLst>
                <a:ext uri="{FF2B5EF4-FFF2-40B4-BE49-F238E27FC236}">
                  <a16:creationId xmlns:a16="http://schemas.microsoft.com/office/drawing/2014/main" id="{4426615C-35E7-4C66-8465-AAB9A9ED8EEB}"/>
                </a:ext>
              </a:extLst>
            </p:cNvPr>
            <p:cNvSpPr>
              <a:spLocks noChangeShapeType="1"/>
            </p:cNvSpPr>
            <p:nvPr/>
          </p:nvSpPr>
          <p:spPr bwMode="auto">
            <a:xfrm>
              <a:off x="3975" y="10845"/>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0" name="Rectangle 65">
              <a:extLst>
                <a:ext uri="{FF2B5EF4-FFF2-40B4-BE49-F238E27FC236}">
                  <a16:creationId xmlns:a16="http://schemas.microsoft.com/office/drawing/2014/main" id="{3611E0C8-F08C-4737-96B8-32E3560260B7}"/>
                </a:ext>
              </a:extLst>
            </p:cNvPr>
            <p:cNvSpPr>
              <a:spLocks noChangeArrowheads="1"/>
            </p:cNvSpPr>
            <p:nvPr/>
          </p:nvSpPr>
          <p:spPr bwMode="auto">
            <a:xfrm>
              <a:off x="3240" y="11235"/>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t>1</a:t>
              </a:r>
              <a:endParaRPr lang="en-US" altLang="en-US" sz="4400"/>
            </a:p>
          </p:txBody>
        </p:sp>
        <p:sp>
          <p:nvSpPr>
            <p:cNvPr id="10261" name="Line 66">
              <a:extLst>
                <a:ext uri="{FF2B5EF4-FFF2-40B4-BE49-F238E27FC236}">
                  <a16:creationId xmlns:a16="http://schemas.microsoft.com/office/drawing/2014/main" id="{DBA29065-A3BA-4A5E-B496-59E7838FBA8F}"/>
                </a:ext>
              </a:extLst>
            </p:cNvPr>
            <p:cNvSpPr>
              <a:spLocks noChangeShapeType="1"/>
            </p:cNvSpPr>
            <p:nvPr/>
          </p:nvSpPr>
          <p:spPr bwMode="auto">
            <a:xfrm>
              <a:off x="3960" y="11235"/>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2" name="Rectangle 67">
              <a:extLst>
                <a:ext uri="{FF2B5EF4-FFF2-40B4-BE49-F238E27FC236}">
                  <a16:creationId xmlns:a16="http://schemas.microsoft.com/office/drawing/2014/main" id="{176327D2-85A2-40CA-B3FA-6C9ABCF3F103}"/>
                </a:ext>
              </a:extLst>
            </p:cNvPr>
            <p:cNvSpPr>
              <a:spLocks noChangeArrowheads="1"/>
            </p:cNvSpPr>
            <p:nvPr/>
          </p:nvSpPr>
          <p:spPr bwMode="auto">
            <a:xfrm>
              <a:off x="3240" y="11625"/>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t>2</a:t>
              </a:r>
              <a:endParaRPr lang="en-US" altLang="en-US" sz="5400"/>
            </a:p>
          </p:txBody>
        </p:sp>
        <p:sp>
          <p:nvSpPr>
            <p:cNvPr id="10263" name="Line 68">
              <a:extLst>
                <a:ext uri="{FF2B5EF4-FFF2-40B4-BE49-F238E27FC236}">
                  <a16:creationId xmlns:a16="http://schemas.microsoft.com/office/drawing/2014/main" id="{BF1DB8B0-8FC8-4108-BA78-B4FE4345DA05}"/>
                </a:ext>
              </a:extLst>
            </p:cNvPr>
            <p:cNvSpPr>
              <a:spLocks noChangeShapeType="1"/>
            </p:cNvSpPr>
            <p:nvPr/>
          </p:nvSpPr>
          <p:spPr bwMode="auto">
            <a:xfrm>
              <a:off x="3960" y="11625"/>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4" name="Rectangle 69">
              <a:extLst>
                <a:ext uri="{FF2B5EF4-FFF2-40B4-BE49-F238E27FC236}">
                  <a16:creationId xmlns:a16="http://schemas.microsoft.com/office/drawing/2014/main" id="{777D947D-297C-47D4-9CB7-6B1041C26A19}"/>
                </a:ext>
              </a:extLst>
            </p:cNvPr>
            <p:cNvSpPr>
              <a:spLocks noChangeArrowheads="1"/>
            </p:cNvSpPr>
            <p:nvPr/>
          </p:nvSpPr>
          <p:spPr bwMode="auto">
            <a:xfrm>
              <a:off x="3240" y="12030"/>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t>2</a:t>
              </a:r>
              <a:endParaRPr lang="en-US" altLang="en-US" sz="1800"/>
            </a:p>
          </p:txBody>
        </p:sp>
        <p:sp>
          <p:nvSpPr>
            <p:cNvPr id="10265" name="Line 70">
              <a:extLst>
                <a:ext uri="{FF2B5EF4-FFF2-40B4-BE49-F238E27FC236}">
                  <a16:creationId xmlns:a16="http://schemas.microsoft.com/office/drawing/2014/main" id="{2403EEE3-79E9-42D3-B6BC-BDF8B11E0493}"/>
                </a:ext>
              </a:extLst>
            </p:cNvPr>
            <p:cNvSpPr>
              <a:spLocks noChangeShapeType="1"/>
            </p:cNvSpPr>
            <p:nvPr/>
          </p:nvSpPr>
          <p:spPr bwMode="auto">
            <a:xfrm>
              <a:off x="3960" y="12030"/>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66" name="Line 71">
              <a:extLst>
                <a:ext uri="{FF2B5EF4-FFF2-40B4-BE49-F238E27FC236}">
                  <a16:creationId xmlns:a16="http://schemas.microsoft.com/office/drawing/2014/main" id="{4FC47C87-F4C7-405D-9CDB-B1E9D9BE26DB}"/>
                </a:ext>
              </a:extLst>
            </p:cNvPr>
            <p:cNvSpPr>
              <a:spLocks noChangeShapeType="1"/>
            </p:cNvSpPr>
            <p:nvPr/>
          </p:nvSpPr>
          <p:spPr bwMode="auto">
            <a:xfrm>
              <a:off x="2700" y="10620"/>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7" name="Line 72">
              <a:extLst>
                <a:ext uri="{FF2B5EF4-FFF2-40B4-BE49-F238E27FC236}">
                  <a16:creationId xmlns:a16="http://schemas.microsoft.com/office/drawing/2014/main" id="{873E3119-3CC9-405D-ACDF-C664958A23D4}"/>
                </a:ext>
              </a:extLst>
            </p:cNvPr>
            <p:cNvSpPr>
              <a:spLocks noChangeShapeType="1"/>
            </p:cNvSpPr>
            <p:nvPr/>
          </p:nvSpPr>
          <p:spPr bwMode="auto">
            <a:xfrm>
              <a:off x="2730" y="10980"/>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8" name="Line 73">
              <a:extLst>
                <a:ext uri="{FF2B5EF4-FFF2-40B4-BE49-F238E27FC236}">
                  <a16:creationId xmlns:a16="http://schemas.microsoft.com/office/drawing/2014/main" id="{341ABEFE-F738-4B55-A2D0-A78D1A411E30}"/>
                </a:ext>
              </a:extLst>
            </p:cNvPr>
            <p:cNvSpPr>
              <a:spLocks noChangeShapeType="1"/>
            </p:cNvSpPr>
            <p:nvPr/>
          </p:nvSpPr>
          <p:spPr bwMode="auto">
            <a:xfrm>
              <a:off x="2700" y="11400"/>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69" name="Line 74">
              <a:extLst>
                <a:ext uri="{FF2B5EF4-FFF2-40B4-BE49-F238E27FC236}">
                  <a16:creationId xmlns:a16="http://schemas.microsoft.com/office/drawing/2014/main" id="{2C50B49F-F146-40DC-9E9D-426398A0F20F}"/>
                </a:ext>
              </a:extLst>
            </p:cNvPr>
            <p:cNvSpPr>
              <a:spLocks noChangeShapeType="1"/>
            </p:cNvSpPr>
            <p:nvPr/>
          </p:nvSpPr>
          <p:spPr bwMode="auto">
            <a:xfrm>
              <a:off x="2700" y="11775"/>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70" name="Line 75">
              <a:extLst>
                <a:ext uri="{FF2B5EF4-FFF2-40B4-BE49-F238E27FC236}">
                  <a16:creationId xmlns:a16="http://schemas.microsoft.com/office/drawing/2014/main" id="{C2ABFBA4-0614-4D62-8573-813E6C3F48F2}"/>
                </a:ext>
              </a:extLst>
            </p:cNvPr>
            <p:cNvSpPr>
              <a:spLocks noChangeShapeType="1"/>
            </p:cNvSpPr>
            <p:nvPr/>
          </p:nvSpPr>
          <p:spPr bwMode="auto">
            <a:xfrm>
              <a:off x="2700" y="12180"/>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71" name="Rectangle 76">
              <a:extLst>
                <a:ext uri="{FF2B5EF4-FFF2-40B4-BE49-F238E27FC236}">
                  <a16:creationId xmlns:a16="http://schemas.microsoft.com/office/drawing/2014/main" id="{79CB35FF-358A-4C00-9C41-8DC4864AF932}"/>
                </a:ext>
              </a:extLst>
            </p:cNvPr>
            <p:cNvSpPr>
              <a:spLocks noChangeArrowheads="1"/>
            </p:cNvSpPr>
            <p:nvPr/>
          </p:nvSpPr>
          <p:spPr bwMode="auto">
            <a:xfrm>
              <a:off x="4680" y="10440"/>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t>3</a:t>
              </a:r>
              <a:endParaRPr lang="en-US" altLang="en-US" sz="5400"/>
            </a:p>
          </p:txBody>
        </p:sp>
        <p:sp>
          <p:nvSpPr>
            <p:cNvPr id="10272" name="Line 77">
              <a:extLst>
                <a:ext uri="{FF2B5EF4-FFF2-40B4-BE49-F238E27FC236}">
                  <a16:creationId xmlns:a16="http://schemas.microsoft.com/office/drawing/2014/main" id="{90744488-AA6B-411F-AF5E-69D82FACCB46}"/>
                </a:ext>
              </a:extLst>
            </p:cNvPr>
            <p:cNvSpPr>
              <a:spLocks noChangeShapeType="1"/>
            </p:cNvSpPr>
            <p:nvPr/>
          </p:nvSpPr>
          <p:spPr bwMode="auto">
            <a:xfrm>
              <a:off x="5400" y="10440"/>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3" name="Line 78">
              <a:extLst>
                <a:ext uri="{FF2B5EF4-FFF2-40B4-BE49-F238E27FC236}">
                  <a16:creationId xmlns:a16="http://schemas.microsoft.com/office/drawing/2014/main" id="{CE9093B9-3300-4280-B710-E03BABE24E64}"/>
                </a:ext>
              </a:extLst>
            </p:cNvPr>
            <p:cNvSpPr>
              <a:spLocks noChangeShapeType="1"/>
            </p:cNvSpPr>
            <p:nvPr/>
          </p:nvSpPr>
          <p:spPr bwMode="auto">
            <a:xfrm>
              <a:off x="4140" y="10620"/>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74" name="Rectangle 79">
              <a:extLst>
                <a:ext uri="{FF2B5EF4-FFF2-40B4-BE49-F238E27FC236}">
                  <a16:creationId xmlns:a16="http://schemas.microsoft.com/office/drawing/2014/main" id="{4351C37E-8697-4B51-915F-62D814D7CC23}"/>
                </a:ext>
              </a:extLst>
            </p:cNvPr>
            <p:cNvSpPr>
              <a:spLocks noChangeArrowheads="1"/>
            </p:cNvSpPr>
            <p:nvPr/>
          </p:nvSpPr>
          <p:spPr bwMode="auto">
            <a:xfrm>
              <a:off x="4680" y="10830"/>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t>4</a:t>
              </a:r>
              <a:endParaRPr lang="en-US" altLang="en-US" sz="1800"/>
            </a:p>
          </p:txBody>
        </p:sp>
        <p:sp>
          <p:nvSpPr>
            <p:cNvPr id="10275" name="Line 80">
              <a:extLst>
                <a:ext uri="{FF2B5EF4-FFF2-40B4-BE49-F238E27FC236}">
                  <a16:creationId xmlns:a16="http://schemas.microsoft.com/office/drawing/2014/main" id="{E3D27740-80EA-4409-90E2-9618B054E4EE}"/>
                </a:ext>
              </a:extLst>
            </p:cNvPr>
            <p:cNvSpPr>
              <a:spLocks noChangeShapeType="1"/>
            </p:cNvSpPr>
            <p:nvPr/>
          </p:nvSpPr>
          <p:spPr bwMode="auto">
            <a:xfrm>
              <a:off x="5400" y="10830"/>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6" name="Line 81">
              <a:extLst>
                <a:ext uri="{FF2B5EF4-FFF2-40B4-BE49-F238E27FC236}">
                  <a16:creationId xmlns:a16="http://schemas.microsoft.com/office/drawing/2014/main" id="{7D402DF8-DA5C-46E9-8BAA-9FEC4FD3DECD}"/>
                </a:ext>
              </a:extLst>
            </p:cNvPr>
            <p:cNvSpPr>
              <a:spLocks noChangeShapeType="1"/>
            </p:cNvSpPr>
            <p:nvPr/>
          </p:nvSpPr>
          <p:spPr bwMode="auto">
            <a:xfrm>
              <a:off x="4140" y="11010"/>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77" name="Rectangle 82">
              <a:extLst>
                <a:ext uri="{FF2B5EF4-FFF2-40B4-BE49-F238E27FC236}">
                  <a16:creationId xmlns:a16="http://schemas.microsoft.com/office/drawing/2014/main" id="{2679C1C5-2F32-4077-B7F8-19B4921308C3}"/>
                </a:ext>
              </a:extLst>
            </p:cNvPr>
            <p:cNvSpPr>
              <a:spLocks noChangeArrowheads="1"/>
            </p:cNvSpPr>
            <p:nvPr/>
          </p:nvSpPr>
          <p:spPr bwMode="auto">
            <a:xfrm>
              <a:off x="6120" y="10800"/>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t>5</a:t>
              </a:r>
              <a:endParaRPr lang="en-US" altLang="en-US" sz="5400"/>
            </a:p>
          </p:txBody>
        </p:sp>
        <p:sp>
          <p:nvSpPr>
            <p:cNvPr id="10278" name="Line 83">
              <a:extLst>
                <a:ext uri="{FF2B5EF4-FFF2-40B4-BE49-F238E27FC236}">
                  <a16:creationId xmlns:a16="http://schemas.microsoft.com/office/drawing/2014/main" id="{D5121B93-E66F-427C-8317-2E70F8E922D5}"/>
                </a:ext>
              </a:extLst>
            </p:cNvPr>
            <p:cNvSpPr>
              <a:spLocks noChangeShapeType="1"/>
            </p:cNvSpPr>
            <p:nvPr/>
          </p:nvSpPr>
          <p:spPr bwMode="auto">
            <a:xfrm>
              <a:off x="6840" y="10800"/>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79" name="Line 84">
              <a:extLst>
                <a:ext uri="{FF2B5EF4-FFF2-40B4-BE49-F238E27FC236}">
                  <a16:creationId xmlns:a16="http://schemas.microsoft.com/office/drawing/2014/main" id="{8F8A9E34-17BE-42E9-9CAF-D749FFFA3271}"/>
                </a:ext>
              </a:extLst>
            </p:cNvPr>
            <p:cNvSpPr>
              <a:spLocks noChangeShapeType="1"/>
            </p:cNvSpPr>
            <p:nvPr/>
          </p:nvSpPr>
          <p:spPr bwMode="auto">
            <a:xfrm>
              <a:off x="5580" y="10980"/>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80" name="Rectangle 85">
              <a:extLst>
                <a:ext uri="{FF2B5EF4-FFF2-40B4-BE49-F238E27FC236}">
                  <a16:creationId xmlns:a16="http://schemas.microsoft.com/office/drawing/2014/main" id="{5F0FE77B-3A34-4A42-9A1E-EEB3108B69F0}"/>
                </a:ext>
              </a:extLst>
            </p:cNvPr>
            <p:cNvSpPr>
              <a:spLocks noChangeArrowheads="1"/>
            </p:cNvSpPr>
            <p:nvPr/>
          </p:nvSpPr>
          <p:spPr bwMode="auto">
            <a:xfrm>
              <a:off x="4680" y="11220"/>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t>5</a:t>
              </a:r>
              <a:endParaRPr lang="en-US" altLang="en-US" sz="1800"/>
            </a:p>
          </p:txBody>
        </p:sp>
        <p:sp>
          <p:nvSpPr>
            <p:cNvPr id="10281" name="Line 86">
              <a:extLst>
                <a:ext uri="{FF2B5EF4-FFF2-40B4-BE49-F238E27FC236}">
                  <a16:creationId xmlns:a16="http://schemas.microsoft.com/office/drawing/2014/main" id="{EADA68E7-D7B7-4261-A036-0FBCB2FCDAA1}"/>
                </a:ext>
              </a:extLst>
            </p:cNvPr>
            <p:cNvSpPr>
              <a:spLocks noChangeShapeType="1"/>
            </p:cNvSpPr>
            <p:nvPr/>
          </p:nvSpPr>
          <p:spPr bwMode="auto">
            <a:xfrm>
              <a:off x="5400" y="11220"/>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82" name="Line 87">
              <a:extLst>
                <a:ext uri="{FF2B5EF4-FFF2-40B4-BE49-F238E27FC236}">
                  <a16:creationId xmlns:a16="http://schemas.microsoft.com/office/drawing/2014/main" id="{6B0DDD9D-66FE-4625-B312-A99045BBC53B}"/>
                </a:ext>
              </a:extLst>
            </p:cNvPr>
            <p:cNvSpPr>
              <a:spLocks noChangeShapeType="1"/>
            </p:cNvSpPr>
            <p:nvPr/>
          </p:nvSpPr>
          <p:spPr bwMode="auto">
            <a:xfrm>
              <a:off x="4140" y="11400"/>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283" name="Rectangle 88">
              <a:extLst>
                <a:ext uri="{FF2B5EF4-FFF2-40B4-BE49-F238E27FC236}">
                  <a16:creationId xmlns:a16="http://schemas.microsoft.com/office/drawing/2014/main" id="{24367418-317F-4435-9D3D-370F1D4A536F}"/>
                </a:ext>
              </a:extLst>
            </p:cNvPr>
            <p:cNvSpPr>
              <a:spLocks noChangeArrowheads="1"/>
            </p:cNvSpPr>
            <p:nvPr/>
          </p:nvSpPr>
          <p:spPr bwMode="auto">
            <a:xfrm>
              <a:off x="4680" y="12000"/>
              <a:ext cx="1080" cy="360"/>
            </a:xfrm>
            <a:prstGeom prst="rect">
              <a:avLst/>
            </a:prstGeom>
            <a:solidFill>
              <a:srgbClr val="FFFFFF"/>
            </a:solidFill>
            <a:ln w="9525">
              <a:solidFill>
                <a:srgbClr val="000000"/>
              </a:solidFill>
              <a:miter lim="800000"/>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2000"/>
                <a:t>3</a:t>
              </a:r>
              <a:endParaRPr lang="en-US" altLang="en-US" sz="5400"/>
            </a:p>
          </p:txBody>
        </p:sp>
        <p:sp>
          <p:nvSpPr>
            <p:cNvPr id="10284" name="Line 89">
              <a:extLst>
                <a:ext uri="{FF2B5EF4-FFF2-40B4-BE49-F238E27FC236}">
                  <a16:creationId xmlns:a16="http://schemas.microsoft.com/office/drawing/2014/main" id="{37850D93-C3F9-42CC-ABF6-883EB7B957F2}"/>
                </a:ext>
              </a:extLst>
            </p:cNvPr>
            <p:cNvSpPr>
              <a:spLocks noChangeShapeType="1"/>
            </p:cNvSpPr>
            <p:nvPr/>
          </p:nvSpPr>
          <p:spPr bwMode="auto">
            <a:xfrm>
              <a:off x="5400" y="12000"/>
              <a:ext cx="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85" name="Line 90">
              <a:extLst>
                <a:ext uri="{FF2B5EF4-FFF2-40B4-BE49-F238E27FC236}">
                  <a16:creationId xmlns:a16="http://schemas.microsoft.com/office/drawing/2014/main" id="{CD37DF2D-9854-4F3D-BEB9-8626484F9947}"/>
                </a:ext>
              </a:extLst>
            </p:cNvPr>
            <p:cNvSpPr>
              <a:spLocks noChangeShapeType="1"/>
            </p:cNvSpPr>
            <p:nvPr/>
          </p:nvSpPr>
          <p:spPr bwMode="auto">
            <a:xfrm>
              <a:off x="4140" y="12180"/>
              <a:ext cx="54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0246" name="Text Box 91">
            <a:extLst>
              <a:ext uri="{FF2B5EF4-FFF2-40B4-BE49-F238E27FC236}">
                <a16:creationId xmlns:a16="http://schemas.microsoft.com/office/drawing/2014/main" id="{BB45BD54-3EE2-4058-8D8E-0F89145D872B}"/>
              </a:ext>
            </a:extLst>
          </p:cNvPr>
          <p:cNvSpPr txBox="1">
            <a:spLocks noChangeArrowheads="1"/>
          </p:cNvSpPr>
          <p:nvPr/>
        </p:nvSpPr>
        <p:spPr bwMode="auto">
          <a:xfrm>
            <a:off x="1828800" y="36576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v1</a:t>
            </a:r>
          </a:p>
        </p:txBody>
      </p:sp>
      <p:sp>
        <p:nvSpPr>
          <p:cNvPr id="10247" name="Text Box 92">
            <a:extLst>
              <a:ext uri="{FF2B5EF4-FFF2-40B4-BE49-F238E27FC236}">
                <a16:creationId xmlns:a16="http://schemas.microsoft.com/office/drawing/2014/main" id="{F2E59D4D-1ACD-469D-9894-437942AC146E}"/>
              </a:ext>
            </a:extLst>
          </p:cNvPr>
          <p:cNvSpPr txBox="1">
            <a:spLocks noChangeArrowheads="1"/>
          </p:cNvSpPr>
          <p:nvPr/>
        </p:nvSpPr>
        <p:spPr bwMode="auto">
          <a:xfrm>
            <a:off x="1828800" y="41148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v2</a:t>
            </a:r>
          </a:p>
        </p:txBody>
      </p:sp>
      <p:sp>
        <p:nvSpPr>
          <p:cNvPr id="10248" name="Text Box 93">
            <a:extLst>
              <a:ext uri="{FF2B5EF4-FFF2-40B4-BE49-F238E27FC236}">
                <a16:creationId xmlns:a16="http://schemas.microsoft.com/office/drawing/2014/main" id="{333D07C1-2E41-4420-BEEB-818F0E96BEBE}"/>
              </a:ext>
            </a:extLst>
          </p:cNvPr>
          <p:cNvSpPr txBox="1">
            <a:spLocks noChangeArrowheads="1"/>
          </p:cNvSpPr>
          <p:nvPr/>
        </p:nvSpPr>
        <p:spPr bwMode="auto">
          <a:xfrm>
            <a:off x="1828800" y="45720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v3</a:t>
            </a:r>
          </a:p>
        </p:txBody>
      </p:sp>
      <p:sp>
        <p:nvSpPr>
          <p:cNvPr id="10249" name="Text Box 94">
            <a:extLst>
              <a:ext uri="{FF2B5EF4-FFF2-40B4-BE49-F238E27FC236}">
                <a16:creationId xmlns:a16="http://schemas.microsoft.com/office/drawing/2014/main" id="{1B13D031-11BE-4E6A-9E85-4DD309F3F554}"/>
              </a:ext>
            </a:extLst>
          </p:cNvPr>
          <p:cNvSpPr txBox="1">
            <a:spLocks noChangeArrowheads="1"/>
          </p:cNvSpPr>
          <p:nvPr/>
        </p:nvSpPr>
        <p:spPr bwMode="auto">
          <a:xfrm>
            <a:off x="1828800" y="51054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v4</a:t>
            </a:r>
          </a:p>
        </p:txBody>
      </p:sp>
      <p:sp>
        <p:nvSpPr>
          <p:cNvPr id="10250" name="Text Box 95">
            <a:extLst>
              <a:ext uri="{FF2B5EF4-FFF2-40B4-BE49-F238E27FC236}">
                <a16:creationId xmlns:a16="http://schemas.microsoft.com/office/drawing/2014/main" id="{ACEF7842-8A1A-421B-8BB7-1E6C6C0AE3B4}"/>
              </a:ext>
            </a:extLst>
          </p:cNvPr>
          <p:cNvSpPr txBox="1">
            <a:spLocks noChangeArrowheads="1"/>
          </p:cNvSpPr>
          <p:nvPr/>
        </p:nvSpPr>
        <p:spPr bwMode="auto">
          <a:xfrm>
            <a:off x="1828800" y="55626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v5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a:extLst>
              <a:ext uri="{FF2B5EF4-FFF2-40B4-BE49-F238E27FC236}">
                <a16:creationId xmlns:a16="http://schemas.microsoft.com/office/drawing/2014/main" id="{9A11D22D-8CAD-4A11-B30B-16E6A293342F}"/>
              </a:ext>
            </a:extLst>
          </p:cNvPr>
          <p:cNvSpPr txBox="1">
            <a:spLocks noChangeArrowheads="1"/>
          </p:cNvSpPr>
          <p:nvPr/>
        </p:nvSpPr>
        <p:spPr bwMode="auto">
          <a:xfrm>
            <a:off x="558800" y="990600"/>
            <a:ext cx="728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1. </a:t>
            </a:r>
            <a:r>
              <a:rPr lang="en-US" altLang="en-US" b="1"/>
              <a:t>Tìm kiếm theo chiều sâu (Breadth First Search)</a:t>
            </a:r>
            <a:r>
              <a:rPr lang="en-US" altLang="en-US"/>
              <a:t> </a:t>
            </a:r>
          </a:p>
        </p:txBody>
      </p:sp>
      <p:sp>
        <p:nvSpPr>
          <p:cNvPr id="11267" name="Text Box 3">
            <a:extLst>
              <a:ext uri="{FF2B5EF4-FFF2-40B4-BE49-F238E27FC236}">
                <a16:creationId xmlns:a16="http://schemas.microsoft.com/office/drawing/2014/main" id="{2DEC2BA3-7824-45B0-8C4E-F370C3AC944C}"/>
              </a:ext>
            </a:extLst>
          </p:cNvPr>
          <p:cNvSpPr txBox="1">
            <a:spLocks noChangeArrowheads="1"/>
          </p:cNvSpPr>
          <p:nvPr/>
        </p:nvSpPr>
        <p:spPr bwMode="auto">
          <a:xfrm>
            <a:off x="304800" y="457200"/>
            <a:ext cx="594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III. </a:t>
            </a:r>
            <a:r>
              <a:rPr lang="en-US" altLang="en-US" sz="2800" b="1"/>
              <a:t>Phép duyệt đồ thị</a:t>
            </a:r>
          </a:p>
        </p:txBody>
      </p:sp>
      <p:sp>
        <p:nvSpPr>
          <p:cNvPr id="11268" name="Text Box 4">
            <a:extLst>
              <a:ext uri="{FF2B5EF4-FFF2-40B4-BE49-F238E27FC236}">
                <a16:creationId xmlns:a16="http://schemas.microsoft.com/office/drawing/2014/main" id="{F60F8468-4115-4FC2-962D-48C8CECB8D94}"/>
              </a:ext>
            </a:extLst>
          </p:cNvPr>
          <p:cNvSpPr txBox="1">
            <a:spLocks noChangeArrowheads="1"/>
          </p:cNvSpPr>
          <p:nvPr/>
        </p:nvSpPr>
        <p:spPr bwMode="auto">
          <a:xfrm>
            <a:off x="838200" y="1473200"/>
            <a:ext cx="75438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Tìm kiếm theo chiều sâu đối với đồ thị không định hướng được thực hiện như sau:</a:t>
            </a:r>
          </a:p>
          <a:p>
            <a:pPr eaLnBrk="1" hangingPunct="1">
              <a:spcBef>
                <a:spcPct val="0"/>
              </a:spcBef>
              <a:buFontTx/>
              <a:buNone/>
            </a:pPr>
            <a:r>
              <a:rPr lang="en-US" altLang="en-US" sz="1800"/>
              <a:t>B1: Xuất phát từ đỉnh v</a:t>
            </a:r>
          </a:p>
          <a:p>
            <a:pPr eaLnBrk="1" hangingPunct="1">
              <a:spcBef>
                <a:spcPct val="0"/>
              </a:spcBef>
              <a:buFontTx/>
              <a:buNone/>
            </a:pPr>
            <a:r>
              <a:rPr lang="en-US" altLang="en-US" sz="1800"/>
              <a:t>B2: Thăm đỉnh v</a:t>
            </a:r>
          </a:p>
          <a:p>
            <a:pPr eaLnBrk="1" hangingPunct="1">
              <a:spcBef>
                <a:spcPct val="0"/>
              </a:spcBef>
              <a:buFontTx/>
              <a:buNone/>
            </a:pPr>
            <a:r>
              <a:rPr lang="en-US" altLang="en-US" sz="1800"/>
              <a:t>B3: Quay lại B2 với mỗi đỉnh w lân cận của v chưa được thăm </a:t>
            </a:r>
          </a:p>
        </p:txBody>
      </p:sp>
      <p:sp>
        <p:nvSpPr>
          <p:cNvPr id="11269" name="Text Box 7">
            <a:extLst>
              <a:ext uri="{FF2B5EF4-FFF2-40B4-BE49-F238E27FC236}">
                <a16:creationId xmlns:a16="http://schemas.microsoft.com/office/drawing/2014/main" id="{6B0C8920-A660-4794-A1CB-46A0E624DD50}"/>
              </a:ext>
            </a:extLst>
          </p:cNvPr>
          <p:cNvSpPr txBox="1">
            <a:spLocks noChangeArrowheads="1"/>
          </p:cNvSpPr>
          <p:nvPr/>
        </p:nvSpPr>
        <p:spPr bwMode="auto">
          <a:xfrm>
            <a:off x="457200" y="3276600"/>
            <a:ext cx="3810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Procedure DFS(v) 1 2 3 4 5 6 7 8</a:t>
            </a:r>
          </a:p>
          <a:p>
            <a:pPr eaLnBrk="1" hangingPunct="1">
              <a:spcBef>
                <a:spcPct val="0"/>
              </a:spcBef>
              <a:buFontTx/>
              <a:buNone/>
            </a:pPr>
            <a:r>
              <a:rPr lang="en-US" altLang="en-US" sz="1800"/>
              <a:t>Begin</a:t>
            </a:r>
          </a:p>
          <a:p>
            <a:pPr eaLnBrk="1" hangingPunct="1">
              <a:spcBef>
                <a:spcPct val="0"/>
              </a:spcBef>
              <a:buFontTx/>
              <a:buNone/>
            </a:pPr>
            <a:r>
              <a:rPr lang="en-US" altLang="en-US" sz="1800"/>
              <a:t>    Thăm v;</a:t>
            </a:r>
          </a:p>
          <a:p>
            <a:pPr eaLnBrk="1" hangingPunct="1">
              <a:spcBef>
                <a:spcPct val="0"/>
              </a:spcBef>
              <a:buFontTx/>
              <a:buNone/>
            </a:pPr>
            <a:r>
              <a:rPr lang="en-US" altLang="en-US" sz="1800"/>
              <a:t>    For mỗi đỉnh w lân cận của v do</a:t>
            </a:r>
          </a:p>
          <a:p>
            <a:pPr eaLnBrk="1" hangingPunct="1">
              <a:spcBef>
                <a:spcPct val="0"/>
              </a:spcBef>
              <a:buFontTx/>
              <a:buNone/>
            </a:pPr>
            <a:r>
              <a:rPr lang="en-US" altLang="en-US" sz="1800"/>
              <a:t>    If  w chưa thăm then DFS(w);</a:t>
            </a:r>
          </a:p>
          <a:p>
            <a:pPr eaLnBrk="1" hangingPunct="1">
              <a:spcBef>
                <a:spcPct val="0"/>
              </a:spcBef>
              <a:buFontTx/>
              <a:buNone/>
            </a:pPr>
            <a:r>
              <a:rPr lang="en-US" altLang="en-US" sz="1800"/>
              <a:t>End;</a:t>
            </a:r>
          </a:p>
        </p:txBody>
      </p:sp>
      <p:grpSp>
        <p:nvGrpSpPr>
          <p:cNvPr id="11270" name="Group 8">
            <a:extLst>
              <a:ext uri="{FF2B5EF4-FFF2-40B4-BE49-F238E27FC236}">
                <a16:creationId xmlns:a16="http://schemas.microsoft.com/office/drawing/2014/main" id="{196F4087-69B6-4381-A8CB-1D7272FC9D91}"/>
              </a:ext>
            </a:extLst>
          </p:cNvPr>
          <p:cNvGrpSpPr>
            <a:grpSpLocks/>
          </p:cNvGrpSpPr>
          <p:nvPr/>
        </p:nvGrpSpPr>
        <p:grpSpPr bwMode="auto">
          <a:xfrm>
            <a:off x="5867400" y="3048000"/>
            <a:ext cx="2362200" cy="2162175"/>
            <a:chOff x="4500" y="2370"/>
            <a:chExt cx="3240" cy="3405"/>
          </a:xfrm>
        </p:grpSpPr>
        <p:sp>
          <p:nvSpPr>
            <p:cNvPr id="11272" name="Oval 9">
              <a:extLst>
                <a:ext uri="{FF2B5EF4-FFF2-40B4-BE49-F238E27FC236}">
                  <a16:creationId xmlns:a16="http://schemas.microsoft.com/office/drawing/2014/main" id="{A91AEB51-1FD3-4803-8D52-709ADD85493A}"/>
                </a:ext>
              </a:extLst>
            </p:cNvPr>
            <p:cNvSpPr>
              <a:spLocks noChangeArrowheads="1"/>
            </p:cNvSpPr>
            <p:nvPr/>
          </p:nvSpPr>
          <p:spPr bwMode="auto">
            <a:xfrm>
              <a:off x="5760" y="237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1</a:t>
              </a:r>
              <a:endParaRPr lang="en-US" altLang="en-US" sz="1800"/>
            </a:p>
          </p:txBody>
        </p:sp>
        <p:sp>
          <p:nvSpPr>
            <p:cNvPr id="11273" name="Oval 10">
              <a:extLst>
                <a:ext uri="{FF2B5EF4-FFF2-40B4-BE49-F238E27FC236}">
                  <a16:creationId xmlns:a16="http://schemas.microsoft.com/office/drawing/2014/main" id="{64DD625C-DE15-49DD-A9D0-091699478D14}"/>
                </a:ext>
              </a:extLst>
            </p:cNvPr>
            <p:cNvSpPr>
              <a:spLocks noChangeArrowheads="1"/>
            </p:cNvSpPr>
            <p:nvPr/>
          </p:nvSpPr>
          <p:spPr bwMode="auto">
            <a:xfrm>
              <a:off x="5040" y="309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2</a:t>
              </a:r>
              <a:endParaRPr lang="en-US" altLang="en-US" sz="1800"/>
            </a:p>
          </p:txBody>
        </p:sp>
        <p:sp>
          <p:nvSpPr>
            <p:cNvPr id="11274" name="Oval 11">
              <a:extLst>
                <a:ext uri="{FF2B5EF4-FFF2-40B4-BE49-F238E27FC236}">
                  <a16:creationId xmlns:a16="http://schemas.microsoft.com/office/drawing/2014/main" id="{C1F946BC-9BE1-4027-AD76-85BB3209E16C}"/>
                </a:ext>
              </a:extLst>
            </p:cNvPr>
            <p:cNvSpPr>
              <a:spLocks noChangeArrowheads="1"/>
            </p:cNvSpPr>
            <p:nvPr/>
          </p:nvSpPr>
          <p:spPr bwMode="auto">
            <a:xfrm>
              <a:off x="6660" y="309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3</a:t>
              </a:r>
              <a:endParaRPr lang="en-US" altLang="en-US" sz="1800"/>
            </a:p>
          </p:txBody>
        </p:sp>
        <p:sp>
          <p:nvSpPr>
            <p:cNvPr id="11275" name="Oval 12">
              <a:extLst>
                <a:ext uri="{FF2B5EF4-FFF2-40B4-BE49-F238E27FC236}">
                  <a16:creationId xmlns:a16="http://schemas.microsoft.com/office/drawing/2014/main" id="{78FF96C9-D53A-4F1B-9C23-5613AA368F76}"/>
                </a:ext>
              </a:extLst>
            </p:cNvPr>
            <p:cNvSpPr>
              <a:spLocks noChangeArrowheads="1"/>
            </p:cNvSpPr>
            <p:nvPr/>
          </p:nvSpPr>
          <p:spPr bwMode="auto">
            <a:xfrm>
              <a:off x="4500" y="414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4</a:t>
              </a:r>
              <a:endParaRPr lang="en-US" altLang="en-US" sz="1800"/>
            </a:p>
          </p:txBody>
        </p:sp>
        <p:sp>
          <p:nvSpPr>
            <p:cNvPr id="11276" name="Oval 13">
              <a:extLst>
                <a:ext uri="{FF2B5EF4-FFF2-40B4-BE49-F238E27FC236}">
                  <a16:creationId xmlns:a16="http://schemas.microsoft.com/office/drawing/2014/main" id="{91889433-4BE0-4D62-894F-AAFF839268C9}"/>
                </a:ext>
              </a:extLst>
            </p:cNvPr>
            <p:cNvSpPr>
              <a:spLocks noChangeArrowheads="1"/>
            </p:cNvSpPr>
            <p:nvPr/>
          </p:nvSpPr>
          <p:spPr bwMode="auto">
            <a:xfrm>
              <a:off x="5295" y="414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5</a:t>
              </a:r>
              <a:endParaRPr lang="en-US" altLang="en-US" sz="1800"/>
            </a:p>
          </p:txBody>
        </p:sp>
        <p:sp>
          <p:nvSpPr>
            <p:cNvPr id="11277" name="Line 14">
              <a:extLst>
                <a:ext uri="{FF2B5EF4-FFF2-40B4-BE49-F238E27FC236}">
                  <a16:creationId xmlns:a16="http://schemas.microsoft.com/office/drawing/2014/main" id="{15E3ABD4-1EC3-4465-B192-E03088E521BC}"/>
                </a:ext>
              </a:extLst>
            </p:cNvPr>
            <p:cNvSpPr>
              <a:spLocks noChangeShapeType="1"/>
            </p:cNvSpPr>
            <p:nvPr/>
          </p:nvSpPr>
          <p:spPr bwMode="auto">
            <a:xfrm flipH="1">
              <a:off x="5400" y="2730"/>
              <a:ext cx="36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8" name="Line 15">
              <a:extLst>
                <a:ext uri="{FF2B5EF4-FFF2-40B4-BE49-F238E27FC236}">
                  <a16:creationId xmlns:a16="http://schemas.microsoft.com/office/drawing/2014/main" id="{BEEDC363-413B-4ABA-BC5A-90A53EA2D92F}"/>
                </a:ext>
              </a:extLst>
            </p:cNvPr>
            <p:cNvSpPr>
              <a:spLocks noChangeShapeType="1"/>
            </p:cNvSpPr>
            <p:nvPr/>
          </p:nvSpPr>
          <p:spPr bwMode="auto">
            <a:xfrm>
              <a:off x="6240" y="2790"/>
              <a:ext cx="54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9" name="Oval 16">
              <a:extLst>
                <a:ext uri="{FF2B5EF4-FFF2-40B4-BE49-F238E27FC236}">
                  <a16:creationId xmlns:a16="http://schemas.microsoft.com/office/drawing/2014/main" id="{F3D0B636-B99B-43C6-96EE-6A5EBAD5C74A}"/>
                </a:ext>
              </a:extLst>
            </p:cNvPr>
            <p:cNvSpPr>
              <a:spLocks noChangeArrowheads="1"/>
            </p:cNvSpPr>
            <p:nvPr/>
          </p:nvSpPr>
          <p:spPr bwMode="auto">
            <a:xfrm>
              <a:off x="6270" y="414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6</a:t>
              </a:r>
              <a:endParaRPr lang="en-US" altLang="en-US" sz="1800"/>
            </a:p>
          </p:txBody>
        </p:sp>
        <p:sp>
          <p:nvSpPr>
            <p:cNvPr id="11280" name="Oval 17">
              <a:extLst>
                <a:ext uri="{FF2B5EF4-FFF2-40B4-BE49-F238E27FC236}">
                  <a16:creationId xmlns:a16="http://schemas.microsoft.com/office/drawing/2014/main" id="{584C1572-06E0-43BD-AD13-8D41C016A70D}"/>
                </a:ext>
              </a:extLst>
            </p:cNvPr>
            <p:cNvSpPr>
              <a:spLocks noChangeArrowheads="1"/>
            </p:cNvSpPr>
            <p:nvPr/>
          </p:nvSpPr>
          <p:spPr bwMode="auto">
            <a:xfrm>
              <a:off x="7200" y="414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7</a:t>
              </a:r>
              <a:endParaRPr lang="en-US" altLang="en-US" sz="1800"/>
            </a:p>
          </p:txBody>
        </p:sp>
        <p:sp>
          <p:nvSpPr>
            <p:cNvPr id="11281" name="Oval 18">
              <a:extLst>
                <a:ext uri="{FF2B5EF4-FFF2-40B4-BE49-F238E27FC236}">
                  <a16:creationId xmlns:a16="http://schemas.microsoft.com/office/drawing/2014/main" id="{207B3E67-53A7-46E3-905C-C925EB87113E}"/>
                </a:ext>
              </a:extLst>
            </p:cNvPr>
            <p:cNvSpPr>
              <a:spLocks noChangeArrowheads="1"/>
            </p:cNvSpPr>
            <p:nvPr/>
          </p:nvSpPr>
          <p:spPr bwMode="auto">
            <a:xfrm>
              <a:off x="5760" y="5235"/>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8</a:t>
              </a:r>
              <a:endParaRPr lang="en-US" altLang="en-US" sz="1800"/>
            </a:p>
          </p:txBody>
        </p:sp>
        <p:sp>
          <p:nvSpPr>
            <p:cNvPr id="11282" name="Line 19">
              <a:extLst>
                <a:ext uri="{FF2B5EF4-FFF2-40B4-BE49-F238E27FC236}">
                  <a16:creationId xmlns:a16="http://schemas.microsoft.com/office/drawing/2014/main" id="{6B305D10-7F7A-4F75-BCAC-757877138B2C}"/>
                </a:ext>
              </a:extLst>
            </p:cNvPr>
            <p:cNvSpPr>
              <a:spLocks noChangeShapeType="1"/>
            </p:cNvSpPr>
            <p:nvPr/>
          </p:nvSpPr>
          <p:spPr bwMode="auto">
            <a:xfrm flipH="1">
              <a:off x="4935" y="3600"/>
              <a:ext cx="18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3" name="Line 20">
              <a:extLst>
                <a:ext uri="{FF2B5EF4-FFF2-40B4-BE49-F238E27FC236}">
                  <a16:creationId xmlns:a16="http://schemas.microsoft.com/office/drawing/2014/main" id="{EF85E97A-AB06-4377-B73C-BEED64B46318}"/>
                </a:ext>
              </a:extLst>
            </p:cNvPr>
            <p:cNvSpPr>
              <a:spLocks noChangeShapeType="1"/>
            </p:cNvSpPr>
            <p:nvPr/>
          </p:nvSpPr>
          <p:spPr bwMode="auto">
            <a:xfrm>
              <a:off x="5400" y="3600"/>
              <a:ext cx="18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4" name="Line 21">
              <a:extLst>
                <a:ext uri="{FF2B5EF4-FFF2-40B4-BE49-F238E27FC236}">
                  <a16:creationId xmlns:a16="http://schemas.microsoft.com/office/drawing/2014/main" id="{110E702A-2D74-49BB-9A69-3827C2047233}"/>
                </a:ext>
              </a:extLst>
            </p:cNvPr>
            <p:cNvSpPr>
              <a:spLocks noChangeShapeType="1"/>
            </p:cNvSpPr>
            <p:nvPr/>
          </p:nvSpPr>
          <p:spPr bwMode="auto">
            <a:xfrm>
              <a:off x="4860" y="4680"/>
              <a:ext cx="900" cy="7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5" name="Line 22">
              <a:extLst>
                <a:ext uri="{FF2B5EF4-FFF2-40B4-BE49-F238E27FC236}">
                  <a16:creationId xmlns:a16="http://schemas.microsoft.com/office/drawing/2014/main" id="{F128D14A-B488-4F69-AC76-546FE88371A2}"/>
                </a:ext>
              </a:extLst>
            </p:cNvPr>
            <p:cNvSpPr>
              <a:spLocks noChangeShapeType="1"/>
            </p:cNvSpPr>
            <p:nvPr/>
          </p:nvSpPr>
          <p:spPr bwMode="auto">
            <a:xfrm flipH="1">
              <a:off x="6660" y="3600"/>
              <a:ext cx="18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6" name="Line 23">
              <a:extLst>
                <a:ext uri="{FF2B5EF4-FFF2-40B4-BE49-F238E27FC236}">
                  <a16:creationId xmlns:a16="http://schemas.microsoft.com/office/drawing/2014/main" id="{4CB97003-56F5-4CA6-B095-2D375E17D7D6}"/>
                </a:ext>
              </a:extLst>
            </p:cNvPr>
            <p:cNvSpPr>
              <a:spLocks noChangeShapeType="1"/>
            </p:cNvSpPr>
            <p:nvPr/>
          </p:nvSpPr>
          <p:spPr bwMode="auto">
            <a:xfrm>
              <a:off x="7020" y="3600"/>
              <a:ext cx="36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7" name="Line 24">
              <a:extLst>
                <a:ext uri="{FF2B5EF4-FFF2-40B4-BE49-F238E27FC236}">
                  <a16:creationId xmlns:a16="http://schemas.microsoft.com/office/drawing/2014/main" id="{87821A5A-ACDD-414F-9085-9025D5FF842E}"/>
                </a:ext>
              </a:extLst>
            </p:cNvPr>
            <p:cNvSpPr>
              <a:spLocks noChangeShapeType="1"/>
            </p:cNvSpPr>
            <p:nvPr/>
          </p:nvSpPr>
          <p:spPr bwMode="auto">
            <a:xfrm flipH="1">
              <a:off x="6120" y="4680"/>
              <a:ext cx="36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8" name="Line 25">
              <a:extLst>
                <a:ext uri="{FF2B5EF4-FFF2-40B4-BE49-F238E27FC236}">
                  <a16:creationId xmlns:a16="http://schemas.microsoft.com/office/drawing/2014/main" id="{C7FE2CA9-1A61-4503-8A44-0501F6063336}"/>
                </a:ext>
              </a:extLst>
            </p:cNvPr>
            <p:cNvSpPr>
              <a:spLocks noChangeShapeType="1"/>
            </p:cNvSpPr>
            <p:nvPr/>
          </p:nvSpPr>
          <p:spPr bwMode="auto">
            <a:xfrm flipH="1">
              <a:off x="6300" y="4500"/>
              <a:ext cx="90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89" name="Line 26">
              <a:extLst>
                <a:ext uri="{FF2B5EF4-FFF2-40B4-BE49-F238E27FC236}">
                  <a16:creationId xmlns:a16="http://schemas.microsoft.com/office/drawing/2014/main" id="{D1255C2A-DE29-49C6-94FD-E655E05B6A75}"/>
                </a:ext>
              </a:extLst>
            </p:cNvPr>
            <p:cNvSpPr>
              <a:spLocks noChangeShapeType="1"/>
            </p:cNvSpPr>
            <p:nvPr/>
          </p:nvSpPr>
          <p:spPr bwMode="auto">
            <a:xfrm>
              <a:off x="5700" y="4680"/>
              <a:ext cx="18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71" name="Text Box 27">
            <a:extLst>
              <a:ext uri="{FF2B5EF4-FFF2-40B4-BE49-F238E27FC236}">
                <a16:creationId xmlns:a16="http://schemas.microsoft.com/office/drawing/2014/main" id="{8E9179BE-E1F8-43B5-9CEC-A55FB0D798A1}"/>
              </a:ext>
            </a:extLst>
          </p:cNvPr>
          <p:cNvSpPr txBox="1">
            <a:spLocks noChangeArrowheads="1"/>
          </p:cNvSpPr>
          <p:nvPr/>
        </p:nvSpPr>
        <p:spPr bwMode="auto">
          <a:xfrm>
            <a:off x="381000" y="5410200"/>
            <a:ext cx="84582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1800"/>
              <a:t>Với phép tìm kiếm theo chiều sâu thì thứ tự các đỉnh của đồ thị hình bên được đưa ra: 1, 2, 4, 8, 5, 6, 3, 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a:extLst>
              <a:ext uri="{FF2B5EF4-FFF2-40B4-BE49-F238E27FC236}">
                <a16:creationId xmlns:a16="http://schemas.microsoft.com/office/drawing/2014/main" id="{9861C9EB-FE59-4A20-8E1E-D2474C3BAEF8}"/>
              </a:ext>
            </a:extLst>
          </p:cNvPr>
          <p:cNvSpPr txBox="1">
            <a:spLocks noChangeArrowheads="1"/>
          </p:cNvSpPr>
          <p:nvPr/>
        </p:nvSpPr>
        <p:spPr bwMode="auto">
          <a:xfrm>
            <a:off x="558800" y="787400"/>
            <a:ext cx="7289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a:solidFill>
                  <a:schemeClr val="tx1"/>
                </a:solidFill>
                <a:latin typeface="Arial" panose="020B0604020202020204" pitchFamily="34" charset="0"/>
                <a:cs typeface="Arial" panose="020B0604020202020204" pitchFamily="34" charset="0"/>
              </a:defRPr>
            </a:lvl1pPr>
            <a:lvl2pPr marL="914400" indent="-457200">
              <a:defRPr>
                <a:solidFill>
                  <a:schemeClr val="tx1"/>
                </a:solidFill>
                <a:latin typeface="Arial" panose="020B0604020202020204" pitchFamily="34" charset="0"/>
                <a:cs typeface="Arial" panose="020B0604020202020204" pitchFamily="34" charset="0"/>
              </a:defRPr>
            </a:lvl2pPr>
            <a:lvl3pPr marL="1371600" indent="-457200">
              <a:defRPr>
                <a:solidFill>
                  <a:schemeClr val="tx1"/>
                </a:solidFill>
                <a:latin typeface="Arial" panose="020B0604020202020204" pitchFamily="34" charset="0"/>
                <a:cs typeface="Arial" panose="020B0604020202020204" pitchFamily="34" charset="0"/>
              </a:defRPr>
            </a:lvl3pPr>
            <a:lvl4pPr marL="1828800" indent="-457200">
              <a:defRPr>
                <a:solidFill>
                  <a:schemeClr val="tx1"/>
                </a:solidFill>
                <a:latin typeface="Arial" panose="020B0604020202020204" pitchFamily="34" charset="0"/>
                <a:cs typeface="Arial" panose="020B0604020202020204" pitchFamily="34" charset="0"/>
              </a:defRPr>
            </a:lvl4pPr>
            <a:lvl5pPr marL="2286000" indent="-457200">
              <a:defRPr>
                <a:solidFill>
                  <a:schemeClr val="tx1"/>
                </a:solidFill>
                <a:latin typeface="Arial" panose="020B0604020202020204" pitchFamily="34" charset="0"/>
                <a:cs typeface="Arial" panose="020B0604020202020204" pitchFamily="34" charset="0"/>
              </a:defRPr>
            </a:lvl5pPr>
            <a:lvl6pPr marL="27432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32004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6576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4114800" indent="-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t>2. </a:t>
            </a:r>
            <a:r>
              <a:rPr lang="en-US" altLang="en-US" b="1"/>
              <a:t>Tìm kiếm theo chiều rộng (BFS)</a:t>
            </a:r>
          </a:p>
        </p:txBody>
      </p:sp>
      <p:sp>
        <p:nvSpPr>
          <p:cNvPr id="12291" name="Text Box 3">
            <a:extLst>
              <a:ext uri="{FF2B5EF4-FFF2-40B4-BE49-F238E27FC236}">
                <a16:creationId xmlns:a16="http://schemas.microsoft.com/office/drawing/2014/main" id="{4A3E9C2D-961C-46F9-BAA7-E6472277FE51}"/>
              </a:ext>
            </a:extLst>
          </p:cNvPr>
          <p:cNvSpPr txBox="1">
            <a:spLocks noChangeArrowheads="1"/>
          </p:cNvSpPr>
          <p:nvPr/>
        </p:nvSpPr>
        <p:spPr bwMode="auto">
          <a:xfrm>
            <a:off x="304800" y="241300"/>
            <a:ext cx="5943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tabLst>
                <a:tab pos="339725" algn="l"/>
              </a:tabLst>
              <a:defRPr>
                <a:solidFill>
                  <a:schemeClr val="tx1"/>
                </a:solidFill>
                <a:latin typeface="Arial" panose="020B0604020202020204" pitchFamily="34" charset="0"/>
                <a:cs typeface="Arial" panose="020B0604020202020204" pitchFamily="34" charset="0"/>
              </a:defRPr>
            </a:lvl1pPr>
            <a:lvl2pPr marL="976313" indent="-457200">
              <a:tabLst>
                <a:tab pos="339725" algn="l"/>
              </a:tabLst>
              <a:defRPr>
                <a:solidFill>
                  <a:schemeClr val="tx1"/>
                </a:solidFill>
                <a:latin typeface="Arial" panose="020B0604020202020204" pitchFamily="34" charset="0"/>
                <a:cs typeface="Arial" panose="020B0604020202020204" pitchFamily="34" charset="0"/>
              </a:defRPr>
            </a:lvl2pPr>
            <a:lvl3pPr marL="1547813" indent="-457200">
              <a:tabLst>
                <a:tab pos="339725" algn="l"/>
              </a:tabLst>
              <a:defRPr>
                <a:solidFill>
                  <a:schemeClr val="tx1"/>
                </a:solidFill>
                <a:latin typeface="Arial" panose="020B0604020202020204" pitchFamily="34" charset="0"/>
                <a:cs typeface="Arial" panose="020B0604020202020204" pitchFamily="34" charset="0"/>
              </a:defRPr>
            </a:lvl3pPr>
            <a:lvl4pPr marL="2119313" indent="-457200">
              <a:tabLst>
                <a:tab pos="339725" algn="l"/>
              </a:tabLst>
              <a:defRPr>
                <a:solidFill>
                  <a:schemeClr val="tx1"/>
                </a:solidFill>
                <a:latin typeface="Arial" panose="020B0604020202020204" pitchFamily="34" charset="0"/>
                <a:cs typeface="Arial" panose="020B0604020202020204" pitchFamily="34" charset="0"/>
              </a:defRPr>
            </a:lvl4pPr>
            <a:lvl5pPr marL="2690813" indent="-457200">
              <a:tabLst>
                <a:tab pos="339725" algn="l"/>
              </a:tabLst>
              <a:defRPr>
                <a:solidFill>
                  <a:schemeClr val="tx1"/>
                </a:solidFill>
                <a:latin typeface="Arial" panose="020B0604020202020204" pitchFamily="34" charset="0"/>
                <a:cs typeface="Arial" panose="020B0604020202020204" pitchFamily="34" charset="0"/>
              </a:defRPr>
            </a:lvl5pPr>
            <a:lvl6pPr marL="31480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6pPr>
            <a:lvl7pPr marL="36052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7pPr>
            <a:lvl8pPr marL="40624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8pPr>
            <a:lvl9pPr marL="4519613" indent="-457200" eaLnBrk="0" fontAlgn="base" hangingPunct="0">
              <a:spcBef>
                <a:spcPct val="0"/>
              </a:spcBef>
              <a:spcAft>
                <a:spcPct val="0"/>
              </a:spcAft>
              <a:tabLst>
                <a:tab pos="339725" algn="l"/>
              </a:tabLs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b="1"/>
              <a:t>III. </a:t>
            </a:r>
            <a:r>
              <a:rPr lang="en-US" altLang="en-US" sz="2800" b="1"/>
              <a:t>Phép duyệt đồ thị</a:t>
            </a:r>
          </a:p>
        </p:txBody>
      </p:sp>
      <p:sp>
        <p:nvSpPr>
          <p:cNvPr id="12292" name="Text Box 4">
            <a:extLst>
              <a:ext uri="{FF2B5EF4-FFF2-40B4-BE49-F238E27FC236}">
                <a16:creationId xmlns:a16="http://schemas.microsoft.com/office/drawing/2014/main" id="{950C5CB9-DDAB-44CD-9F04-05EDEF0CECC6}"/>
              </a:ext>
            </a:extLst>
          </p:cNvPr>
          <p:cNvSpPr txBox="1">
            <a:spLocks noChangeArrowheads="1"/>
          </p:cNvSpPr>
          <p:nvPr/>
        </p:nvSpPr>
        <p:spPr bwMode="auto">
          <a:xfrm>
            <a:off x="838200" y="1219200"/>
            <a:ext cx="754380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Xuất phát từ đỉnh v</a:t>
            </a:r>
          </a:p>
          <a:p>
            <a:pPr eaLnBrk="1" hangingPunct="1">
              <a:spcBef>
                <a:spcPct val="0"/>
              </a:spcBef>
              <a:buFontTx/>
              <a:buNone/>
            </a:pPr>
            <a:r>
              <a:rPr lang="en-US" altLang="en-US" sz="1800"/>
              <a:t>Thăm v</a:t>
            </a:r>
          </a:p>
          <a:p>
            <a:pPr eaLnBrk="1" hangingPunct="1">
              <a:spcBef>
                <a:spcPct val="0"/>
              </a:spcBef>
              <a:buFontTx/>
              <a:buNone/>
            </a:pPr>
            <a:r>
              <a:rPr lang="en-US" altLang="en-US" sz="1800"/>
              <a:t>Lần lượt thăm các đỉnh w lân cận của v kế tiếp nhau chưa được thăm rồi mới đến các đỉnh lân cận của các đỉnh này.</a:t>
            </a:r>
          </a:p>
        </p:txBody>
      </p:sp>
      <p:sp>
        <p:nvSpPr>
          <p:cNvPr id="12293" name="Text Box 5">
            <a:extLst>
              <a:ext uri="{FF2B5EF4-FFF2-40B4-BE49-F238E27FC236}">
                <a16:creationId xmlns:a16="http://schemas.microsoft.com/office/drawing/2014/main" id="{2A8D922A-ACB5-4DE8-9E51-8D2A0E674B63}"/>
              </a:ext>
            </a:extLst>
          </p:cNvPr>
          <p:cNvSpPr txBox="1">
            <a:spLocks noChangeArrowheads="1"/>
          </p:cNvSpPr>
          <p:nvPr/>
        </p:nvSpPr>
        <p:spPr bwMode="auto">
          <a:xfrm>
            <a:off x="838200" y="2425700"/>
            <a:ext cx="4191000" cy="421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800"/>
              <a:t>Procedure BFS(v)</a:t>
            </a:r>
          </a:p>
          <a:p>
            <a:pPr eaLnBrk="1" hangingPunct="1">
              <a:spcBef>
                <a:spcPct val="0"/>
              </a:spcBef>
              <a:buFontTx/>
              <a:buNone/>
            </a:pPr>
            <a:r>
              <a:rPr lang="en-US" altLang="en-US" sz="1800"/>
              <a:t>Begin</a:t>
            </a:r>
          </a:p>
          <a:p>
            <a:pPr eaLnBrk="1" hangingPunct="1">
              <a:spcBef>
                <a:spcPct val="0"/>
              </a:spcBef>
              <a:buFontTx/>
              <a:buNone/>
            </a:pPr>
            <a:r>
              <a:rPr lang="en-US" altLang="en-US" sz="1800"/>
              <a:t>  Thăm v;</a:t>
            </a:r>
          </a:p>
          <a:p>
            <a:pPr eaLnBrk="1" hangingPunct="1">
              <a:spcBef>
                <a:spcPct val="0"/>
              </a:spcBef>
              <a:buFontTx/>
              <a:buNone/>
            </a:pPr>
            <a:r>
              <a:rPr lang="en-US" altLang="en-US" sz="1800"/>
              <a:t>  PUT(v);</a:t>
            </a:r>
          </a:p>
          <a:p>
            <a:pPr eaLnBrk="1" hangingPunct="1">
              <a:spcBef>
                <a:spcPct val="0"/>
              </a:spcBef>
              <a:buFontTx/>
              <a:buNone/>
            </a:pPr>
            <a:r>
              <a:rPr lang="en-US" altLang="en-US" sz="1800"/>
              <a:t>  while Q chưa rỗng do</a:t>
            </a:r>
          </a:p>
          <a:p>
            <a:pPr eaLnBrk="1" hangingPunct="1">
              <a:spcBef>
                <a:spcPct val="0"/>
              </a:spcBef>
              <a:buFontTx/>
              <a:buNone/>
            </a:pPr>
            <a:r>
              <a:rPr lang="en-US" altLang="en-US" sz="1800"/>
              <a:t>     begin</a:t>
            </a:r>
          </a:p>
          <a:p>
            <a:pPr eaLnBrk="1" hangingPunct="1">
              <a:spcBef>
                <a:spcPct val="0"/>
              </a:spcBef>
              <a:buFontTx/>
              <a:buNone/>
            </a:pPr>
            <a:r>
              <a:rPr lang="en-US" altLang="en-US" sz="1800"/>
              <a:t>          GET(v);</a:t>
            </a:r>
          </a:p>
          <a:p>
            <a:pPr eaLnBrk="1" hangingPunct="1">
              <a:spcBef>
                <a:spcPct val="0"/>
              </a:spcBef>
              <a:buFontTx/>
              <a:buNone/>
            </a:pPr>
            <a:r>
              <a:rPr lang="en-US" altLang="en-US" sz="1800"/>
              <a:t>          For mỗi đỉnh w lân cận của v do</a:t>
            </a:r>
          </a:p>
          <a:p>
            <a:pPr eaLnBrk="1" hangingPunct="1">
              <a:spcBef>
                <a:spcPct val="0"/>
              </a:spcBef>
              <a:buFontTx/>
              <a:buNone/>
            </a:pPr>
            <a:r>
              <a:rPr lang="en-US" altLang="en-US" sz="1800"/>
              <a:t>          If w chưa thăm then</a:t>
            </a:r>
          </a:p>
          <a:p>
            <a:pPr eaLnBrk="1" hangingPunct="1">
              <a:spcBef>
                <a:spcPct val="0"/>
              </a:spcBef>
              <a:buFontTx/>
              <a:buNone/>
            </a:pPr>
            <a:r>
              <a:rPr lang="en-US" altLang="en-US" sz="1800"/>
              <a:t>          Begin</a:t>
            </a:r>
          </a:p>
          <a:p>
            <a:pPr eaLnBrk="1" hangingPunct="1">
              <a:spcBef>
                <a:spcPct val="0"/>
              </a:spcBef>
              <a:buFontTx/>
              <a:buNone/>
            </a:pPr>
            <a:r>
              <a:rPr lang="en-US" altLang="en-US" sz="1800"/>
              <a:t>	PUT(w);</a:t>
            </a:r>
          </a:p>
          <a:p>
            <a:pPr eaLnBrk="1" hangingPunct="1">
              <a:spcBef>
                <a:spcPct val="0"/>
              </a:spcBef>
              <a:buFontTx/>
              <a:buNone/>
            </a:pPr>
            <a:r>
              <a:rPr lang="en-US" altLang="en-US" sz="1800"/>
              <a:t>              Thăm w;</a:t>
            </a:r>
          </a:p>
          <a:p>
            <a:pPr eaLnBrk="1" hangingPunct="1">
              <a:spcBef>
                <a:spcPct val="0"/>
              </a:spcBef>
              <a:buFontTx/>
              <a:buNone/>
            </a:pPr>
            <a:r>
              <a:rPr lang="en-US" altLang="en-US" sz="1800"/>
              <a:t>          End;</a:t>
            </a:r>
          </a:p>
          <a:p>
            <a:pPr eaLnBrk="1" hangingPunct="1">
              <a:spcBef>
                <a:spcPct val="0"/>
              </a:spcBef>
              <a:buFontTx/>
              <a:buNone/>
            </a:pPr>
            <a:r>
              <a:rPr lang="en-US" altLang="en-US" sz="1800"/>
              <a:t>     End;</a:t>
            </a:r>
          </a:p>
          <a:p>
            <a:pPr eaLnBrk="1" hangingPunct="1">
              <a:spcBef>
                <a:spcPct val="0"/>
              </a:spcBef>
              <a:buFontTx/>
              <a:buNone/>
            </a:pPr>
            <a:r>
              <a:rPr lang="en-US" altLang="en-US" sz="1800"/>
              <a:t>End;</a:t>
            </a:r>
          </a:p>
        </p:txBody>
      </p:sp>
      <p:grpSp>
        <p:nvGrpSpPr>
          <p:cNvPr id="12294" name="Group 6">
            <a:extLst>
              <a:ext uri="{FF2B5EF4-FFF2-40B4-BE49-F238E27FC236}">
                <a16:creationId xmlns:a16="http://schemas.microsoft.com/office/drawing/2014/main" id="{A0B60751-E877-4DFA-8745-3CEE6D1F45DE}"/>
              </a:ext>
            </a:extLst>
          </p:cNvPr>
          <p:cNvGrpSpPr>
            <a:grpSpLocks/>
          </p:cNvGrpSpPr>
          <p:nvPr/>
        </p:nvGrpSpPr>
        <p:grpSpPr bwMode="auto">
          <a:xfrm>
            <a:off x="5486400" y="2438400"/>
            <a:ext cx="2362200" cy="2162175"/>
            <a:chOff x="4500" y="2370"/>
            <a:chExt cx="3240" cy="3405"/>
          </a:xfrm>
        </p:grpSpPr>
        <p:sp>
          <p:nvSpPr>
            <p:cNvPr id="12296" name="Oval 7">
              <a:extLst>
                <a:ext uri="{FF2B5EF4-FFF2-40B4-BE49-F238E27FC236}">
                  <a16:creationId xmlns:a16="http://schemas.microsoft.com/office/drawing/2014/main" id="{CC480AA8-7261-473B-8BE9-150859D71BE8}"/>
                </a:ext>
              </a:extLst>
            </p:cNvPr>
            <p:cNvSpPr>
              <a:spLocks noChangeArrowheads="1"/>
            </p:cNvSpPr>
            <p:nvPr/>
          </p:nvSpPr>
          <p:spPr bwMode="auto">
            <a:xfrm>
              <a:off x="5760" y="237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1</a:t>
              </a:r>
              <a:endParaRPr lang="en-US" altLang="en-US" sz="1800"/>
            </a:p>
          </p:txBody>
        </p:sp>
        <p:sp>
          <p:nvSpPr>
            <p:cNvPr id="12297" name="Oval 8">
              <a:extLst>
                <a:ext uri="{FF2B5EF4-FFF2-40B4-BE49-F238E27FC236}">
                  <a16:creationId xmlns:a16="http://schemas.microsoft.com/office/drawing/2014/main" id="{CC4BABD4-2CEC-479E-8E2D-01AAC08E066C}"/>
                </a:ext>
              </a:extLst>
            </p:cNvPr>
            <p:cNvSpPr>
              <a:spLocks noChangeArrowheads="1"/>
            </p:cNvSpPr>
            <p:nvPr/>
          </p:nvSpPr>
          <p:spPr bwMode="auto">
            <a:xfrm>
              <a:off x="5040" y="309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2</a:t>
              </a:r>
              <a:endParaRPr lang="en-US" altLang="en-US" sz="1800"/>
            </a:p>
          </p:txBody>
        </p:sp>
        <p:sp>
          <p:nvSpPr>
            <p:cNvPr id="12298" name="Oval 9">
              <a:extLst>
                <a:ext uri="{FF2B5EF4-FFF2-40B4-BE49-F238E27FC236}">
                  <a16:creationId xmlns:a16="http://schemas.microsoft.com/office/drawing/2014/main" id="{5B439237-C6AD-4C13-B295-99FF9707889B}"/>
                </a:ext>
              </a:extLst>
            </p:cNvPr>
            <p:cNvSpPr>
              <a:spLocks noChangeArrowheads="1"/>
            </p:cNvSpPr>
            <p:nvPr/>
          </p:nvSpPr>
          <p:spPr bwMode="auto">
            <a:xfrm>
              <a:off x="6660" y="309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3</a:t>
              </a:r>
              <a:endParaRPr lang="en-US" altLang="en-US" sz="1800"/>
            </a:p>
          </p:txBody>
        </p:sp>
        <p:sp>
          <p:nvSpPr>
            <p:cNvPr id="12299" name="Oval 10">
              <a:extLst>
                <a:ext uri="{FF2B5EF4-FFF2-40B4-BE49-F238E27FC236}">
                  <a16:creationId xmlns:a16="http://schemas.microsoft.com/office/drawing/2014/main" id="{3D2FF231-BDCB-4D8B-BF6A-FE18667136EF}"/>
                </a:ext>
              </a:extLst>
            </p:cNvPr>
            <p:cNvSpPr>
              <a:spLocks noChangeArrowheads="1"/>
            </p:cNvSpPr>
            <p:nvPr/>
          </p:nvSpPr>
          <p:spPr bwMode="auto">
            <a:xfrm>
              <a:off x="4500" y="414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4</a:t>
              </a:r>
              <a:endParaRPr lang="en-US" altLang="en-US" sz="1800"/>
            </a:p>
          </p:txBody>
        </p:sp>
        <p:sp>
          <p:nvSpPr>
            <p:cNvPr id="12300" name="Oval 11">
              <a:extLst>
                <a:ext uri="{FF2B5EF4-FFF2-40B4-BE49-F238E27FC236}">
                  <a16:creationId xmlns:a16="http://schemas.microsoft.com/office/drawing/2014/main" id="{88E00FF5-9195-4BE4-A40D-4417504C0B6F}"/>
                </a:ext>
              </a:extLst>
            </p:cNvPr>
            <p:cNvSpPr>
              <a:spLocks noChangeArrowheads="1"/>
            </p:cNvSpPr>
            <p:nvPr/>
          </p:nvSpPr>
          <p:spPr bwMode="auto">
            <a:xfrm>
              <a:off x="5295" y="414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5</a:t>
              </a:r>
              <a:endParaRPr lang="en-US" altLang="en-US" sz="1800"/>
            </a:p>
          </p:txBody>
        </p:sp>
        <p:sp>
          <p:nvSpPr>
            <p:cNvPr id="12301" name="Line 12">
              <a:extLst>
                <a:ext uri="{FF2B5EF4-FFF2-40B4-BE49-F238E27FC236}">
                  <a16:creationId xmlns:a16="http://schemas.microsoft.com/office/drawing/2014/main" id="{782EA4B0-C647-46A3-9A92-FCD57161EA6B}"/>
                </a:ext>
              </a:extLst>
            </p:cNvPr>
            <p:cNvSpPr>
              <a:spLocks noChangeShapeType="1"/>
            </p:cNvSpPr>
            <p:nvPr/>
          </p:nvSpPr>
          <p:spPr bwMode="auto">
            <a:xfrm flipH="1">
              <a:off x="5400" y="2730"/>
              <a:ext cx="36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2" name="Line 13">
              <a:extLst>
                <a:ext uri="{FF2B5EF4-FFF2-40B4-BE49-F238E27FC236}">
                  <a16:creationId xmlns:a16="http://schemas.microsoft.com/office/drawing/2014/main" id="{854B4F1F-9BE9-4512-A5D0-7ACFF8172E11}"/>
                </a:ext>
              </a:extLst>
            </p:cNvPr>
            <p:cNvSpPr>
              <a:spLocks noChangeShapeType="1"/>
            </p:cNvSpPr>
            <p:nvPr/>
          </p:nvSpPr>
          <p:spPr bwMode="auto">
            <a:xfrm>
              <a:off x="6240" y="2790"/>
              <a:ext cx="540" cy="36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3" name="Oval 14">
              <a:extLst>
                <a:ext uri="{FF2B5EF4-FFF2-40B4-BE49-F238E27FC236}">
                  <a16:creationId xmlns:a16="http://schemas.microsoft.com/office/drawing/2014/main" id="{A2D15F0B-0390-47F8-92CA-ED690CF55E13}"/>
                </a:ext>
              </a:extLst>
            </p:cNvPr>
            <p:cNvSpPr>
              <a:spLocks noChangeArrowheads="1"/>
            </p:cNvSpPr>
            <p:nvPr/>
          </p:nvSpPr>
          <p:spPr bwMode="auto">
            <a:xfrm>
              <a:off x="6270" y="414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6</a:t>
              </a:r>
              <a:endParaRPr lang="en-US" altLang="en-US" sz="1800"/>
            </a:p>
          </p:txBody>
        </p:sp>
        <p:sp>
          <p:nvSpPr>
            <p:cNvPr id="12304" name="Oval 15">
              <a:extLst>
                <a:ext uri="{FF2B5EF4-FFF2-40B4-BE49-F238E27FC236}">
                  <a16:creationId xmlns:a16="http://schemas.microsoft.com/office/drawing/2014/main" id="{13878F42-D580-4D59-8290-D150604EF118}"/>
                </a:ext>
              </a:extLst>
            </p:cNvPr>
            <p:cNvSpPr>
              <a:spLocks noChangeArrowheads="1"/>
            </p:cNvSpPr>
            <p:nvPr/>
          </p:nvSpPr>
          <p:spPr bwMode="auto">
            <a:xfrm>
              <a:off x="7200" y="4140"/>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7</a:t>
              </a:r>
              <a:endParaRPr lang="en-US" altLang="en-US" sz="1800"/>
            </a:p>
          </p:txBody>
        </p:sp>
        <p:sp>
          <p:nvSpPr>
            <p:cNvPr id="12305" name="Oval 16">
              <a:extLst>
                <a:ext uri="{FF2B5EF4-FFF2-40B4-BE49-F238E27FC236}">
                  <a16:creationId xmlns:a16="http://schemas.microsoft.com/office/drawing/2014/main" id="{694012B8-2EA7-42C4-A9DE-ABEB1A31ABD7}"/>
                </a:ext>
              </a:extLst>
            </p:cNvPr>
            <p:cNvSpPr>
              <a:spLocks noChangeArrowheads="1"/>
            </p:cNvSpPr>
            <p:nvPr/>
          </p:nvSpPr>
          <p:spPr bwMode="auto">
            <a:xfrm>
              <a:off x="5760" y="5235"/>
              <a:ext cx="540" cy="540"/>
            </a:xfrm>
            <a:prstGeom prst="ellipse">
              <a:avLst/>
            </a:prstGeom>
            <a:solidFill>
              <a:srgbClr val="FFFFFF"/>
            </a:solidFill>
            <a:ln w="9525">
              <a:solidFill>
                <a:srgbClr val="000000"/>
              </a:solidFill>
              <a:round/>
              <a:headEnd/>
              <a:tailEnd/>
            </a:ln>
          </p:spPr>
          <p:txBody>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900"/>
                <a:t> 8</a:t>
              </a:r>
              <a:endParaRPr lang="en-US" altLang="en-US" sz="1800"/>
            </a:p>
          </p:txBody>
        </p:sp>
        <p:sp>
          <p:nvSpPr>
            <p:cNvPr id="12306" name="Line 17">
              <a:extLst>
                <a:ext uri="{FF2B5EF4-FFF2-40B4-BE49-F238E27FC236}">
                  <a16:creationId xmlns:a16="http://schemas.microsoft.com/office/drawing/2014/main" id="{6109C226-5268-4497-B96A-3C8AE82E661F}"/>
                </a:ext>
              </a:extLst>
            </p:cNvPr>
            <p:cNvSpPr>
              <a:spLocks noChangeShapeType="1"/>
            </p:cNvSpPr>
            <p:nvPr/>
          </p:nvSpPr>
          <p:spPr bwMode="auto">
            <a:xfrm flipH="1">
              <a:off x="4935" y="3600"/>
              <a:ext cx="18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7" name="Line 18">
              <a:extLst>
                <a:ext uri="{FF2B5EF4-FFF2-40B4-BE49-F238E27FC236}">
                  <a16:creationId xmlns:a16="http://schemas.microsoft.com/office/drawing/2014/main" id="{20951321-B45E-4982-AE45-6C1FF0ACD4FA}"/>
                </a:ext>
              </a:extLst>
            </p:cNvPr>
            <p:cNvSpPr>
              <a:spLocks noChangeShapeType="1"/>
            </p:cNvSpPr>
            <p:nvPr/>
          </p:nvSpPr>
          <p:spPr bwMode="auto">
            <a:xfrm>
              <a:off x="5400" y="3600"/>
              <a:ext cx="18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8" name="Line 19">
              <a:extLst>
                <a:ext uri="{FF2B5EF4-FFF2-40B4-BE49-F238E27FC236}">
                  <a16:creationId xmlns:a16="http://schemas.microsoft.com/office/drawing/2014/main" id="{EF104888-E7D0-4DE0-8A07-BDCF2D488E99}"/>
                </a:ext>
              </a:extLst>
            </p:cNvPr>
            <p:cNvSpPr>
              <a:spLocks noChangeShapeType="1"/>
            </p:cNvSpPr>
            <p:nvPr/>
          </p:nvSpPr>
          <p:spPr bwMode="auto">
            <a:xfrm>
              <a:off x="4860" y="4680"/>
              <a:ext cx="900" cy="72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09" name="Line 20">
              <a:extLst>
                <a:ext uri="{FF2B5EF4-FFF2-40B4-BE49-F238E27FC236}">
                  <a16:creationId xmlns:a16="http://schemas.microsoft.com/office/drawing/2014/main" id="{49717783-06BC-40F1-A578-5C6F1FB91755}"/>
                </a:ext>
              </a:extLst>
            </p:cNvPr>
            <p:cNvSpPr>
              <a:spLocks noChangeShapeType="1"/>
            </p:cNvSpPr>
            <p:nvPr/>
          </p:nvSpPr>
          <p:spPr bwMode="auto">
            <a:xfrm flipH="1">
              <a:off x="6660" y="3600"/>
              <a:ext cx="18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0" name="Line 21">
              <a:extLst>
                <a:ext uri="{FF2B5EF4-FFF2-40B4-BE49-F238E27FC236}">
                  <a16:creationId xmlns:a16="http://schemas.microsoft.com/office/drawing/2014/main" id="{42D2C6F3-A5DF-4ECD-A199-C904735E27BF}"/>
                </a:ext>
              </a:extLst>
            </p:cNvPr>
            <p:cNvSpPr>
              <a:spLocks noChangeShapeType="1"/>
            </p:cNvSpPr>
            <p:nvPr/>
          </p:nvSpPr>
          <p:spPr bwMode="auto">
            <a:xfrm>
              <a:off x="7020" y="3600"/>
              <a:ext cx="36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1" name="Line 22">
              <a:extLst>
                <a:ext uri="{FF2B5EF4-FFF2-40B4-BE49-F238E27FC236}">
                  <a16:creationId xmlns:a16="http://schemas.microsoft.com/office/drawing/2014/main" id="{B47535C1-433D-4CCE-A1E9-850E0BACDC43}"/>
                </a:ext>
              </a:extLst>
            </p:cNvPr>
            <p:cNvSpPr>
              <a:spLocks noChangeShapeType="1"/>
            </p:cNvSpPr>
            <p:nvPr/>
          </p:nvSpPr>
          <p:spPr bwMode="auto">
            <a:xfrm flipH="1">
              <a:off x="6120" y="4680"/>
              <a:ext cx="36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2" name="Line 23">
              <a:extLst>
                <a:ext uri="{FF2B5EF4-FFF2-40B4-BE49-F238E27FC236}">
                  <a16:creationId xmlns:a16="http://schemas.microsoft.com/office/drawing/2014/main" id="{B29EFE7A-1E8B-4015-BCC1-856D9BF29386}"/>
                </a:ext>
              </a:extLst>
            </p:cNvPr>
            <p:cNvSpPr>
              <a:spLocks noChangeShapeType="1"/>
            </p:cNvSpPr>
            <p:nvPr/>
          </p:nvSpPr>
          <p:spPr bwMode="auto">
            <a:xfrm flipH="1">
              <a:off x="6300" y="4500"/>
              <a:ext cx="900" cy="9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313" name="Line 24">
              <a:extLst>
                <a:ext uri="{FF2B5EF4-FFF2-40B4-BE49-F238E27FC236}">
                  <a16:creationId xmlns:a16="http://schemas.microsoft.com/office/drawing/2014/main" id="{E25AC89E-6041-418F-A910-5687F72638AF}"/>
                </a:ext>
              </a:extLst>
            </p:cNvPr>
            <p:cNvSpPr>
              <a:spLocks noChangeShapeType="1"/>
            </p:cNvSpPr>
            <p:nvPr/>
          </p:nvSpPr>
          <p:spPr bwMode="auto">
            <a:xfrm>
              <a:off x="5700" y="4680"/>
              <a:ext cx="180" cy="5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2295" name="Text Box 26">
            <a:extLst>
              <a:ext uri="{FF2B5EF4-FFF2-40B4-BE49-F238E27FC236}">
                <a16:creationId xmlns:a16="http://schemas.microsoft.com/office/drawing/2014/main" id="{C932CA9E-2257-4B8F-82AF-BC5F0A484FCE}"/>
              </a:ext>
            </a:extLst>
          </p:cNvPr>
          <p:cNvSpPr txBox="1">
            <a:spLocks noChangeArrowheads="1"/>
          </p:cNvSpPr>
          <p:nvPr/>
        </p:nvSpPr>
        <p:spPr bwMode="auto">
          <a:xfrm>
            <a:off x="3810000" y="4876800"/>
            <a:ext cx="5334000" cy="1803400"/>
          </a:xfrm>
          <a:prstGeom prst="rect">
            <a:avLst/>
          </a:prstGeom>
          <a:solidFill>
            <a:srgbClr val="FF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9pPr>
          </a:lstStyle>
          <a:p>
            <a:pPr eaLnBrk="1" hangingPunct="1">
              <a:spcBef>
                <a:spcPct val="0"/>
              </a:spcBef>
              <a:buFontTx/>
              <a:buNone/>
            </a:pPr>
            <a:r>
              <a:rPr lang="en-US" altLang="en-US" sz="1600"/>
              <a:t>Trong phép tìm kiếm theo chiều rộng cần sử dụng một Queue với 2 thao tác cơ bản:</a:t>
            </a:r>
          </a:p>
          <a:p>
            <a:pPr eaLnBrk="1" hangingPunct="1">
              <a:spcBef>
                <a:spcPct val="0"/>
              </a:spcBef>
              <a:buFontTx/>
              <a:buNone/>
            </a:pPr>
            <a:r>
              <a:rPr lang="en-US" altLang="en-US" sz="1600"/>
              <a:t>PUT(v) : thủ tục đưa đỉnh v vào queue;</a:t>
            </a:r>
          </a:p>
          <a:p>
            <a:pPr eaLnBrk="1" hangingPunct="1">
              <a:spcBef>
                <a:spcPct val="0"/>
              </a:spcBef>
              <a:buFontTx/>
              <a:buNone/>
            </a:pPr>
            <a:r>
              <a:rPr lang="en-US" altLang="en-US" sz="1600"/>
              <a:t>GET(v) : thủ tục lấy một đỉnh trong queue ra gán cho v.</a:t>
            </a:r>
          </a:p>
          <a:p>
            <a:pPr eaLnBrk="1" hangingPunct="1">
              <a:spcBef>
                <a:spcPct val="0"/>
              </a:spcBef>
              <a:buFontTx/>
              <a:buNone/>
            </a:pPr>
            <a:r>
              <a:rPr lang="en-US" altLang="en-US" sz="1600"/>
              <a:t>Với phép tìm kiếm theo chiều rộng thì thứ tự các đỉnh trên đồ thị hình trên được đưa ra như sau: 1, 2, 3, 4, 5, 6, 7, 8</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TotalTime>
  <Words>1123</Words>
  <Application>Microsoft Office PowerPoint</Application>
  <PresentationFormat>On-screen Show (4:3)</PresentationFormat>
  <Paragraphs>147</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DKH</dc:creator>
  <cp:lastModifiedBy>HuongDK</cp:lastModifiedBy>
  <cp:revision>18</cp:revision>
  <dcterms:created xsi:type="dcterms:W3CDTF">2010-05-04T03:18:45Z</dcterms:created>
  <dcterms:modified xsi:type="dcterms:W3CDTF">2020-04-05T15:18:59Z</dcterms:modified>
</cp:coreProperties>
</file>