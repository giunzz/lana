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3"/>
  </p:notesMasterIdLst>
  <p:handoutMasterIdLst>
    <p:handoutMasterId r:id="rId34"/>
  </p:handoutMasterIdLst>
  <p:sldIdLst>
    <p:sldId id="300" r:id="rId2"/>
    <p:sldId id="308" r:id="rId3"/>
    <p:sldId id="316" r:id="rId4"/>
    <p:sldId id="309" r:id="rId5"/>
    <p:sldId id="310" r:id="rId6"/>
    <p:sldId id="334" r:id="rId7"/>
    <p:sldId id="323" r:id="rId8"/>
    <p:sldId id="324" r:id="rId9"/>
    <p:sldId id="325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11" r:id="rId18"/>
    <p:sldId id="312" r:id="rId19"/>
    <p:sldId id="313" r:id="rId20"/>
    <p:sldId id="314" r:id="rId21"/>
    <p:sldId id="315" r:id="rId22"/>
    <p:sldId id="317" r:id="rId23"/>
    <p:sldId id="318" r:id="rId24"/>
    <p:sldId id="319" r:id="rId25"/>
    <p:sldId id="320" r:id="rId26"/>
    <p:sldId id="321" r:id="rId27"/>
    <p:sldId id="322" r:id="rId28"/>
    <p:sldId id="336" r:id="rId29"/>
    <p:sldId id="337" r:id="rId30"/>
    <p:sldId id="338" r:id="rId31"/>
    <p:sldId id="335" r:id="rId3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33CC"/>
    <a:srgbClr val="694B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79723" autoAdjust="0"/>
  </p:normalViewPr>
  <p:slideViewPr>
    <p:cSldViewPr>
      <p:cViewPr varScale="1">
        <p:scale>
          <a:sx n="61" d="100"/>
          <a:sy n="61" d="100"/>
        </p:scale>
        <p:origin x="1014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1740" y="-90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C5415-1AF8-4122-B3E4-D99C824AB57F}" type="datetimeFigureOut">
              <a:rPr lang="en-US" smtClean="0"/>
              <a:t>07-Aug-18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044B7-FA87-493A-BD0B-22D667BF7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063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0991D-9161-4F3F-81E1-046BA807AF41}" type="datetimeFigureOut">
              <a:rPr lang="en-US" smtClean="0"/>
              <a:pPr/>
              <a:t>07-Aug-18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49709-6137-43FF-A025-1DD2C35793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1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87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51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46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8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84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53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90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81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73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2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23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89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64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490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721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610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582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038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571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916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767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774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494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165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340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564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098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853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4903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9709-6137-43FF-A025-1DD2C35793C7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57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E67D-27B7-493C-ACF5-81B07A9CFCCF}" type="datetime1">
              <a:rPr lang="vi-VN" smtClean="0"/>
              <a:t>07/08/2018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08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4FAE-55EB-42E0-90A7-53136414B457}" type="datetime1">
              <a:rPr lang="vi-VN" smtClean="0"/>
              <a:t>07/08/2018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990600" y="0"/>
            <a:ext cx="8153400" cy="5334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anchor="ctr">
            <a:normAutofit fontScale="2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0" b="1" kern="1200" dirty="0" smtClean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kern="1200" smtClean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THUẬT</a:t>
            </a:r>
            <a:r>
              <a:rPr kumimoji="0" lang="en-US" sz="8000" b="1" kern="1200" baseline="0" smtClean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 TOÁN PHÂN CẤP DỮ LIỆU TỪ TRÊN XUỐNG</a:t>
            </a:r>
            <a:endParaRPr kumimoji="0" lang="en-US" sz="8000" kern="1200" dirty="0" smtClean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defRPr/>
            </a:pPr>
            <a:r>
              <a:rPr lang="en-US" sz="2400" dirty="0" smtClean="0">
                <a:solidFill>
                  <a:srgbClr val="00B0F0"/>
                </a:solidFill>
              </a:rPr>
              <a:t>			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0" y="533400"/>
            <a:ext cx="9144000" cy="76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rmAutofit fontScale="2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>
              <a:defRPr/>
            </a:pPr>
            <a:r>
              <a:rPr lang="en-US" sz="2600" dirty="0" smtClean="0">
                <a:solidFill>
                  <a:srgbClr val="00B0F0"/>
                </a:solidFill>
              </a:rPr>
              <a:t>		</a:t>
            </a:r>
            <a:endParaRPr lang="en-US" sz="2600" dirty="0">
              <a:solidFill>
                <a:srgbClr val="00B0F0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0" y="0"/>
            <a:ext cx="990600" cy="533400"/>
          </a:xfrm>
          <a:prstGeom prst="rect">
            <a:avLst/>
          </a:prstGeom>
          <a:solidFill>
            <a:schemeClr val="accent5"/>
          </a:solidFill>
        </p:spPr>
        <p:txBody>
          <a:bodyPr anchor="ctr">
            <a:normAutofit fontScale="2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>
              <a:defRPr/>
            </a:pPr>
            <a:endParaRPr lang="en-US" sz="2600" dirty="0" smtClean="0">
              <a:solidFill>
                <a:srgbClr val="00B0F0"/>
              </a:solidFill>
            </a:endParaRPr>
          </a:p>
          <a:p>
            <a:pPr algn="ctr">
              <a:defRPr/>
            </a:pPr>
            <a:fld id="{24372BD3-FF29-4252-9A9F-F454DCC21EC6}" type="slidenum">
              <a:rPr lang="en-US" sz="11200" b="1" smtClean="0">
                <a:solidFill>
                  <a:srgbClr val="00B0F0"/>
                </a:solidFill>
              </a:rPr>
              <a:pPr algn="ctr">
                <a:defRPr/>
              </a:pPr>
              <a:t>‹#›</a:t>
            </a:fld>
            <a:r>
              <a:rPr lang="en-US" sz="2600" dirty="0" smtClean="0">
                <a:solidFill>
                  <a:srgbClr val="00B0F0"/>
                </a:solidFill>
              </a:rPr>
              <a:t>		</a:t>
            </a:r>
            <a:endParaRPr lang="en-US" sz="2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82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6D139-A6AF-4B61-B169-205C73E76F20}" type="datetime1">
              <a:rPr lang="vi-VN" smtClean="0"/>
              <a:t>07/08/2018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37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2DA62-88A0-4C2D-84B2-980EFA70AFC5}" type="datetime1">
              <a:rPr lang="vi-VN" smtClean="0"/>
              <a:t>07/08/2018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2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3FBD4-C1BB-42F0-B141-09AF60AFBFB1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69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A856-6C46-48BB-BEFB-C136C13C2F64}" type="datetime1">
              <a:rPr lang="vi-VN" smtClean="0"/>
              <a:t>07/08/2018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5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2A6E-9C19-4E44-A13C-3E11D2EAA97D}" type="datetime1">
              <a:rPr lang="vi-VN" smtClean="0"/>
              <a:t>07/08/2018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48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54412-621C-4090-AE9D-2491EFEDE9CF}" type="datetime1">
              <a:rPr lang="vi-VN" smtClean="0"/>
              <a:t>07/08/2018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3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AFC3C-68D2-4ACB-B7E3-47B9093C19BE}" type="datetime1">
              <a:rPr lang="vi-VN" smtClean="0"/>
              <a:t>07/08/2018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60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70CC-F105-4C30-95F1-E936ECB72D48}" type="datetime1">
              <a:rPr lang="vi-VN" smtClean="0"/>
              <a:t>07/08/2018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51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7A731-2510-40C3-8D5B-32E49807ED97}" type="datetime1">
              <a:rPr lang="vi-VN" smtClean="0"/>
              <a:t>07/08/2018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9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D1210-8485-41C5-84E7-38432B99406D}" type="datetime1">
              <a:rPr lang="vi-VN" smtClean="0"/>
              <a:t>07/08/2018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41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514600"/>
            <a:ext cx="8839200" cy="16002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US" sz="32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KỸ THUẬT ĐỆ QUY</a:t>
            </a:r>
            <a:br>
              <a:rPr lang="en-US" sz="32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PHƯƠNG PHÁP QUAY LUI</a:t>
            </a:r>
            <a:endParaRPr lang="en-US" sz="32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5800" y="4724400"/>
            <a:ext cx="4495800" cy="1828800"/>
          </a:xfr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i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ThS</a:t>
            </a:r>
            <a:r>
              <a:rPr lang="en-US" sz="1400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sz="1400" b="1" i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Dương</a:t>
            </a:r>
            <a:r>
              <a:rPr lang="en-US" sz="1400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i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Khắc</a:t>
            </a:r>
            <a:r>
              <a:rPr lang="en-US" sz="1400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i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Hưởng</a:t>
            </a:r>
            <a:endParaRPr lang="en-US" sz="1400" b="1" i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GV </a:t>
            </a:r>
            <a:r>
              <a:rPr lang="en-US" sz="1400" b="1" i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trường</a:t>
            </a:r>
            <a:r>
              <a:rPr lang="en-US" sz="1400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THPT </a:t>
            </a:r>
            <a:r>
              <a:rPr lang="en-US" sz="1400" b="1" i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chuyên</a:t>
            </a:r>
            <a:r>
              <a:rPr lang="en-US" sz="1400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i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Lê</a:t>
            </a:r>
            <a:r>
              <a:rPr lang="en-US" sz="1400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i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Quý</a:t>
            </a:r>
            <a:r>
              <a:rPr lang="en-US" sz="1400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i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Đôn</a:t>
            </a:r>
            <a:r>
              <a:rPr lang="en-US" sz="1400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– </a:t>
            </a:r>
            <a:r>
              <a:rPr lang="en-US" sz="1400" b="1" i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Khánh</a:t>
            </a:r>
            <a:r>
              <a:rPr lang="en-US" sz="1400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i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Hòa</a:t>
            </a:r>
            <a:endParaRPr lang="en-US" sz="1400" b="1" i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ĐT: 0914095310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Email: dkhuong.c3lqdon@khanhhoa.edu.vn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-76200" y="6569075"/>
            <a:ext cx="2133600" cy="365125"/>
          </a:xfrm>
        </p:spPr>
        <p:txBody>
          <a:bodyPr/>
          <a:lstStyle/>
          <a:p>
            <a:fld id="{ADF30863-65B9-4447-B4DD-CAA45B8B92F4}" type="datetime1">
              <a:rPr lang="vi-VN" smtClean="0"/>
              <a:t>07/08/2018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02700" y="6530975"/>
            <a:ext cx="2413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1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533400"/>
            <a:ext cx="9144000" cy="10287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FF0000"/>
                </a:solidFill>
              </a:rPr>
              <a:t>NỘI DUNG TẬP HUẤN </a:t>
            </a:r>
            <a:r>
              <a:rPr lang="en-US" sz="2400" b="1" smtClean="0">
                <a:solidFill>
                  <a:srgbClr val="FF0000"/>
                </a:solidFill>
              </a:rPr>
              <a:t>CHUYÊN MÔN </a:t>
            </a:r>
            <a:r>
              <a:rPr lang="en-US" sz="2400" b="1" dirty="0" smtClean="0">
                <a:solidFill>
                  <a:srgbClr val="FF0000"/>
                </a:solidFill>
              </a:rPr>
              <a:t>NĂM </a:t>
            </a:r>
            <a:r>
              <a:rPr lang="en-US" sz="2400" b="1" smtClean="0">
                <a:solidFill>
                  <a:srgbClr val="FF0000"/>
                </a:solidFill>
              </a:rPr>
              <a:t>HỌC 2018-2019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MÔN TIN HỌC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NỘI DUNG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2</a:t>
            </a:fld>
            <a:endParaRPr lang="en-US" sz="1800" dirty="0">
              <a:solidFill>
                <a:schemeClr val="tx1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3683726" y="3737440"/>
            <a:ext cx="5449389" cy="2739560"/>
            <a:chOff x="622663" y="3581400"/>
            <a:chExt cx="8051074" cy="2739560"/>
          </a:xfrm>
        </p:grpSpPr>
        <p:grpSp>
          <p:nvGrpSpPr>
            <p:cNvPr id="11" name="Group 10"/>
            <p:cNvGrpSpPr/>
            <p:nvPr/>
          </p:nvGrpSpPr>
          <p:grpSpPr>
            <a:xfrm>
              <a:off x="622663" y="3581400"/>
              <a:ext cx="7315200" cy="609600"/>
              <a:chOff x="304800" y="4800600"/>
              <a:chExt cx="7315200" cy="609600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304800" y="4800600"/>
                <a:ext cx="685800" cy="609600"/>
              </a:xfrm>
              <a:prstGeom prst="ellipse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/>
                  <a:t>2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990600" y="4876800"/>
                <a:ext cx="6629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smtClean="0">
                    <a:solidFill>
                      <a:schemeClr val="accent1">
                        <a:lumMod val="5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Thuật toán quay lui</a:t>
                </a:r>
                <a:endParaRPr lang="en-US" sz="2800" b="1" dirty="0">
                  <a:solidFill>
                    <a:schemeClr val="accent1">
                      <a:lumMod val="50000"/>
                    </a:schemeClr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1384663" y="4267200"/>
              <a:ext cx="72890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smtClean="0">
                  <a:latin typeface="Arial" pitchFamily="34" charset="0"/>
                  <a:cs typeface="Arial" pitchFamily="34" charset="0"/>
                </a:rPr>
                <a:t>Phương pháp quay lui</a:t>
              </a:r>
              <a:endParaRPr lang="en-US" sz="20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371600" y="4705290"/>
              <a:ext cx="72890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smtClean="0">
                  <a:latin typeface="Arial" pitchFamily="34" charset="0"/>
                  <a:cs typeface="Arial" pitchFamily="34" charset="0"/>
                </a:rPr>
                <a:t>Bài toán quay lui tổng quát</a:t>
              </a:r>
              <a:endParaRPr lang="en-US" sz="20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371600" y="5102597"/>
              <a:ext cx="72890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smtClean="0">
                  <a:latin typeface="Arial" pitchFamily="34" charset="0"/>
                  <a:cs typeface="Arial" pitchFamily="34" charset="0"/>
                </a:rPr>
                <a:t>Ý tưởng của phương pháp quay lui</a:t>
              </a:r>
              <a:endParaRPr lang="en-US" sz="20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71600" y="5486400"/>
              <a:ext cx="72890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smtClean="0">
                  <a:latin typeface="Arial" pitchFamily="34" charset="0"/>
                  <a:cs typeface="Arial" pitchFamily="34" charset="0"/>
                </a:rPr>
                <a:t>Lược đồ của phương pháp quay lui</a:t>
              </a:r>
              <a:endParaRPr lang="en-US" sz="20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384663" y="5920850"/>
              <a:ext cx="72890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smtClean="0">
                  <a:latin typeface="Arial" pitchFamily="34" charset="0"/>
                  <a:cs typeface="Arial" pitchFamily="34" charset="0"/>
                </a:rPr>
                <a:t>Ví dụ và bài tập</a:t>
              </a:r>
              <a:endParaRPr lang="en-US" sz="2000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94211" y="1068564"/>
            <a:ext cx="8116389" cy="2802286"/>
            <a:chOff x="494211" y="1068564"/>
            <a:chExt cx="8116389" cy="2802286"/>
          </a:xfrm>
        </p:grpSpPr>
        <p:sp>
          <p:nvSpPr>
            <p:cNvPr id="4" name="TextBox 3"/>
            <p:cNvSpPr txBox="1"/>
            <p:nvPr/>
          </p:nvSpPr>
          <p:spPr>
            <a:xfrm>
              <a:off x="1321526" y="1676400"/>
              <a:ext cx="72890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smtClean="0">
                  <a:latin typeface="Arial" pitchFamily="34" charset="0"/>
                  <a:cs typeface="Arial" pitchFamily="34" charset="0"/>
                </a:rPr>
                <a:t>Đệ quy là gì?</a:t>
              </a:r>
              <a:endParaRPr lang="en-US" sz="2000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494211" y="1068564"/>
              <a:ext cx="6744789" cy="609600"/>
              <a:chOff x="189411" y="1068564"/>
              <a:chExt cx="6744789" cy="609600"/>
            </a:xfrm>
          </p:grpSpPr>
          <p:sp>
            <p:nvSpPr>
              <p:cNvPr id="3" name="Oval 2"/>
              <p:cNvSpPr/>
              <p:nvPr/>
            </p:nvSpPr>
            <p:spPr>
              <a:xfrm>
                <a:off x="189411" y="1068564"/>
                <a:ext cx="420189" cy="609600"/>
              </a:xfrm>
              <a:prstGeom prst="ellipse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 smtClean="0"/>
                  <a:t>1</a:t>
                </a:r>
                <a:endParaRPr lang="en-US" sz="2800" b="1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914400" y="1153180"/>
                <a:ext cx="6019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smtClean="0">
                    <a:solidFill>
                      <a:schemeClr val="accent1">
                        <a:lumMod val="5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Kỹ thật đệ quy</a:t>
                </a:r>
                <a:endParaRPr lang="en-US" sz="2800" b="1" dirty="0">
                  <a:solidFill>
                    <a:schemeClr val="accent1">
                      <a:lumMod val="50000"/>
                    </a:schemeClr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1321526" y="2139395"/>
              <a:ext cx="72890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smtClean="0">
                  <a:latin typeface="Arial" pitchFamily="34" charset="0"/>
                  <a:cs typeface="Arial" pitchFamily="34" charset="0"/>
                </a:rPr>
                <a:t>Bài toán đệ quy</a:t>
              </a:r>
              <a:endParaRPr lang="en-US" sz="20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21526" y="2563051"/>
              <a:ext cx="72890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smtClean="0">
                  <a:latin typeface="Arial" pitchFamily="34" charset="0"/>
                  <a:cs typeface="Arial" pitchFamily="34" charset="0"/>
                </a:rPr>
                <a:t>Lập trình đệ quy</a:t>
              </a:r>
              <a:endParaRPr lang="en-US" sz="20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95400" y="3026046"/>
              <a:ext cx="7315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smtClean="0">
                  <a:latin typeface="Arial" pitchFamily="34" charset="0"/>
                  <a:cs typeface="Arial" pitchFamily="34" charset="0"/>
                </a:rPr>
                <a:t>Lược đồ chương trình con đệ quy</a:t>
              </a:r>
              <a:endParaRPr lang="en-US" sz="20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295400" y="3470740"/>
              <a:ext cx="7315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smtClean="0">
                  <a:latin typeface="Arial" pitchFamily="34" charset="0"/>
                  <a:cs typeface="Arial" pitchFamily="34" charset="0"/>
                </a:rPr>
                <a:t>Một số ví dụ</a:t>
              </a:r>
              <a:endParaRPr lang="en-US" sz="2000" b="1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906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81200"/>
            <a:ext cx="9144000" cy="16002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US" sz="32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Chuyên đề 1</a:t>
            </a:r>
            <a:br>
              <a:rPr lang="en-US" sz="32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KỸ THUẬT ĐỆ QUY</a:t>
            </a:r>
            <a:endParaRPr lang="en-US" sz="32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-76200" y="6569075"/>
            <a:ext cx="2133600" cy="365125"/>
          </a:xfrm>
        </p:spPr>
        <p:txBody>
          <a:bodyPr/>
          <a:lstStyle/>
          <a:p>
            <a:fld id="{ADF30863-65B9-4447-B4DD-CAA45B8B92F4}" type="datetime1">
              <a:rPr lang="vi-VN" smtClean="0"/>
              <a:t>07/08/2018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02700" y="6530975"/>
            <a:ext cx="2413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3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14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Đệ quy là gì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4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066800"/>
            <a:ext cx="8686800" cy="9541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68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ột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đối tượng được gọi là đệ quy (recursion) nếu nó được mô tả lại thông qua chính nó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8194" y="2288630"/>
            <a:ext cx="8686800" cy="138499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Nghĩa là các đối 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tượng này được định nghĩa một cách quy nạp từ những khái niệm đơn giản nhất cùng dạng với nó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4800" y="3733800"/>
            <a:ext cx="8686800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 dụ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2201" y="3733800"/>
            <a:ext cx="6629400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 nghĩa về tổ tiên</a:t>
            </a:r>
            <a:endParaRPr lang="es-BO"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62201" y="5181600"/>
            <a:ext cx="5562599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ố thứ </a:t>
            </a:r>
            <a:r>
              <a:rPr lang="en-US" sz="2800" i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trong dãy Fibonaci</a:t>
            </a:r>
            <a:endParaRPr lang="es-BO"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362200" y="4191000"/>
            <a:ext cx="4035972" cy="1053494"/>
            <a:chOff x="2438400" y="4330264"/>
            <a:chExt cx="4035972" cy="1053494"/>
          </a:xfrm>
        </p:grpSpPr>
        <p:sp>
          <p:nvSpPr>
            <p:cNvPr id="13" name="TextBox 12"/>
            <p:cNvSpPr txBox="1"/>
            <p:nvPr/>
          </p:nvSpPr>
          <p:spPr>
            <a:xfrm>
              <a:off x="2438400" y="4582180"/>
              <a:ext cx="914399" cy="5232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80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Tính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3200400" y="4330264"/>
                  <a:ext cx="3273972" cy="105349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0">
                            <a:latin typeface="Cambria Math" panose="02040503050406030204" pitchFamily="18" charset="0"/>
                          </a:rPr>
                          <m:t>!=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  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ế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 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  <m:t>−1)!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0400" y="4330264"/>
                  <a:ext cx="3273972" cy="105349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364828" y="5638800"/>
                <a:ext cx="6416565" cy="1053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ế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h𝑜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ặ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−1)+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800" i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ế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&gt;2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828" y="5638800"/>
                <a:ext cx="6416565" cy="10534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835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4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Bái toán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5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435" y="914400"/>
            <a:ext cx="3297365" cy="267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 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những bài toán 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 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 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 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rã 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 thành 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 bài toán nhỏ 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hơn cùng 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dạng với bài toán ban đầu.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5867400" y="1022131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0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Bái toán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6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5867400" y="1022131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</a:t>
            </a: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3800" y="23622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</a:t>
            </a: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362200"/>
            <a:ext cx="1219200" cy="6858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A2</a:t>
            </a: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391400" y="2362200"/>
            <a:ext cx="1219200" cy="6858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A3</a:t>
            </a:r>
            <a:endParaRPr lang="en-US"/>
          </a:p>
        </p:txBody>
      </p:sp>
      <p:cxnSp>
        <p:nvCxnSpPr>
          <p:cNvPr id="6" name="Straight Arrow Connector 5"/>
          <p:cNvCxnSpPr>
            <a:stCxn id="3" idx="3"/>
            <a:endCxn id="11" idx="7"/>
          </p:cNvCxnSpPr>
          <p:nvPr/>
        </p:nvCxnSpPr>
        <p:spPr>
          <a:xfrm flipH="1">
            <a:off x="4774452" y="1607498"/>
            <a:ext cx="12714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 flipH="1">
            <a:off x="6172200" y="1725739"/>
            <a:ext cx="241674" cy="63646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3" idx="5"/>
            <a:endCxn id="13" idx="1"/>
          </p:cNvCxnSpPr>
          <p:nvPr/>
        </p:nvCxnSpPr>
        <p:spPr>
          <a:xfrm>
            <a:off x="6908052" y="1607498"/>
            <a:ext cx="6618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435" y="914400"/>
            <a:ext cx="3297365" cy="267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à 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những bài toán 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 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 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 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rã 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 thành 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 bài toán nhỏ 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hơn cùng 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dạng với bài toán ban đầu.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43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Bái toán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7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435" y="914400"/>
            <a:ext cx="3297365" cy="3108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toán con sau khi phân rã, lại tiếp tục được phân rã thành những bài toán con nhỏ hơn cho đến khi gặp trường hợp neo.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5867400" y="1022131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</a:t>
            </a: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3800" y="23622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</a:t>
            </a: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A2</a:t>
            </a: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3914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A3</a:t>
            </a:r>
            <a:endParaRPr lang="en-US"/>
          </a:p>
        </p:txBody>
      </p:sp>
      <p:cxnSp>
        <p:nvCxnSpPr>
          <p:cNvPr id="6" name="Straight Arrow Connector 5"/>
          <p:cNvCxnSpPr>
            <a:stCxn id="3" idx="3"/>
            <a:endCxn id="11" idx="7"/>
          </p:cNvCxnSpPr>
          <p:nvPr/>
        </p:nvCxnSpPr>
        <p:spPr>
          <a:xfrm flipH="1">
            <a:off x="4774452" y="1607498"/>
            <a:ext cx="12714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 flipH="1">
            <a:off x="6172200" y="1725739"/>
            <a:ext cx="241674" cy="63646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3" idx="5"/>
            <a:endCxn id="13" idx="1"/>
          </p:cNvCxnSpPr>
          <p:nvPr/>
        </p:nvCxnSpPr>
        <p:spPr>
          <a:xfrm>
            <a:off x="6908052" y="1607498"/>
            <a:ext cx="6618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659085" y="3962400"/>
            <a:ext cx="4408715" cy="13849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Trường hợp neo (suy biến) là trường hợp bài toán đã có lời giải hoặc kết quả</a:t>
            </a:r>
            <a:endParaRPr lang="en-US"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7" name="Straight Arrow Connector 26"/>
          <p:cNvCxnSpPr>
            <a:stCxn id="4" idx="0"/>
            <a:endCxn id="12" idx="4"/>
          </p:cNvCxnSpPr>
          <p:nvPr/>
        </p:nvCxnSpPr>
        <p:spPr>
          <a:xfrm flipH="1" flipV="1">
            <a:off x="6172200" y="3048000"/>
            <a:ext cx="691243" cy="914400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4" idx="0"/>
            <a:endCxn id="13" idx="4"/>
          </p:cNvCxnSpPr>
          <p:nvPr/>
        </p:nvCxnSpPr>
        <p:spPr>
          <a:xfrm flipV="1">
            <a:off x="6863443" y="3048000"/>
            <a:ext cx="1137557" cy="914400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32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Bái toán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8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5867400" y="1022131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</a:t>
            </a: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3800" y="23622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</a:t>
            </a: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A2</a:t>
            </a: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3914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A3</a:t>
            </a: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514600" y="36576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A11</a:t>
            </a: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43400" y="36576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A12</a:t>
            </a: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172200" y="3670738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A13</a:t>
            </a:r>
            <a:endParaRPr lang="en-US"/>
          </a:p>
        </p:txBody>
      </p:sp>
      <p:cxnSp>
        <p:nvCxnSpPr>
          <p:cNvPr id="6" name="Straight Arrow Connector 5"/>
          <p:cNvCxnSpPr>
            <a:stCxn id="3" idx="3"/>
            <a:endCxn id="11" idx="7"/>
          </p:cNvCxnSpPr>
          <p:nvPr/>
        </p:nvCxnSpPr>
        <p:spPr>
          <a:xfrm flipH="1">
            <a:off x="4774452" y="1607498"/>
            <a:ext cx="12714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 flipH="1">
            <a:off x="6172200" y="1725739"/>
            <a:ext cx="241674" cy="63646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3" idx="5"/>
            <a:endCxn id="13" idx="1"/>
          </p:cNvCxnSpPr>
          <p:nvPr/>
        </p:nvCxnSpPr>
        <p:spPr>
          <a:xfrm>
            <a:off x="6908052" y="1607498"/>
            <a:ext cx="6618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3"/>
            <a:endCxn id="14" idx="0"/>
          </p:cNvCxnSpPr>
          <p:nvPr/>
        </p:nvCxnSpPr>
        <p:spPr>
          <a:xfrm flipH="1">
            <a:off x="3124200" y="2947567"/>
            <a:ext cx="788148" cy="710033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15" idx="0"/>
          </p:cNvCxnSpPr>
          <p:nvPr/>
        </p:nvCxnSpPr>
        <p:spPr>
          <a:xfrm>
            <a:off x="4369548" y="2997784"/>
            <a:ext cx="583452" cy="659816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16" idx="1"/>
          </p:cNvCxnSpPr>
          <p:nvPr/>
        </p:nvCxnSpPr>
        <p:spPr>
          <a:xfrm>
            <a:off x="4805663" y="2895600"/>
            <a:ext cx="1545085" cy="87557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435" y="914400"/>
            <a:ext cx="3297365" cy="3108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toán con sau khi phân rã, lại tiếp tục được phân rã thành những bài toán con nhỏ hơn cho đến khi gặp trường hợp neo.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5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Bái toán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9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435" y="914400"/>
            <a:ext cx="3297365" cy="18158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 đến khi những bài toán con không thể phân rã được nữa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5867400" y="1022131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</a:t>
            </a: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3800" y="23622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</a:t>
            </a: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A2</a:t>
            </a: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3914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A3</a:t>
            </a: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514600" y="36576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A11</a:t>
            </a: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43400" y="36576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A12</a:t>
            </a: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172200" y="3670738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A13</a:t>
            </a: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514600" y="51054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A112</a:t>
            </a:r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388069" y="51054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A113</a:t>
            </a:r>
            <a:endParaRPr lang="en-US"/>
          </a:p>
        </p:txBody>
      </p:sp>
      <p:cxnSp>
        <p:nvCxnSpPr>
          <p:cNvPr id="6" name="Straight Arrow Connector 5"/>
          <p:cNvCxnSpPr>
            <a:stCxn id="3" idx="3"/>
            <a:endCxn id="11" idx="7"/>
          </p:cNvCxnSpPr>
          <p:nvPr/>
        </p:nvCxnSpPr>
        <p:spPr>
          <a:xfrm flipH="1">
            <a:off x="4774452" y="1607498"/>
            <a:ext cx="12714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 flipH="1">
            <a:off x="6172200" y="1725739"/>
            <a:ext cx="241674" cy="63646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3" idx="5"/>
            <a:endCxn id="13" idx="1"/>
          </p:cNvCxnSpPr>
          <p:nvPr/>
        </p:nvCxnSpPr>
        <p:spPr>
          <a:xfrm>
            <a:off x="6908052" y="1607498"/>
            <a:ext cx="6618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3"/>
            <a:endCxn id="14" idx="0"/>
          </p:cNvCxnSpPr>
          <p:nvPr/>
        </p:nvCxnSpPr>
        <p:spPr>
          <a:xfrm flipH="1">
            <a:off x="3124200" y="2947567"/>
            <a:ext cx="788148" cy="710033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58081" y="5071241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A111</a:t>
            </a:r>
            <a:endParaRPr lang="en-US"/>
          </a:p>
        </p:txBody>
      </p:sp>
      <p:cxnSp>
        <p:nvCxnSpPr>
          <p:cNvPr id="31" name="Straight Arrow Connector 30"/>
          <p:cNvCxnSpPr>
            <a:endCxn id="15" idx="0"/>
          </p:cNvCxnSpPr>
          <p:nvPr/>
        </p:nvCxnSpPr>
        <p:spPr>
          <a:xfrm>
            <a:off x="4369548" y="2997784"/>
            <a:ext cx="583452" cy="659816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16" idx="1"/>
          </p:cNvCxnSpPr>
          <p:nvPr/>
        </p:nvCxnSpPr>
        <p:spPr>
          <a:xfrm>
            <a:off x="4805663" y="2895600"/>
            <a:ext cx="1545085" cy="87557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4" idx="3"/>
            <a:endCxn id="30" idx="7"/>
          </p:cNvCxnSpPr>
          <p:nvPr/>
        </p:nvCxnSpPr>
        <p:spPr>
          <a:xfrm flipH="1">
            <a:off x="1698733" y="4242967"/>
            <a:ext cx="994415" cy="928707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4" idx="4"/>
            <a:endCxn id="17" idx="0"/>
          </p:cNvCxnSpPr>
          <p:nvPr/>
        </p:nvCxnSpPr>
        <p:spPr>
          <a:xfrm>
            <a:off x="3124200" y="4343400"/>
            <a:ext cx="0" cy="762000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4" idx="5"/>
            <a:endCxn id="18" idx="1"/>
          </p:cNvCxnSpPr>
          <p:nvPr/>
        </p:nvCxnSpPr>
        <p:spPr>
          <a:xfrm>
            <a:off x="3555252" y="4242967"/>
            <a:ext cx="1011365" cy="962866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96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Bái toán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10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435" y="914400"/>
            <a:ext cx="3297365" cy="267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iải những bài toán con rồi kết hợp nghiệm của các bài toán con để có lời giải cho bài toán lớn hơn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5867400" y="1022131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</a:t>
            </a: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3800" y="23622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</a:t>
            </a: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A2</a:t>
            </a: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3914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A3</a:t>
            </a: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514600" y="36576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A11</a:t>
            </a: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43400" y="36576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A12</a:t>
            </a: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172200" y="3670738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A13</a:t>
            </a: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514600" y="51054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A112</a:t>
            </a:r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388069" y="51054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A113</a:t>
            </a:r>
            <a:endParaRPr lang="en-US"/>
          </a:p>
        </p:txBody>
      </p:sp>
      <p:cxnSp>
        <p:nvCxnSpPr>
          <p:cNvPr id="6" name="Straight Arrow Connector 5"/>
          <p:cNvCxnSpPr>
            <a:stCxn id="3" idx="3"/>
            <a:endCxn id="11" idx="7"/>
          </p:cNvCxnSpPr>
          <p:nvPr/>
        </p:nvCxnSpPr>
        <p:spPr>
          <a:xfrm flipH="1">
            <a:off x="4774452" y="1607498"/>
            <a:ext cx="12714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 flipH="1">
            <a:off x="6172200" y="1725739"/>
            <a:ext cx="241674" cy="63646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3" idx="5"/>
            <a:endCxn id="13" idx="1"/>
          </p:cNvCxnSpPr>
          <p:nvPr/>
        </p:nvCxnSpPr>
        <p:spPr>
          <a:xfrm>
            <a:off x="6908052" y="1607498"/>
            <a:ext cx="6618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3"/>
            <a:endCxn id="14" idx="0"/>
          </p:cNvCxnSpPr>
          <p:nvPr/>
        </p:nvCxnSpPr>
        <p:spPr>
          <a:xfrm flipH="1">
            <a:off x="3124200" y="2947567"/>
            <a:ext cx="788148" cy="710033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58081" y="5071241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A111</a:t>
            </a:r>
            <a:endParaRPr lang="en-US"/>
          </a:p>
        </p:txBody>
      </p:sp>
      <p:cxnSp>
        <p:nvCxnSpPr>
          <p:cNvPr id="31" name="Straight Arrow Connector 30"/>
          <p:cNvCxnSpPr>
            <a:endCxn id="15" idx="0"/>
          </p:cNvCxnSpPr>
          <p:nvPr/>
        </p:nvCxnSpPr>
        <p:spPr>
          <a:xfrm>
            <a:off x="4369548" y="2997784"/>
            <a:ext cx="583452" cy="659816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16" idx="1"/>
          </p:cNvCxnSpPr>
          <p:nvPr/>
        </p:nvCxnSpPr>
        <p:spPr>
          <a:xfrm>
            <a:off x="4805663" y="2895600"/>
            <a:ext cx="1545085" cy="87557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4" idx="3"/>
            <a:endCxn id="30" idx="7"/>
          </p:cNvCxnSpPr>
          <p:nvPr/>
        </p:nvCxnSpPr>
        <p:spPr>
          <a:xfrm flipH="1">
            <a:off x="1698733" y="4242967"/>
            <a:ext cx="994415" cy="928707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4" idx="4"/>
            <a:endCxn id="17" idx="0"/>
          </p:cNvCxnSpPr>
          <p:nvPr/>
        </p:nvCxnSpPr>
        <p:spPr>
          <a:xfrm>
            <a:off x="3124200" y="4343400"/>
            <a:ext cx="0" cy="762000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4" idx="5"/>
            <a:endCxn id="18" idx="1"/>
          </p:cNvCxnSpPr>
          <p:nvPr/>
        </p:nvCxnSpPr>
        <p:spPr>
          <a:xfrm>
            <a:off x="3555252" y="4242967"/>
            <a:ext cx="1011365" cy="962866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22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Bái toán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11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5867400" y="1022131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</a:t>
            </a: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3800" y="23622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</a:t>
            </a: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A2</a:t>
            </a: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3914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A3</a:t>
            </a: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514600" y="36576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A11</a:t>
            </a: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43400" y="36576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A12</a:t>
            </a: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172200" y="3670738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A13</a:t>
            </a:r>
            <a:endParaRPr lang="en-US"/>
          </a:p>
        </p:txBody>
      </p:sp>
      <p:cxnSp>
        <p:nvCxnSpPr>
          <p:cNvPr id="6" name="Straight Arrow Connector 5"/>
          <p:cNvCxnSpPr>
            <a:stCxn id="3" idx="3"/>
            <a:endCxn id="11" idx="7"/>
          </p:cNvCxnSpPr>
          <p:nvPr/>
        </p:nvCxnSpPr>
        <p:spPr>
          <a:xfrm flipH="1">
            <a:off x="4774452" y="1607498"/>
            <a:ext cx="12714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 flipH="1">
            <a:off x="6172200" y="1725739"/>
            <a:ext cx="241674" cy="63646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3" idx="5"/>
            <a:endCxn id="13" idx="1"/>
          </p:cNvCxnSpPr>
          <p:nvPr/>
        </p:nvCxnSpPr>
        <p:spPr>
          <a:xfrm>
            <a:off x="6908052" y="1607498"/>
            <a:ext cx="6618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3"/>
            <a:endCxn id="14" idx="0"/>
          </p:cNvCxnSpPr>
          <p:nvPr/>
        </p:nvCxnSpPr>
        <p:spPr>
          <a:xfrm flipH="1">
            <a:off x="3124200" y="2947567"/>
            <a:ext cx="788148" cy="710033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15" idx="0"/>
          </p:cNvCxnSpPr>
          <p:nvPr/>
        </p:nvCxnSpPr>
        <p:spPr>
          <a:xfrm>
            <a:off x="4369548" y="2997784"/>
            <a:ext cx="583452" cy="659816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16" idx="1"/>
          </p:cNvCxnSpPr>
          <p:nvPr/>
        </p:nvCxnSpPr>
        <p:spPr>
          <a:xfrm>
            <a:off x="4805663" y="2895600"/>
            <a:ext cx="1545085" cy="87557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435" y="914400"/>
            <a:ext cx="3297365" cy="3108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 cách giải những bài toán con rồi kết hợp nghiệm của các bài toán con để có lời giải cho bài toán lớn hơn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600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Bái toán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12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5867400" y="1022131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</a:t>
            </a: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3800" y="23622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</a:t>
            </a: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A2</a:t>
            </a: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3914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A3</a:t>
            </a: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514600" y="36576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A11</a:t>
            </a: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43400" y="36576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A12</a:t>
            </a: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172200" y="3670738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A13</a:t>
            </a:r>
            <a:endParaRPr lang="en-US"/>
          </a:p>
        </p:txBody>
      </p:sp>
      <p:cxnSp>
        <p:nvCxnSpPr>
          <p:cNvPr id="6" name="Straight Arrow Connector 5"/>
          <p:cNvCxnSpPr>
            <a:stCxn id="3" idx="3"/>
            <a:endCxn id="11" idx="7"/>
          </p:cNvCxnSpPr>
          <p:nvPr/>
        </p:nvCxnSpPr>
        <p:spPr>
          <a:xfrm flipH="1">
            <a:off x="4774452" y="1607498"/>
            <a:ext cx="12714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 flipH="1">
            <a:off x="6172200" y="1725739"/>
            <a:ext cx="241674" cy="63646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3" idx="5"/>
            <a:endCxn id="13" idx="1"/>
          </p:cNvCxnSpPr>
          <p:nvPr/>
        </p:nvCxnSpPr>
        <p:spPr>
          <a:xfrm>
            <a:off x="6908052" y="1607498"/>
            <a:ext cx="6618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3"/>
            <a:endCxn id="14" idx="0"/>
          </p:cNvCxnSpPr>
          <p:nvPr/>
        </p:nvCxnSpPr>
        <p:spPr>
          <a:xfrm flipH="1">
            <a:off x="3124200" y="2947567"/>
            <a:ext cx="788148" cy="710033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15" idx="0"/>
          </p:cNvCxnSpPr>
          <p:nvPr/>
        </p:nvCxnSpPr>
        <p:spPr>
          <a:xfrm>
            <a:off x="4369548" y="2997784"/>
            <a:ext cx="583452" cy="659816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16" idx="1"/>
          </p:cNvCxnSpPr>
          <p:nvPr/>
        </p:nvCxnSpPr>
        <p:spPr>
          <a:xfrm>
            <a:off x="4805663" y="2895600"/>
            <a:ext cx="1545085" cy="87557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435" y="914400"/>
            <a:ext cx="3297365" cy="3108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 cách giải những bài toán con rồi kết hợp nghiệm của các bài toán con để có lời giải cho bài toán lớn hơn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26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Bái toán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13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5867400" y="1022131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</a:t>
            </a: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3800" y="23622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</a:t>
            </a: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A2</a:t>
            </a: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3914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A3</a:t>
            </a:r>
            <a:endParaRPr lang="en-US"/>
          </a:p>
        </p:txBody>
      </p:sp>
      <p:cxnSp>
        <p:nvCxnSpPr>
          <p:cNvPr id="6" name="Straight Arrow Connector 5"/>
          <p:cNvCxnSpPr>
            <a:stCxn id="3" idx="3"/>
            <a:endCxn id="11" idx="7"/>
          </p:cNvCxnSpPr>
          <p:nvPr/>
        </p:nvCxnSpPr>
        <p:spPr>
          <a:xfrm flipH="1">
            <a:off x="4774452" y="1607498"/>
            <a:ext cx="12714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 flipH="1">
            <a:off x="6172200" y="1725739"/>
            <a:ext cx="241674" cy="63646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3" idx="5"/>
            <a:endCxn id="13" idx="1"/>
          </p:cNvCxnSpPr>
          <p:nvPr/>
        </p:nvCxnSpPr>
        <p:spPr>
          <a:xfrm>
            <a:off x="6908052" y="1607498"/>
            <a:ext cx="6618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435" y="914400"/>
            <a:ext cx="3297365" cy="3108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 cách giải những bài toán con rồi kết hợp nghiệm của các bài toán con để có lời giải cho bài toán lớn hơn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51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Bái toán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14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5867400" y="1022131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</a:t>
            </a: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38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A1</a:t>
            </a: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626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A2</a:t>
            </a: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391400" y="2362200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A3</a:t>
            </a:r>
            <a:endParaRPr lang="en-US"/>
          </a:p>
        </p:txBody>
      </p:sp>
      <p:cxnSp>
        <p:nvCxnSpPr>
          <p:cNvPr id="6" name="Straight Arrow Connector 5"/>
          <p:cNvCxnSpPr>
            <a:stCxn id="3" idx="3"/>
            <a:endCxn id="11" idx="7"/>
          </p:cNvCxnSpPr>
          <p:nvPr/>
        </p:nvCxnSpPr>
        <p:spPr>
          <a:xfrm flipH="1">
            <a:off x="4774452" y="1607498"/>
            <a:ext cx="12714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 flipH="1">
            <a:off x="6172200" y="1725739"/>
            <a:ext cx="241674" cy="636461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3" idx="5"/>
            <a:endCxn id="13" idx="1"/>
          </p:cNvCxnSpPr>
          <p:nvPr/>
        </p:nvCxnSpPr>
        <p:spPr>
          <a:xfrm>
            <a:off x="6908052" y="1607498"/>
            <a:ext cx="661896" cy="855135"/>
          </a:xfrm>
          <a:prstGeom prst="straightConnector1">
            <a:avLst/>
          </a:prstGeom>
          <a:ln w="317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435" y="914400"/>
            <a:ext cx="3297365" cy="3108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 cách giải những bài toán con rồi kết hợp nghiệm của các bài toán con để có lời giải cho bài toán lớn hơn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01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Bái toán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15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5867400" y="1022131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435" y="914400"/>
            <a:ext cx="3297365" cy="3108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 cách giải những bài toán con rồi kết hợp nghiệm của các bài toán con để có lời giải cho bài toán lớn hơn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77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Bái toán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904515" y="6569075"/>
            <a:ext cx="228600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16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435" y="914400"/>
            <a:ext cx="5278565" cy="95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 đến khi có được lời giải của bài toán ban đầu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5867400" y="1022131"/>
            <a:ext cx="1219200" cy="6858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6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Lập trình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02566" y="6569075"/>
            <a:ext cx="446315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17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179493"/>
            <a:ext cx="8686800" cy="954107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 xây dựng chương trình con đệ quy để giải các bài toán đệ quy.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8194" y="2362200"/>
            <a:ext cx="8686800" cy="1384995"/>
          </a:xfrm>
          <a:prstGeom prst="rect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Chương trình con đệ quy là chương trình con mà trong thân của nó có lời gọi trực tiếp hay gián tiếp đến chính nó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8194" y="3949005"/>
            <a:ext cx="8686800" cy="2246769"/>
          </a:xfrm>
          <a:prstGeom prst="rect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 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xây dựng được chương trình con đệ quy cần xác định:</a:t>
            </a:r>
          </a:p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Trường hợp suy biến của bài toán</a:t>
            </a:r>
          </a:p>
          <a:p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Lời gọi đệ quy để gải bài toán (với tham số nhỏ hơn)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14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Lược đồ chương trình con đệ quy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86800" y="6629400"/>
            <a:ext cx="446315" cy="304800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18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027867"/>
            <a:ext cx="9144000" cy="5601533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Procedure/Function </a:t>
            </a:r>
            <a:r>
              <a:rPr lang="en-US" sz="28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&lt;Tên&gt; </a:t>
            </a:r>
            <a:r>
              <a:rPr lang="en-US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(&lt;tham số&gt;);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(trường hợp suy biến) </a:t>
            </a:r>
            <a:endParaRPr lang="en-US" sz="2800" b="1" smtClean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then </a:t>
            </a:r>
            <a:r>
              <a:rPr lang="en-US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&lt;xử lý suy biến&gt;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endParaRPr lang="en-US" sz="28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8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[lệnh tiền đệ quy];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8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&lt;Lệnh gọi đệ </a:t>
            </a:r>
            <a:r>
              <a:rPr lang="en-US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quy&gt;;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[lệnh hậu đệ quy];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7660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Một số ví dụ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86800" y="6569075"/>
            <a:ext cx="446315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19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505200"/>
            <a:ext cx="9144000" cy="2554545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8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s-BO" sz="28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GT(n:longint):longint;</a:t>
            </a:r>
            <a:endParaRPr lang="en-US" sz="28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8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BO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n=0 </a:t>
            </a:r>
            <a:r>
              <a:rPr lang="es-BO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endParaRPr lang="en-US" sz="28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BO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(n*GT(n-1))</a:t>
            </a:r>
            <a:endParaRPr lang="en-US" sz="28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8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990600"/>
            <a:ext cx="8686800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BO" sz="3200" b="1" smtClean="0"/>
              <a:t>Ví dụ 1</a:t>
            </a:r>
            <a:r>
              <a:rPr lang="es-BO" sz="3200" smtClean="0"/>
              <a:t>: Bài toán tính giai thừa của số nguyên n.</a:t>
            </a:r>
            <a:endParaRPr lang="en-US" sz="320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152400" y="1880174"/>
                <a:ext cx="8839200" cy="13281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𝐺𝑇</m:t>
                      </m:r>
                      <m:r>
                        <a:rPr lang="en-US" sz="36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i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36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ế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nor/>
                                  </m:r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3600" i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3600" i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𝐺𝑇</m:t>
                                </m:r>
                                <m:d>
                                  <m:dPr>
                                    <m:ctrlPr>
                                      <a:rPr lang="en-US" sz="3600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3600" i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ế</m:t>
                                </m:r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nor/>
                                  </m:r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3600" i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880174"/>
                <a:ext cx="8839200" cy="13281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34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Một số ví dụ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86800" y="6568321"/>
            <a:ext cx="446315" cy="365879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20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" y="3429000"/>
            <a:ext cx="9144001" cy="3139321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s-BO" sz="24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Nguoc(s:string):longint;</a:t>
            </a:r>
            <a:endParaRPr lang="en-US" sz="24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s-BO" sz="24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n:integer;</a:t>
            </a:r>
            <a:endParaRPr lang="en-US" sz="24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4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n:=length(s);</a:t>
            </a:r>
            <a:endParaRPr lang="en-US" sz="24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BO" sz="2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n=1 </a:t>
            </a: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es-BO" sz="2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es-BO" sz="2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  <a:endParaRPr lang="en-US" sz="24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BO" sz="2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es-BO" sz="2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(S[n]+Nguoc(copy(S,1,n-1)))</a:t>
            </a:r>
            <a:endParaRPr lang="en-US" sz="24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s-BO" sz="2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762000"/>
            <a:ext cx="8686800" cy="1077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BO" sz="3200" b="1" smtClean="0"/>
              <a:t>Ví dụ 2</a:t>
            </a:r>
            <a:r>
              <a:rPr lang="es-BO" sz="3200" smtClean="0"/>
              <a:t>: </a:t>
            </a:r>
            <a:r>
              <a:rPr lang="es-BO" sz="3200"/>
              <a:t>Tìm xâu đảo ngược của một xâu S có độ dài là </a:t>
            </a:r>
            <a:r>
              <a:rPr lang="es-BO" sz="3200" smtClean="0"/>
              <a:t>n</a:t>
            </a:r>
            <a:endParaRPr lang="en-US" sz="320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1" y="2143686"/>
                <a:ext cx="9133114" cy="10534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𝐷𝑎𝑜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ế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[1]+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𝐷𝑎𝑜</m:t>
                                </m:r>
                                <m:d>
                                  <m:dPr>
                                    <m:ctrlPr>
                                      <a:rPr lang="en-US" sz="2800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𝑐𝑜𝑝𝑦</m:t>
                                    </m:r>
                                    <m:d>
                                      <m:dPr>
                                        <m:ctrlPr>
                                          <a:rPr lang="en-US" sz="2800" i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lang="en-US" sz="2800" i="0">
                                            <a:latin typeface="Cambria Math" panose="02040503050406030204" pitchFamily="18" charset="0"/>
                                          </a:rPr>
                                          <m:t>,1,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800" i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ế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&gt;1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2143686"/>
                <a:ext cx="9133114" cy="10534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93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Một số ví dụ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73885" y="6569075"/>
            <a:ext cx="446315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21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490823"/>
            <a:ext cx="9144000" cy="3062377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8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s-BO" sz="28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ucln(a,b:longint):longint;</a:t>
            </a:r>
            <a:endParaRPr lang="en-US" sz="28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8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8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8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8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BO" sz="28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BO" sz="28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a=b </a:t>
            </a:r>
            <a:r>
              <a:rPr lang="es-BO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8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  <a:endParaRPr lang="en-US" sz="28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8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BO" sz="28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BO" sz="28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8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BO" sz="28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es-BO" sz="28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(UCLN(max(a,b</a:t>
            </a: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)-min(a,b),min(a,b</a:t>
            </a:r>
            <a:r>
              <a:rPr lang="es-BO" sz="28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)));</a:t>
            </a:r>
            <a:endParaRPr lang="en-US" sz="28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800" b="1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8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s-BO" sz="28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800" b="1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838200"/>
            <a:ext cx="8686800" cy="1077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BO" sz="3200" b="1" smtClean="0"/>
              <a:t>Ví dụ 3</a:t>
            </a:r>
            <a:r>
              <a:rPr lang="es-BO" sz="3200" smtClean="0"/>
              <a:t>: </a:t>
            </a:r>
            <a:r>
              <a:rPr lang="es-BO" sz="3200"/>
              <a:t>Tìm ước chung lớn nhất của hai số nguyên dương a và b</a:t>
            </a:r>
            <a:endParaRPr lang="en-US" sz="320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31530" y="2146906"/>
                <a:ext cx="9112470" cy="10534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𝑈𝐶𝐿𝑁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ế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𝑈𝐶𝐿𝑁</m:t>
                                </m:r>
                                <m:d>
                                  <m:dPr>
                                    <m:ctrlPr>
                                      <a:rPr lang="en-US" sz="2800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800" i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800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sz="28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  <m:d>
                                      <m:dPr>
                                        <m:ctrlPr>
                                          <a:rPr lang="en-US" sz="2800" i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800" i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ế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nor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0" y="2146906"/>
                <a:ext cx="9112470" cy="10534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653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81200"/>
            <a:ext cx="9144000" cy="16002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US" sz="32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Chuyên đề 2</a:t>
            </a:r>
            <a:br>
              <a:rPr lang="en-US" sz="32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PHƯƠNG PHÁP QUAY LUI</a:t>
            </a:r>
            <a:endParaRPr lang="en-US" sz="32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-76200" y="6569075"/>
            <a:ext cx="2133600" cy="365125"/>
          </a:xfrm>
        </p:spPr>
        <p:txBody>
          <a:bodyPr/>
          <a:lstStyle/>
          <a:p>
            <a:fld id="{ADF30863-65B9-4447-B4DD-CAA45B8B92F4}" type="datetime1">
              <a:rPr lang="vi-VN" smtClean="0"/>
              <a:t>07/08/2018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530975"/>
            <a:ext cx="533400" cy="3270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22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80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Phương pháp quay lui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86800" y="6569075"/>
            <a:ext cx="446315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23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179493"/>
            <a:ext cx="8686800" cy="138499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pháp quay lui là phương pháp tìm nghiệm của bài toán bằng cách xét hết tất cả các khả năng có thể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8194" y="2779693"/>
            <a:ext cx="8686800" cy="954107"/>
          </a:xfrm>
          <a:prstGeom prst="rect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pháp quay lui luôn đảm bảo tìm ra nghiệm đúng, chính xác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8194" y="3949005"/>
            <a:ext cx="8686800" cy="1384995"/>
          </a:xfrm>
          <a:prstGeom prst="rect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pháp quay lui có thời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 thực thi lâu, độ phức tạp 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lớn (hàm mũ), chỉ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phù hợp với các bài toán có kích thước nhỏ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98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Bài toán quay lui tổng quát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86800" y="6569075"/>
            <a:ext cx="446315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24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179493"/>
            <a:ext cx="8686800" cy="224676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Cần tìm một cấu hình được mô tả bởi một bộ phận gồm n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 phần X = {x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x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…, x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}. </a:t>
            </a:r>
            <a:endParaRPr lang="es-BO" sz="280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 phần x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 = 1..n) có m khả năng chọn từ một tập S = {s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…, s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} thỏa mãn điều kiện nào đó.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8194" y="3657600"/>
            <a:ext cx="8686800" cy="2246769"/>
          </a:xfrm>
          <a:prstGeom prst="rect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toán quay lui có ba thành phần chính sau:</a:t>
            </a:r>
          </a:p>
          <a:p>
            <a:pPr lvl="0"/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s-BO" sz="2800" i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{</a:t>
            </a:r>
            <a:r>
              <a:rPr lang="es-BO" sz="28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s-BO" sz="2800" i="1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1, </a:t>
            </a:r>
            <a:r>
              <a:rPr lang="es-BO" sz="28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s-BO" sz="2800" i="1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s-BO" sz="28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…, </a:t>
            </a:r>
            <a:r>
              <a:rPr lang="es-BO" sz="2800" i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s-BO" sz="2800" i="1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 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},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 gọi là vector nghiệm</a:t>
            </a:r>
            <a:endParaRPr lang="en-US"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s-BO" sz="2800" i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S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{</a:t>
            </a:r>
            <a:r>
              <a:rPr lang="es-BO" sz="28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s-BO" sz="2800" i="1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1, </a:t>
            </a:r>
            <a:r>
              <a:rPr lang="es-BO" sz="28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s-BO" sz="2800" i="1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s-BO" sz="28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…, </a:t>
            </a:r>
            <a:r>
              <a:rPr lang="es-BO" sz="2800" i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s-BO" sz="2800" i="1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 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},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 gọi là tập ứng cử viên</a:t>
            </a:r>
            <a:endParaRPr lang="en-US"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Điều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kiện ràng buộc của vector nghiệm</a:t>
            </a:r>
            <a:endParaRPr lang="es-BO" sz="280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90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Ý tưởng phương pháp quay lui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86800" y="6569075"/>
            <a:ext cx="446315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25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838200"/>
            <a:ext cx="8686800" cy="181588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 sử 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 chọn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 i-1 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phần (x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…, x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i-1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) 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vector 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nghiệm X, để chọn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 thành phần thứ i tức là x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ta có </a:t>
            </a:r>
            <a:r>
              <a:rPr lang="es-BO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khả năng chọn từ tập </a:t>
            </a:r>
            <a:r>
              <a:rPr lang="es-BO" sz="28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{s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1,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…, s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}. </a:t>
            </a:r>
            <a:endParaRPr lang="es-BO" sz="280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Việc chọn s</a:t>
            </a:r>
            <a:r>
              <a:rPr lang="es-BO" sz="28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cho x</a:t>
            </a:r>
            <a:r>
              <a:rPr lang="es-BO" sz="28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có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 khả năng xảy ra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7715" y="2832318"/>
            <a:ext cx="8686800" cy="181588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TH1: Nếu chọn được s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(j = 1..m) cho x</a:t>
            </a:r>
            <a:r>
              <a:rPr lang="es-BO" sz="28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thì kiểm tra xem nếu đủ cấu hình nghiệm (i=n) </a:t>
            </a:r>
            <a:r>
              <a:rPr lang="es-BO" sz="28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thì </a:t>
            </a:r>
            <a:r>
              <a:rPr lang="es-BO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ghi nhận một nghiệm, ngược lại tiếp tục chọn cho thành phần thứ i+1 (xi+1).</a:t>
            </a:r>
            <a:endParaRPr lang="en-US"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8600" y="4863405"/>
            <a:ext cx="8686800" cy="138499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s-BO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TH2: Nếu thử hết tất cả m khả năng mà không có một khả năng nào thỏa mãn cho x</a:t>
            </a:r>
            <a:r>
              <a:rPr lang="es-BO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s-BO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thì quay lui chọn lại cho </a:t>
            </a:r>
            <a:r>
              <a:rPr lang="es-BO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s-BO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i-1</a:t>
            </a:r>
            <a:r>
              <a:rPr lang="es-BO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98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Lược đồ của phương pháp quay lui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73885" y="6569075"/>
            <a:ext cx="446315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26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7884" y="838200"/>
            <a:ext cx="9151883" cy="5816977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 </a:t>
            </a: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Try(i)		</a:t>
            </a:r>
            <a:endParaRPr lang="en-US" sz="2400" b="1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4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BO" sz="24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j:=1 </a:t>
            </a: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 </a:t>
            </a: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endParaRPr lang="en-US" sz="24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BO" sz="24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4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4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&lt;Chọn được S[j] cho X[i]&gt; </a:t>
            </a: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endParaRPr lang="en-US" sz="24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4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4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X[i</a:t>
            </a: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]:=S[j];</a:t>
            </a:r>
            <a:endParaRPr lang="en-US" sz="2400" b="1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s-BO" sz="24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&lt;đủ cấu hình nghiệm&gt; </a:t>
            </a:r>
            <a:r>
              <a:rPr lang="es-BO" sz="24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Ghi_Nghiem</a:t>
            </a:r>
            <a:endParaRPr lang="en-US" sz="2400" b="1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s-BO" sz="24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Try(i+1);</a:t>
            </a:r>
            <a:endParaRPr lang="en-US" sz="2400" b="1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Hủy bước chọn thứ i&gt;</a:t>
            </a:r>
            <a:endParaRPr lang="en-US" sz="2400" b="1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4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BO" sz="2400" b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BO" sz="2400" b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s-BO" sz="2400" b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b="1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BO" sz="24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End; </a:t>
            </a:r>
            <a:endParaRPr lang="en-US" sz="24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90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Ví dụ và bài tập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86800" y="6569075"/>
            <a:ext cx="446315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27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962680"/>
            <a:ext cx="5638800" cy="523220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1: (trang 9 tài liệu tập huấn )</a:t>
            </a:r>
            <a:endParaRPr lang="en-US" sz="280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762780"/>
            <a:ext cx="8831704" cy="273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4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Ví dụ và bài tập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86800" y="6569075"/>
            <a:ext cx="446315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28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962680"/>
            <a:ext cx="5638800" cy="523220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2: (trang 11 tài liệu tập huấn )</a:t>
            </a:r>
            <a:endParaRPr lang="en-US" sz="280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2" y="1725994"/>
            <a:ext cx="8994508" cy="223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6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Ví dụ và bài tập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86800" y="6569075"/>
            <a:ext cx="446315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29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962680"/>
            <a:ext cx="8991600" cy="523220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</a:t>
            </a:r>
            <a:r>
              <a:rPr lang="en-US" sz="28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US" sz="280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Bài toán 8 hậu (trang 13 tài liệu tập huấn )</a:t>
            </a:r>
            <a:endParaRPr lang="en-US" sz="280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" y="1762780"/>
            <a:ext cx="8991600" cy="41549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Quân hậu thứ i sẽ được đặt tại dòng i, chỉ cần tìm cột để đặt hậu nên:</a:t>
            </a:r>
          </a:p>
          <a:p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Vector nghiệm X={x</a:t>
            </a:r>
            <a:r>
              <a:rPr lang="en-US" sz="24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x</a:t>
            </a:r>
            <a:r>
              <a:rPr lang="en-US" sz="24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,… ,x</a:t>
            </a:r>
            <a:r>
              <a:rPr lang="en-US" sz="24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</a:p>
          <a:p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Tập ứng cử viên S={1, 2,…, 8}</a:t>
            </a:r>
          </a:p>
          <a:p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Điều kiện:</a:t>
            </a:r>
          </a:p>
          <a:p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Hai quân hậu không cùng cột nên: </a:t>
            </a:r>
            <a:r>
              <a:rPr lang="en-US" sz="2400" b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 ≠ j và x</a:t>
            </a:r>
            <a:r>
              <a:rPr lang="en-US" sz="2400" b="1" baseline="-2500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2400" b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≠ </a:t>
            </a:r>
            <a:r>
              <a:rPr lang="en-US" sz="2400" b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400" b="1" baseline="-2500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r>
              <a:rPr lang="en-US" sz="2400" b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)</a:t>
            </a:r>
          </a:p>
          <a:p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Nếu hai quân hậu đặt tại ô (x</a:t>
            </a:r>
            <a:r>
              <a:rPr lang="en-US" sz="24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,y</a:t>
            </a:r>
            <a:r>
              <a:rPr lang="en-US" sz="24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và ô 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</a:t>
            </a:r>
            <a:r>
              <a:rPr lang="en-US" sz="24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,y</a:t>
            </a:r>
            <a:r>
              <a:rPr lang="en-US" sz="24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 một đường chéo trên phải xuống dưới trái thì x</a:t>
            </a:r>
            <a:r>
              <a:rPr lang="en-US" sz="24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-y</a:t>
            </a:r>
            <a:r>
              <a:rPr lang="en-US" sz="24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=x</a:t>
            </a:r>
            <a:r>
              <a:rPr lang="en-US" sz="24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-y</a:t>
            </a:r>
            <a:r>
              <a:rPr lang="en-US" sz="24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  <a:p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Nếu 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 quân hậu đặt tại ô (x</a:t>
            </a:r>
            <a:r>
              <a:rPr lang="en-US" sz="24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,y</a:t>
            </a:r>
            <a:r>
              <a:rPr lang="en-US" sz="24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và ô (x</a:t>
            </a:r>
            <a:r>
              <a:rPr lang="en-US" sz="24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,y</a:t>
            </a:r>
            <a:r>
              <a:rPr lang="en-US" sz="2400" baseline="-25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trên một đường chéo trên 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trái 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xuống dưới 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phải 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thì 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4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+y</a:t>
            </a:r>
            <a:r>
              <a:rPr lang="en-US" sz="24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=x</a:t>
            </a:r>
            <a:r>
              <a:rPr lang="en-US" sz="24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+y</a:t>
            </a:r>
            <a:r>
              <a:rPr lang="en-US" sz="2400" baseline="-250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nên quân hậu thứ i và thứ j phải thỏa </a:t>
            </a:r>
            <a:r>
              <a:rPr lang="en-US" sz="2400" b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i-x</a:t>
            </a:r>
            <a:r>
              <a:rPr lang="en-US" sz="2400" b="1" baseline="-2500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2400" b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≠ j-x</a:t>
            </a:r>
            <a:r>
              <a:rPr lang="en-US" sz="2400" b="1" baseline="-2500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r>
              <a:rPr lang="en-US" sz="2400" b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và i+x</a:t>
            </a:r>
            <a:r>
              <a:rPr lang="en-US" sz="2400" b="1" baseline="-2500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2400" b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≠ </a:t>
            </a:r>
            <a:r>
              <a:rPr lang="en-US" sz="2400" b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j+x</a:t>
            </a:r>
            <a:r>
              <a:rPr lang="en-US" sz="2400" b="1" baseline="-2500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endParaRPr lang="en-US" sz="2400" b="1" smtClean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91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Ví dụ và bài tập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86800" y="6569075"/>
            <a:ext cx="446315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30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962680"/>
            <a:ext cx="8991600" cy="523220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</a:t>
            </a:r>
            <a:r>
              <a:rPr lang="en-US" sz="28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US" sz="280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Bài toán 8 hậu (trang 13 tài liệu tập huấn )</a:t>
            </a:r>
            <a:endParaRPr lang="en-US" sz="280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" y="1762780"/>
            <a:ext cx="8991600" cy="31085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BO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Cấu trúc dữ liệu</a:t>
            </a:r>
          </a:p>
          <a:p>
            <a:r>
              <a:rPr lang="es-BO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</a:t>
            </a:r>
            <a:r>
              <a:rPr lang="es-BO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Mảng X[1..8] dùng để lưu trữ vector nghiệm.</a:t>
            </a:r>
            <a:endParaRPr lang="en-US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BO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Mảng C[1..8] dùng để đánh dấu cột đã được đặt quân hậu hay chưa.</a:t>
            </a:r>
            <a:endParaRPr lang="en-US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BO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Mảng CC[-7..7] dùng để đánh dấu đường chéo chính </a:t>
            </a:r>
            <a:r>
              <a:rPr lang="es-BO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(trên phải xuống dưới trái) </a:t>
            </a:r>
            <a:r>
              <a:rPr lang="es-BO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 được đặt quân hậu hay chưa.</a:t>
            </a:r>
            <a:endParaRPr lang="en-US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BO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Mảng CP[2..16] dùng để đánh dấu đường chéo phụ (trên </a:t>
            </a:r>
            <a:r>
              <a:rPr lang="es-BO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trái </a:t>
            </a:r>
            <a:r>
              <a:rPr lang="es-BO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xuống dưới </a:t>
            </a:r>
            <a:r>
              <a:rPr lang="es-BO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phải) đã </a:t>
            </a:r>
            <a:r>
              <a:rPr lang="es-BO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 đặt quân hậu hay chưa.</a:t>
            </a:r>
            <a:endParaRPr lang="en-US" sz="2400" b="1" smtClean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93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609600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US" sz="3200" b="1" smtClean="0">
                <a:solidFill>
                  <a:schemeClr val="bg1"/>
                </a:solidFill>
              </a:rPr>
              <a:t>THỰC HÀNH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2133600" cy="365125"/>
          </a:xfrm>
        </p:spPr>
        <p:txBody>
          <a:bodyPr/>
          <a:lstStyle/>
          <a:p>
            <a:fld id="{80E43BA1-026A-448E-9E9F-74AB9792F312}" type="datetime1">
              <a:rPr lang="vi-VN" smtClean="0"/>
              <a:t>07/08/2018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86800" y="6569075"/>
            <a:ext cx="446315" cy="365125"/>
          </a:xfrm>
        </p:spPr>
        <p:txBody>
          <a:bodyPr/>
          <a:lstStyle/>
          <a:p>
            <a:fld id="{B6F15528-21DE-4FAA-801E-634DDDAF4B2B}" type="slidenum">
              <a:rPr lang="en-US" sz="1800" smtClean="0">
                <a:solidFill>
                  <a:schemeClr val="tx1"/>
                </a:solidFill>
              </a:rPr>
              <a:pPr/>
              <a:t>31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0" y="2196277"/>
            <a:ext cx="8839200" cy="1200329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</p:spPr>
        <p:txBody>
          <a:bodyPr wrap="square" rtlCol="0">
            <a:spAutoFit/>
          </a:bodyPr>
          <a:lstStyle/>
          <a:p>
            <a:r>
              <a:rPr lang="en-US" sz="360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 tích bài toán và cài đặt chương trình cho các bài toán 40 </a:t>
            </a:r>
            <a:r>
              <a:rPr lang="en-US" sz="360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49 trong tài liệu</a:t>
            </a:r>
            <a:endParaRPr lang="en-US" sz="360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52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8000</TotalTime>
  <Words>1404</Words>
  <Application>Microsoft Office PowerPoint</Application>
  <PresentationFormat>On-screen Show (4:3)</PresentationFormat>
  <Paragraphs>307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Cambria Math</vt:lpstr>
      <vt:lpstr>Courier New</vt:lpstr>
      <vt:lpstr>Tahoma</vt:lpstr>
      <vt:lpstr>Times New Roman</vt:lpstr>
      <vt:lpstr>Wingdings</vt:lpstr>
      <vt:lpstr>Office Theme</vt:lpstr>
      <vt:lpstr>KỸ THUẬT ĐỆ QUY PHƯƠNG PHÁP QUAY LUI</vt:lpstr>
      <vt:lpstr>NỘI DUNG</vt:lpstr>
      <vt:lpstr>Chuyên đề 1  KỸ THUẬT ĐỆ QUY</vt:lpstr>
      <vt:lpstr>Đệ quy là gì</vt:lpstr>
      <vt:lpstr>Bái toán đệ quy</vt:lpstr>
      <vt:lpstr>Bái toán đệ quy</vt:lpstr>
      <vt:lpstr>Bái toán đệ quy</vt:lpstr>
      <vt:lpstr>Bái toán đệ quy</vt:lpstr>
      <vt:lpstr>Bái toán đệ quy</vt:lpstr>
      <vt:lpstr>Bái toán đệ quy</vt:lpstr>
      <vt:lpstr>Bái toán đệ quy</vt:lpstr>
      <vt:lpstr>Bái toán đệ quy</vt:lpstr>
      <vt:lpstr>Bái toán đệ quy</vt:lpstr>
      <vt:lpstr>Bái toán đệ quy</vt:lpstr>
      <vt:lpstr>Bái toán đệ quy</vt:lpstr>
      <vt:lpstr>Bái toán đệ quy</vt:lpstr>
      <vt:lpstr>Lập trình đệ quy</vt:lpstr>
      <vt:lpstr>Lược đồ chương trình con đệ quy</vt:lpstr>
      <vt:lpstr>Một số ví dụ</vt:lpstr>
      <vt:lpstr>Một số ví dụ</vt:lpstr>
      <vt:lpstr>Một số ví dụ</vt:lpstr>
      <vt:lpstr>Chuyên đề 2  PHƯƠNG PHÁP QUAY LUI</vt:lpstr>
      <vt:lpstr>Phương pháp quay lui</vt:lpstr>
      <vt:lpstr>Bài toán quay lui tổng quát</vt:lpstr>
      <vt:lpstr>Ý tưởng phương pháp quay lui</vt:lpstr>
      <vt:lpstr>Lược đồ của phương pháp quay lui</vt:lpstr>
      <vt:lpstr>Ví dụ và bài tập</vt:lpstr>
      <vt:lpstr>Ví dụ và bài tập</vt:lpstr>
      <vt:lpstr>Ví dụ và bài tập</vt:lpstr>
      <vt:lpstr>Ví dụ và bài tập</vt:lpstr>
      <vt:lpstr>THỰC HÀNH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ECLIPSE</dc:creator>
  <cp:lastModifiedBy>HuongDK</cp:lastModifiedBy>
  <cp:revision>1713</cp:revision>
  <dcterms:created xsi:type="dcterms:W3CDTF">2006-08-16T00:00:00Z</dcterms:created>
  <dcterms:modified xsi:type="dcterms:W3CDTF">2018-08-07T14:39:37Z</dcterms:modified>
</cp:coreProperties>
</file>