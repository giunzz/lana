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91" r:id="rId8"/>
    <p:sldId id="292" r:id="rId9"/>
    <p:sldId id="293" r:id="rId10"/>
    <p:sldId id="294" r:id="rId11"/>
    <p:sldId id="295" r:id="rId12"/>
    <p:sldId id="296" r:id="rId13"/>
    <p:sldId id="263" r:id="rId14"/>
    <p:sldId id="271" r:id="rId15"/>
    <p:sldId id="274" r:id="rId16"/>
    <p:sldId id="264" r:id="rId17"/>
    <p:sldId id="298" r:id="rId18"/>
    <p:sldId id="272" r:id="rId19"/>
    <p:sldId id="281" r:id="rId20"/>
    <p:sldId id="275" r:id="rId21"/>
    <p:sldId id="276" r:id="rId22"/>
    <p:sldId id="277" r:id="rId23"/>
    <p:sldId id="278" r:id="rId24"/>
    <p:sldId id="279" r:id="rId25"/>
    <p:sldId id="299" r:id="rId26"/>
    <p:sldId id="280" r:id="rId27"/>
    <p:sldId id="301" r:id="rId28"/>
    <p:sldId id="302" r:id="rId29"/>
    <p:sldId id="303" r:id="rId30"/>
    <p:sldId id="304" r:id="rId31"/>
    <p:sldId id="305" r:id="rId32"/>
    <p:sldId id="282" r:id="rId33"/>
    <p:sldId id="273" r:id="rId34"/>
    <p:sldId id="300" r:id="rId35"/>
    <p:sldId id="306" r:id="rId36"/>
    <p:sldId id="310" r:id="rId37"/>
    <p:sldId id="311" r:id="rId38"/>
    <p:sldId id="307" r:id="rId39"/>
    <p:sldId id="315" r:id="rId40"/>
    <p:sldId id="312" r:id="rId41"/>
    <p:sldId id="314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7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2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6C75B-0020-40B4-AE25-74A67D992A8D}" type="datetimeFigureOut">
              <a:rPr lang="en-US" smtClean="0"/>
              <a:pPr/>
              <a:t>21-Mar-18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D885F-3863-4179-9A65-BA3B75D102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1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Câu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chuyện</a:t>
            </a:r>
            <a:r>
              <a:rPr lang="en-US" baseline="0" dirty="0" smtClean="0"/>
              <a:t>, so </a:t>
            </a:r>
            <a:r>
              <a:rPr lang="en-US" baseline="0" dirty="0" err="1" smtClean="0"/>
              <a:t>sánh</a:t>
            </a:r>
            <a:r>
              <a:rPr lang="en-US" baseline="0" dirty="0" smtClean="0"/>
              <a:t> DFS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BFS.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D885F-3863-4179-9A65-BA3B75D102C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50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Giải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đợi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nhấn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mạnh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so </a:t>
            </a:r>
            <a:r>
              <a:rPr lang="en-US" baseline="0" dirty="0" err="1" smtClean="0"/>
              <a:t>sánh</a:t>
            </a:r>
            <a:r>
              <a:rPr lang="en-US" baseline="0" dirty="0" smtClean="0"/>
              <a:t> DFS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theo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, BFS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 </a:t>
            </a:r>
            <a:r>
              <a:rPr lang="en-US" baseline="0" dirty="0" smtClean="0">
                <a:sym typeface="Wingdings" pitchFamily="2" charset="2"/>
              </a:rPr>
              <a:t> </a:t>
            </a:r>
            <a:r>
              <a:rPr lang="en-US" baseline="0" dirty="0" err="1" smtClean="0">
                <a:sym typeface="Wingdings" pitchFamily="2" charset="2"/>
              </a:rPr>
              <a:t>làm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sao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để</a:t>
            </a:r>
            <a:r>
              <a:rPr lang="en-US" baseline="0" dirty="0" smtClean="0">
                <a:sym typeface="Wingdings" pitchFamily="2" charset="2"/>
              </a:rPr>
              <a:t> quay </a:t>
            </a:r>
            <a:r>
              <a:rPr lang="en-US" baseline="0" dirty="0" err="1" smtClean="0">
                <a:sym typeface="Wingdings" pitchFamily="2" charset="2"/>
              </a:rPr>
              <a:t>lại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D885F-3863-4179-9A65-BA3B75D102C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857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Giải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đợi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nhấn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mạnh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so </a:t>
            </a:r>
            <a:r>
              <a:rPr lang="en-US" baseline="0" dirty="0" err="1" smtClean="0"/>
              <a:t>sánh</a:t>
            </a:r>
            <a:r>
              <a:rPr lang="en-US" baseline="0" dirty="0" smtClean="0"/>
              <a:t> DFS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theo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, BFS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 </a:t>
            </a:r>
            <a:r>
              <a:rPr lang="en-US" baseline="0" dirty="0" smtClean="0">
                <a:sym typeface="Wingdings" pitchFamily="2" charset="2"/>
              </a:rPr>
              <a:t> </a:t>
            </a:r>
            <a:r>
              <a:rPr lang="en-US" baseline="0" dirty="0" err="1" smtClean="0">
                <a:sym typeface="Wingdings" pitchFamily="2" charset="2"/>
              </a:rPr>
              <a:t>làm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sao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để</a:t>
            </a:r>
            <a:r>
              <a:rPr lang="en-US" baseline="0" dirty="0" smtClean="0">
                <a:sym typeface="Wingdings" pitchFamily="2" charset="2"/>
              </a:rPr>
              <a:t> quay </a:t>
            </a:r>
            <a:r>
              <a:rPr lang="en-US" baseline="0" dirty="0" err="1" smtClean="0">
                <a:sym typeface="Wingdings" pitchFamily="2" charset="2"/>
              </a:rPr>
              <a:t>lại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D885F-3863-4179-9A65-BA3B75D102C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11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Giải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đợi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nhấn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mạnh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so </a:t>
            </a:r>
            <a:r>
              <a:rPr lang="en-US" baseline="0" dirty="0" err="1" smtClean="0"/>
              <a:t>sánh</a:t>
            </a:r>
            <a:r>
              <a:rPr lang="en-US" baseline="0" dirty="0" smtClean="0"/>
              <a:t> DFS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theo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, BFS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 </a:t>
            </a:r>
            <a:r>
              <a:rPr lang="en-US" baseline="0" dirty="0" smtClean="0">
                <a:sym typeface="Wingdings" pitchFamily="2" charset="2"/>
              </a:rPr>
              <a:t> </a:t>
            </a:r>
            <a:r>
              <a:rPr lang="en-US" baseline="0" dirty="0" err="1" smtClean="0">
                <a:sym typeface="Wingdings" pitchFamily="2" charset="2"/>
              </a:rPr>
              <a:t>làm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sao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để</a:t>
            </a:r>
            <a:r>
              <a:rPr lang="en-US" baseline="0" dirty="0" smtClean="0">
                <a:sym typeface="Wingdings" pitchFamily="2" charset="2"/>
              </a:rPr>
              <a:t> quay </a:t>
            </a:r>
            <a:r>
              <a:rPr lang="en-US" baseline="0" dirty="0" err="1" smtClean="0">
                <a:sym typeface="Wingdings" pitchFamily="2" charset="2"/>
              </a:rPr>
              <a:t>lại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D885F-3863-4179-9A65-BA3B75D102C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90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Giải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đợi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nhấn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mạnh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so </a:t>
            </a:r>
            <a:r>
              <a:rPr lang="en-US" baseline="0" dirty="0" err="1" smtClean="0"/>
              <a:t>sánh</a:t>
            </a:r>
            <a:r>
              <a:rPr lang="en-US" baseline="0" dirty="0" smtClean="0"/>
              <a:t> DFS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theo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, BFS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 </a:t>
            </a:r>
            <a:r>
              <a:rPr lang="en-US" baseline="0" dirty="0" smtClean="0">
                <a:sym typeface="Wingdings" pitchFamily="2" charset="2"/>
              </a:rPr>
              <a:t> </a:t>
            </a:r>
            <a:r>
              <a:rPr lang="en-US" baseline="0" dirty="0" err="1" smtClean="0">
                <a:sym typeface="Wingdings" pitchFamily="2" charset="2"/>
              </a:rPr>
              <a:t>làm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sao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để</a:t>
            </a:r>
            <a:r>
              <a:rPr lang="en-US" baseline="0" dirty="0" smtClean="0">
                <a:sym typeface="Wingdings" pitchFamily="2" charset="2"/>
              </a:rPr>
              <a:t> quay </a:t>
            </a:r>
            <a:r>
              <a:rPr lang="en-US" baseline="0" dirty="0" err="1" smtClean="0">
                <a:sym typeface="Wingdings" pitchFamily="2" charset="2"/>
              </a:rPr>
              <a:t>lại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D885F-3863-4179-9A65-BA3B75D102C6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32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Giải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đợi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nhấn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mạnh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so </a:t>
            </a:r>
            <a:r>
              <a:rPr lang="en-US" baseline="0" dirty="0" err="1" smtClean="0"/>
              <a:t>sánh</a:t>
            </a:r>
            <a:r>
              <a:rPr lang="en-US" baseline="0" dirty="0" smtClean="0"/>
              <a:t> DFS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theo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, BFS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 </a:t>
            </a:r>
            <a:r>
              <a:rPr lang="en-US" baseline="0" dirty="0" smtClean="0">
                <a:sym typeface="Wingdings" pitchFamily="2" charset="2"/>
              </a:rPr>
              <a:t> </a:t>
            </a:r>
            <a:r>
              <a:rPr lang="en-US" baseline="0" dirty="0" err="1" smtClean="0">
                <a:sym typeface="Wingdings" pitchFamily="2" charset="2"/>
              </a:rPr>
              <a:t>làm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sao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để</a:t>
            </a:r>
            <a:r>
              <a:rPr lang="en-US" baseline="0" dirty="0" smtClean="0">
                <a:sym typeface="Wingdings" pitchFamily="2" charset="2"/>
              </a:rPr>
              <a:t> quay </a:t>
            </a:r>
            <a:r>
              <a:rPr lang="en-US" baseline="0" dirty="0" err="1" smtClean="0">
                <a:sym typeface="Wingdings" pitchFamily="2" charset="2"/>
              </a:rPr>
              <a:t>lại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D885F-3863-4179-9A65-BA3B75D102C6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512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Giải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đợi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nhấn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mạnh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so </a:t>
            </a:r>
            <a:r>
              <a:rPr lang="en-US" baseline="0" dirty="0" err="1" smtClean="0"/>
              <a:t>sánh</a:t>
            </a:r>
            <a:r>
              <a:rPr lang="en-US" baseline="0" dirty="0" smtClean="0"/>
              <a:t> DFS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theo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, BFS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 </a:t>
            </a:r>
            <a:r>
              <a:rPr lang="en-US" baseline="0" dirty="0" smtClean="0">
                <a:sym typeface="Wingdings" pitchFamily="2" charset="2"/>
              </a:rPr>
              <a:t> </a:t>
            </a:r>
            <a:r>
              <a:rPr lang="en-US" baseline="0" dirty="0" err="1" smtClean="0">
                <a:sym typeface="Wingdings" pitchFamily="2" charset="2"/>
              </a:rPr>
              <a:t>làm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sao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để</a:t>
            </a:r>
            <a:r>
              <a:rPr lang="en-US" baseline="0" dirty="0" smtClean="0">
                <a:sym typeface="Wingdings" pitchFamily="2" charset="2"/>
              </a:rPr>
              <a:t> quay </a:t>
            </a:r>
            <a:r>
              <a:rPr lang="en-US" baseline="0" dirty="0" err="1" smtClean="0">
                <a:sym typeface="Wingdings" pitchFamily="2" charset="2"/>
              </a:rPr>
              <a:t>lại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D885F-3863-4179-9A65-BA3B75D102C6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64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Giải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đợi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nhấn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mạnh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so </a:t>
            </a:r>
            <a:r>
              <a:rPr lang="en-US" baseline="0" dirty="0" err="1" smtClean="0"/>
              <a:t>sánh</a:t>
            </a:r>
            <a:r>
              <a:rPr lang="en-US" baseline="0" dirty="0" smtClean="0"/>
              <a:t> DFS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theo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, BFS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 </a:t>
            </a:r>
            <a:r>
              <a:rPr lang="en-US" baseline="0" dirty="0" smtClean="0">
                <a:sym typeface="Wingdings" pitchFamily="2" charset="2"/>
              </a:rPr>
              <a:t> </a:t>
            </a:r>
            <a:r>
              <a:rPr lang="en-US" baseline="0" dirty="0" err="1" smtClean="0">
                <a:sym typeface="Wingdings" pitchFamily="2" charset="2"/>
              </a:rPr>
              <a:t>làm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sao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để</a:t>
            </a:r>
            <a:r>
              <a:rPr lang="en-US" baseline="0" dirty="0" smtClean="0">
                <a:sym typeface="Wingdings" pitchFamily="2" charset="2"/>
              </a:rPr>
              <a:t> quay </a:t>
            </a:r>
            <a:r>
              <a:rPr lang="en-US" baseline="0" dirty="0" err="1" smtClean="0">
                <a:sym typeface="Wingdings" pitchFamily="2" charset="2"/>
              </a:rPr>
              <a:t>lại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D885F-3863-4179-9A65-BA3B75D102C6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33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Giải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đợi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nhấn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mạnh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so </a:t>
            </a:r>
            <a:r>
              <a:rPr lang="en-US" baseline="0" dirty="0" err="1" smtClean="0"/>
              <a:t>sánh</a:t>
            </a:r>
            <a:r>
              <a:rPr lang="en-US" baseline="0" dirty="0" smtClean="0"/>
              <a:t> DFS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theo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, BFS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 </a:t>
            </a:r>
            <a:r>
              <a:rPr lang="en-US" baseline="0" dirty="0" smtClean="0">
                <a:sym typeface="Wingdings" pitchFamily="2" charset="2"/>
              </a:rPr>
              <a:t> </a:t>
            </a:r>
            <a:r>
              <a:rPr lang="en-US" baseline="0" dirty="0" err="1" smtClean="0">
                <a:sym typeface="Wingdings" pitchFamily="2" charset="2"/>
              </a:rPr>
              <a:t>làm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sao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để</a:t>
            </a:r>
            <a:r>
              <a:rPr lang="en-US" baseline="0" dirty="0" smtClean="0">
                <a:sym typeface="Wingdings" pitchFamily="2" charset="2"/>
              </a:rPr>
              <a:t> quay </a:t>
            </a:r>
            <a:r>
              <a:rPr lang="en-US" baseline="0" dirty="0" err="1" smtClean="0">
                <a:sym typeface="Wingdings" pitchFamily="2" charset="2"/>
              </a:rPr>
              <a:t>lại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D885F-3863-4179-9A65-BA3B75D102C6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14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Giải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đợi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nhấn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mạnh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việc</a:t>
            </a:r>
            <a:r>
              <a:rPr lang="en-US" baseline="0" dirty="0" smtClean="0"/>
              <a:t> so </a:t>
            </a:r>
            <a:r>
              <a:rPr lang="en-US" baseline="0" dirty="0" err="1" smtClean="0"/>
              <a:t>sánh</a:t>
            </a:r>
            <a:r>
              <a:rPr lang="en-US" baseline="0" dirty="0" smtClean="0"/>
              <a:t> DFS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theo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, BFS </a:t>
            </a:r>
            <a:r>
              <a:rPr lang="en-US" baseline="0" dirty="0" err="1" smtClean="0"/>
              <a:t>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đường</a:t>
            </a:r>
            <a:r>
              <a:rPr lang="en-US" baseline="0" dirty="0" smtClean="0"/>
              <a:t> </a:t>
            </a:r>
            <a:r>
              <a:rPr lang="en-US" baseline="0" dirty="0" smtClean="0">
                <a:sym typeface="Wingdings" pitchFamily="2" charset="2"/>
              </a:rPr>
              <a:t> </a:t>
            </a:r>
            <a:r>
              <a:rPr lang="en-US" baseline="0" dirty="0" err="1" smtClean="0">
                <a:sym typeface="Wingdings" pitchFamily="2" charset="2"/>
              </a:rPr>
              <a:t>làm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sao</a:t>
            </a:r>
            <a:r>
              <a:rPr lang="en-US" baseline="0" dirty="0" smtClean="0">
                <a:sym typeface="Wingdings" pitchFamily="2" charset="2"/>
              </a:rPr>
              <a:t> </a:t>
            </a:r>
            <a:r>
              <a:rPr lang="en-US" baseline="0" dirty="0" err="1" smtClean="0">
                <a:sym typeface="Wingdings" pitchFamily="2" charset="2"/>
              </a:rPr>
              <a:t>để</a:t>
            </a:r>
            <a:r>
              <a:rPr lang="en-US" baseline="0" dirty="0" smtClean="0">
                <a:sym typeface="Wingdings" pitchFamily="2" charset="2"/>
              </a:rPr>
              <a:t> quay </a:t>
            </a:r>
            <a:r>
              <a:rPr lang="en-US" baseline="0" dirty="0" err="1" smtClean="0">
                <a:sym typeface="Wingdings" pitchFamily="2" charset="2"/>
              </a:rPr>
              <a:t>lại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D885F-3863-4179-9A65-BA3B75D102C6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570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21-Mar-18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21-Mar-18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21-Mar-18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21-Mar-18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21-Mar-18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21-Mar-18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21-Mar-18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21-Mar-18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21-Mar-18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21-Mar-18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E464B4-BED7-4660-944A-CE29C8104C03}" type="datetimeFigureOut">
              <a:rPr lang="en-US" smtClean="0"/>
              <a:pPr/>
              <a:t>21-Mar-18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EE464B4-BED7-4660-944A-CE29C8104C03}" type="datetimeFigureOut">
              <a:rPr lang="en-US" smtClean="0"/>
              <a:pPr/>
              <a:t>21-Mar-18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68FCEE19-1B35-4AC7-83A9-4801BF9858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BÀI </a:t>
            </a:r>
            <a:r>
              <a:rPr lang="en-US" dirty="0" err="1" smtClean="0"/>
              <a:t>GiẢNG</a:t>
            </a:r>
            <a:r>
              <a:rPr lang="en-US" dirty="0" smtClean="0"/>
              <a:t> ĐỒ THỊ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7406640" cy="3179136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, G=(</a:t>
            </a:r>
            <a:r>
              <a:rPr lang="en-US" smtClean="0"/>
              <a:t>V</a:t>
            </a:r>
            <a:r>
              <a:rPr lang="en-US" smtClean="0"/>
              <a:t>, E</a:t>
            </a:r>
            <a:r>
              <a:rPr lang="en-US" dirty="0" smtClean="0"/>
              <a:t>) </a:t>
            </a:r>
            <a:r>
              <a:rPr lang="en-US" dirty="0" err="1" smtClean="0"/>
              <a:t>bao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V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, E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cặp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V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 G=(V,E)</a:t>
            </a:r>
          </a:p>
          <a:p>
            <a:pPr>
              <a:buNone/>
            </a:pPr>
            <a:r>
              <a:rPr lang="en-US" dirty="0" smtClean="0"/>
              <a:t>V={1,2,3,4,5,6}</a:t>
            </a:r>
          </a:p>
          <a:p>
            <a:pPr>
              <a:buNone/>
            </a:pPr>
            <a:r>
              <a:rPr lang="en-US" dirty="0" smtClean="0"/>
              <a:t>E={(1,2),(1,5),(2,3),(2,5),</a:t>
            </a:r>
          </a:p>
          <a:p>
            <a:pPr>
              <a:buNone/>
            </a:pPr>
            <a:r>
              <a:rPr lang="en-US" dirty="0" smtClean="0"/>
              <a:t>(3,4),(4,5),(4,6)}</a:t>
            </a:r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7400" y="3200400"/>
            <a:ext cx="261937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kề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err="1" smtClean="0"/>
              <a:t>có</a:t>
            </a:r>
            <a:r>
              <a:rPr lang="en-US" smtClean="0"/>
              <a:t> </a:t>
            </a:r>
            <a:r>
              <a:rPr lang="en-US" smtClean="0"/>
              <a:t>cung</a:t>
            </a:r>
            <a:r>
              <a:rPr lang="en-US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endParaRPr lang="en-US" dirty="0" smtClean="0"/>
          </a:p>
          <a:p>
            <a:r>
              <a:rPr lang="en-US" dirty="0" err="1" smtClean="0"/>
              <a:t>Bậc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 </a:t>
            </a:r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mút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1400" y="3962400"/>
            <a:ext cx="261937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b="1" dirty="0" err="1" smtClean="0"/>
              <a:t>hai</a:t>
            </a:r>
            <a:r>
              <a:rPr lang="en-US" b="1" dirty="0" smtClean="0"/>
              <a:t> </a:t>
            </a:r>
            <a:r>
              <a:rPr lang="en-US" b="1" dirty="0" err="1" smtClean="0"/>
              <a:t>lần</a:t>
            </a:r>
            <a:r>
              <a:rPr lang="en-US" b="1" dirty="0" smtClean="0"/>
              <a:t> </a:t>
            </a:r>
            <a:r>
              <a:rPr lang="en-US" b="1" dirty="0" err="1" smtClean="0"/>
              <a:t>tổng</a:t>
            </a:r>
            <a:r>
              <a:rPr lang="en-US" b="1" dirty="0" smtClean="0"/>
              <a:t> </a:t>
            </a:r>
            <a:r>
              <a:rPr lang="en-US" b="1" dirty="0" err="1" smtClean="0"/>
              <a:t>số</a:t>
            </a:r>
            <a:r>
              <a:rPr lang="en-US" b="1" dirty="0" smtClean="0"/>
              <a:t> </a:t>
            </a:r>
            <a:r>
              <a:rPr lang="en-US" b="1" dirty="0" err="1" smtClean="0"/>
              <a:t>cạnh</a:t>
            </a:r>
            <a:r>
              <a:rPr lang="en-US" b="1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: 14</a:t>
            </a:r>
          </a:p>
          <a:p>
            <a:pPr>
              <a:buNone/>
            </a:pP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: 7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Vì</a:t>
            </a:r>
            <a:r>
              <a:rPr lang="en-US" dirty="0" smtClean="0"/>
              <a:t>: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2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đếm</a:t>
            </a:r>
            <a:r>
              <a:rPr lang="en-US" dirty="0" smtClean="0"/>
              <a:t> 2 </a:t>
            </a:r>
            <a:r>
              <a:rPr lang="en-US" dirty="0" err="1" smtClean="0"/>
              <a:t>lần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đếm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2667000"/>
            <a:ext cx="261937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</a:t>
            </a:r>
            <a:r>
              <a:rPr lang="en-US" dirty="0" err="1" smtClean="0"/>
              <a:t>lẻ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chẵn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4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endParaRPr lang="en-US" dirty="0" smtClean="0"/>
          </a:p>
          <a:p>
            <a:pPr>
              <a:buNone/>
            </a:pPr>
            <a:r>
              <a:rPr lang="en-US" dirty="0" err="1" smtClean="0"/>
              <a:t>lẻ</a:t>
            </a:r>
            <a:r>
              <a:rPr lang="en-US" dirty="0" smtClean="0"/>
              <a:t>: 4,5,2,3.</a:t>
            </a:r>
          </a:p>
          <a:p>
            <a:endParaRPr lang="en-US" dirty="0" smtClean="0"/>
          </a:p>
          <a:p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(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chẵn</a:t>
            </a:r>
            <a:r>
              <a:rPr lang="en-US" dirty="0" smtClean="0"/>
              <a:t>) =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</a:t>
            </a:r>
            <a:r>
              <a:rPr lang="en-US" dirty="0" err="1" smtClean="0"/>
              <a:t>chẵn</a:t>
            </a:r>
            <a:r>
              <a:rPr lang="en-US" dirty="0" smtClean="0"/>
              <a:t> (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chãn</a:t>
            </a:r>
            <a:r>
              <a:rPr lang="en-US" dirty="0" smtClean="0"/>
              <a:t>) +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</a:t>
            </a:r>
            <a:r>
              <a:rPr lang="en-US" dirty="0" err="1" smtClean="0"/>
              <a:t>lẻ</a:t>
            </a:r>
            <a:r>
              <a:rPr lang="en-US" dirty="0" smtClean="0"/>
              <a:t>. </a:t>
            </a: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err="1" smtClean="0">
                <a:sym typeface="Wingdings" pitchFamily="2" charset="2"/>
              </a:rPr>
              <a:t>tổng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số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bậc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của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đỉnh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bậc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lẻ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phải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chẵn</a:t>
            </a:r>
            <a:r>
              <a:rPr lang="en-US" dirty="0" smtClean="0">
                <a:sym typeface="Wingdings" pitchFamily="2" charset="2"/>
              </a:rPr>
              <a:t>  </a:t>
            </a:r>
            <a:r>
              <a:rPr lang="en-US" dirty="0" err="1" smtClean="0">
                <a:sym typeface="Wingdings" pitchFamily="2" charset="2"/>
              </a:rPr>
              <a:t>số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đỉnh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bậc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lẻ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là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số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chẵn</a:t>
            </a:r>
            <a:r>
              <a:rPr lang="en-US" dirty="0" smtClean="0">
                <a:sym typeface="Wingdings" pitchFamily="2" charset="2"/>
              </a:rPr>
              <a:t>.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0" y="2057400"/>
            <a:ext cx="261937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 </a:t>
            </a:r>
            <a:r>
              <a:rPr lang="en-US" dirty="0" err="1" smtClean="0"/>
              <a:t>trận</a:t>
            </a:r>
            <a:r>
              <a:rPr lang="en-US" dirty="0" smtClean="0"/>
              <a:t> </a:t>
            </a:r>
            <a:r>
              <a:rPr lang="en-US" dirty="0" err="1" smtClean="0"/>
              <a:t>kề</a:t>
            </a:r>
            <a:r>
              <a:rPr lang="en-US" dirty="0" smtClean="0"/>
              <a:t>: A</a:t>
            </a:r>
            <a:r>
              <a:rPr lang="en-US" baseline="-25000" dirty="0" smtClean="0"/>
              <a:t>n x n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n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endParaRPr lang="en-US" dirty="0" smtClean="0"/>
          </a:p>
          <a:p>
            <a:r>
              <a:rPr lang="en-US" dirty="0" smtClean="0"/>
              <a:t>A(</a:t>
            </a:r>
            <a:r>
              <a:rPr lang="en-US" dirty="0" err="1" smtClean="0"/>
              <a:t>i,j</a:t>
            </a:r>
            <a:r>
              <a:rPr lang="en-US" dirty="0" smtClean="0"/>
              <a:t>)=1 </a:t>
            </a:r>
            <a:r>
              <a:rPr lang="en-US" dirty="0" err="1" smtClean="0"/>
              <a:t>nếu</a:t>
            </a:r>
            <a:r>
              <a:rPr lang="en-US" dirty="0" smtClean="0"/>
              <a:t> (</a:t>
            </a:r>
            <a:r>
              <a:rPr lang="en-US" dirty="0" err="1" smtClean="0"/>
              <a:t>i,j</a:t>
            </a:r>
            <a:r>
              <a:rPr lang="en-US" dirty="0" smtClean="0"/>
              <a:t>)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. A(</a:t>
            </a:r>
            <a:r>
              <a:rPr lang="en-US" dirty="0" err="1" smtClean="0"/>
              <a:t>i,j</a:t>
            </a:r>
            <a:r>
              <a:rPr lang="en-US" dirty="0" smtClean="0"/>
              <a:t>)=0 </a:t>
            </a:r>
            <a:r>
              <a:rPr lang="en-US" dirty="0" err="1" smtClean="0"/>
              <a:t>nếu</a:t>
            </a:r>
            <a:r>
              <a:rPr lang="en-US" dirty="0" smtClean="0"/>
              <a:t> (</a:t>
            </a:r>
            <a:r>
              <a:rPr lang="en-US" dirty="0" err="1" smtClean="0"/>
              <a:t>i,j</a:t>
            </a:r>
            <a:r>
              <a:rPr lang="en-US" dirty="0" smtClean="0"/>
              <a:t>)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 descr="1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3200400"/>
            <a:ext cx="4111668" cy="198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038600"/>
            <a:ext cx="7498080" cy="2438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A[</a:t>
            </a:r>
            <a:r>
              <a:rPr lang="en-US" dirty="0" err="1" smtClean="0"/>
              <a:t>i,j</a:t>
            </a:r>
            <a:r>
              <a:rPr lang="en-US" dirty="0" smtClean="0"/>
              <a:t>]=A[</a:t>
            </a:r>
            <a:r>
              <a:rPr lang="en-US" dirty="0" err="1" smtClean="0"/>
              <a:t>j,i</a:t>
            </a:r>
            <a:r>
              <a:rPr lang="en-US" dirty="0" smtClean="0"/>
              <a:t>] (Ma </a:t>
            </a:r>
            <a:r>
              <a:rPr lang="en-US" dirty="0" err="1" smtClean="0"/>
              <a:t>trận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xứng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Bậc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(</a:t>
            </a:r>
            <a:r>
              <a:rPr lang="en-US" dirty="0" err="1" smtClean="0"/>
              <a:t>cột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Ưu</a:t>
            </a:r>
            <a:r>
              <a:rPr lang="en-US" dirty="0" smtClean="0"/>
              <a:t>: </a:t>
            </a:r>
            <a:r>
              <a:rPr lang="en-US" dirty="0" err="1" smtClean="0"/>
              <a:t>xét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ngay</a:t>
            </a:r>
            <a:r>
              <a:rPr lang="en-US" dirty="0" smtClean="0"/>
              <a:t> 2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i,j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kề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hay </a:t>
            </a:r>
            <a:r>
              <a:rPr lang="en-US" dirty="0" err="1" smtClean="0"/>
              <a:t>không</a:t>
            </a:r>
            <a:endParaRPr lang="en-US" dirty="0" smtClean="0"/>
          </a:p>
          <a:p>
            <a:r>
              <a:rPr lang="en-US" dirty="0" err="1" smtClean="0"/>
              <a:t>Nhược</a:t>
            </a:r>
            <a:r>
              <a:rPr lang="en-US" dirty="0" smtClean="0"/>
              <a:t>: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dirty="0" smtClean="0"/>
              <a:t>: n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</a:p>
          <a:p>
            <a:endParaRPr lang="en-US" dirty="0" smtClean="0"/>
          </a:p>
        </p:txBody>
      </p:sp>
      <p:pic>
        <p:nvPicPr>
          <p:cNvPr id="4" name="Picture 3" descr="1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19200"/>
            <a:ext cx="5851220" cy="281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endParaRPr lang="en-US" dirty="0" smtClean="0"/>
          </a:p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biến:Dau</a:t>
            </a:r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)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Cuoi</a:t>
            </a:r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).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1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record.</a:t>
            </a:r>
            <a:endParaRPr lang="en-US" dirty="0"/>
          </a:p>
        </p:txBody>
      </p:sp>
      <p:pic>
        <p:nvPicPr>
          <p:cNvPr id="4" name="Picture 3" descr="2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581400"/>
            <a:ext cx="5029200" cy="2946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3200398"/>
          <a:ext cx="1447800" cy="327660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23900"/>
                <a:gridCol w="723900"/>
              </a:tblGrid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Đầu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Cuối</a:t>
                      </a:r>
                      <a:endParaRPr lang="en-US" b="1" dirty="0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b="1" dirty="0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b="1" dirty="0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b="1" dirty="0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4648200"/>
            <a:ext cx="7638288" cy="19050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thưa</a:t>
            </a:r>
            <a:r>
              <a:rPr lang="en-US" dirty="0" smtClean="0"/>
              <a:t> (m&lt;6n)</a:t>
            </a:r>
          </a:p>
          <a:p>
            <a:r>
              <a:rPr lang="en-US" dirty="0" err="1" smtClean="0"/>
              <a:t>Ưu</a:t>
            </a:r>
            <a:r>
              <a:rPr lang="en-US" dirty="0" smtClean="0"/>
              <a:t>: </a:t>
            </a:r>
            <a:r>
              <a:rPr lang="en-US" dirty="0" err="1" smtClean="0"/>
              <a:t>cần</a:t>
            </a:r>
            <a:r>
              <a:rPr lang="en-US" dirty="0" smtClean="0"/>
              <a:t> 2m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endParaRPr lang="en-US" dirty="0" smtClean="0"/>
          </a:p>
          <a:p>
            <a:r>
              <a:rPr lang="en-US" dirty="0" err="1" smtClean="0"/>
              <a:t>Nhược</a:t>
            </a:r>
            <a:r>
              <a:rPr lang="en-US" dirty="0" smtClean="0"/>
              <a:t>: </a:t>
            </a:r>
            <a:r>
              <a:rPr lang="en-US" dirty="0" err="1" smtClean="0"/>
              <a:t>khó</a:t>
            </a:r>
            <a:r>
              <a:rPr lang="en-US" dirty="0" smtClean="0"/>
              <a:t> </a:t>
            </a:r>
            <a:r>
              <a:rPr lang="en-US" dirty="0" err="1" smtClean="0"/>
              <a:t>khăn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xét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i,j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kề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hay </a:t>
            </a:r>
            <a:r>
              <a:rPr lang="en-US" dirty="0" err="1" smtClean="0"/>
              <a:t>không</a:t>
            </a:r>
            <a:endParaRPr lang="en-US" dirty="0"/>
          </a:p>
        </p:txBody>
      </p:sp>
      <p:pic>
        <p:nvPicPr>
          <p:cNvPr id="4" name="Picture 3" descr="2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76400"/>
            <a:ext cx="5029200" cy="2946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86600" y="1295398"/>
          <a:ext cx="1447800" cy="327660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23900"/>
                <a:gridCol w="723900"/>
              </a:tblGrid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Đầu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Cuối</a:t>
                      </a:r>
                      <a:endParaRPr lang="en-US" b="1" dirty="0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b="1" dirty="0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b="1" dirty="0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b="1" dirty="0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600200"/>
            <a:ext cx="7714488" cy="4800600"/>
          </a:xfrm>
        </p:spPr>
        <p:txBody>
          <a:bodyPr/>
          <a:lstStyle/>
          <a:p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kề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mảng</a:t>
            </a:r>
            <a:r>
              <a:rPr lang="en-US" dirty="0" smtClean="0"/>
              <a:t> </a:t>
            </a:r>
            <a:r>
              <a:rPr lang="en-US" dirty="0" err="1" smtClean="0"/>
              <a:t>tĩnh</a:t>
            </a:r>
            <a:endParaRPr lang="en-US" dirty="0" smtClean="0"/>
          </a:p>
          <a:p>
            <a:r>
              <a:rPr lang="en-US" dirty="0" err="1" smtClean="0"/>
              <a:t>Dùng</a:t>
            </a:r>
            <a:r>
              <a:rPr lang="en-US" dirty="0" smtClean="0"/>
              <a:t> 2 </a:t>
            </a:r>
            <a:r>
              <a:rPr lang="en-US" dirty="0" err="1" smtClean="0"/>
              <a:t>mảng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Mảng</a:t>
            </a:r>
            <a:r>
              <a:rPr lang="en-US" dirty="0" smtClean="0"/>
              <a:t> A[1..m]: </a:t>
            </a:r>
            <a:r>
              <a:rPr lang="en-US" dirty="0" err="1" smtClean="0"/>
              <a:t>chia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n </a:t>
            </a:r>
            <a:r>
              <a:rPr lang="en-US" dirty="0" err="1" smtClean="0"/>
              <a:t>đoạn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, </a:t>
            </a:r>
            <a:r>
              <a:rPr lang="en-US" dirty="0" err="1" smtClean="0"/>
              <a:t>đoạn</a:t>
            </a:r>
            <a:r>
              <a:rPr lang="en-US" dirty="0" smtClean="0"/>
              <a:t> I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kề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endParaRPr lang="en-US" dirty="0" smtClean="0"/>
          </a:p>
          <a:p>
            <a:pPr lvl="1"/>
            <a:r>
              <a:rPr lang="en-US" dirty="0" err="1" smtClean="0"/>
              <a:t>Mảng</a:t>
            </a:r>
            <a:r>
              <a:rPr lang="en-US" dirty="0" smtClean="0"/>
              <a:t> K [1..n]: K[</a:t>
            </a:r>
            <a:r>
              <a:rPr lang="en-US" dirty="0" err="1" smtClean="0"/>
              <a:t>i</a:t>
            </a:r>
            <a:r>
              <a:rPr lang="en-US" dirty="0" smtClean="0"/>
              <a:t>]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cuối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đoạn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mảng</a:t>
            </a:r>
            <a:r>
              <a:rPr lang="en-US" dirty="0" smtClean="0"/>
              <a:t> A</a:t>
            </a:r>
          </a:p>
          <a:p>
            <a:pPr lvl="1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kề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A </a:t>
            </a:r>
            <a:r>
              <a:rPr lang="en-US" dirty="0" err="1" smtClean="0"/>
              <a:t>từ</a:t>
            </a:r>
            <a:r>
              <a:rPr lang="en-US" dirty="0" smtClean="0"/>
              <a:t> K[i-1]+1 </a:t>
            </a:r>
            <a:r>
              <a:rPr lang="en-US" dirty="0" err="1" smtClean="0"/>
              <a:t>đến</a:t>
            </a:r>
            <a:r>
              <a:rPr lang="en-US" dirty="0" smtClean="0"/>
              <a:t> K[</a:t>
            </a:r>
            <a:r>
              <a:rPr lang="en-US" dirty="0" err="1" smtClean="0"/>
              <a:t>i</a:t>
            </a:r>
            <a:r>
              <a:rPr lang="en-US" dirty="0" smtClean="0"/>
              <a:t>] (K[0]=0)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5629684"/>
            <a:ext cx="6435679" cy="1228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7772400" y="2133600"/>
          <a:ext cx="990600" cy="32766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457200"/>
                <a:gridCol w="533400"/>
              </a:tblGrid>
              <a:tr h="511969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5</a:t>
                      </a:r>
                      <a:endParaRPr lang="en-US" b="1" dirty="0"/>
                    </a:p>
                  </a:txBody>
                  <a:tcPr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8</a:t>
                      </a:r>
                      <a:endParaRPr lang="en-US" b="1" dirty="0"/>
                    </a:p>
                  </a:txBody>
                  <a:tcPr/>
                </a:tc>
              </a:tr>
              <a:tr h="614362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/>
                </a:tc>
              </a:tr>
              <a:tr h="614362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12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4419600"/>
            <a:ext cx="6435679" cy="1228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2.bmp"/>
          <p:cNvPicPr>
            <a:picLocks noChangeAspect="1"/>
          </p:cNvPicPr>
          <p:nvPr/>
        </p:nvPicPr>
        <p:blipFill>
          <a:blip r:embed="rId3"/>
          <a:srcRect l="26738" r="26203" b="57172"/>
          <a:stretch>
            <a:fillRect/>
          </a:stretch>
        </p:blipFill>
        <p:spPr>
          <a:xfrm>
            <a:off x="3048000" y="1905000"/>
            <a:ext cx="3170583" cy="2209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kề</a:t>
            </a:r>
            <a:r>
              <a:rPr lang="en-US" dirty="0" smtClean="0"/>
              <a:t>: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mảng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endParaRPr lang="en-US" dirty="0" smtClean="0"/>
          </a:p>
          <a:p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mảng</a:t>
            </a:r>
            <a:r>
              <a:rPr lang="en-US" dirty="0" smtClean="0"/>
              <a:t> A[</a:t>
            </a:r>
            <a:r>
              <a:rPr lang="en-US" dirty="0" err="1" smtClean="0"/>
              <a:t>i</a:t>
            </a:r>
            <a:r>
              <a:rPr lang="en-US" dirty="0" smtClean="0"/>
              <a:t>]: </a:t>
            </a:r>
            <a:r>
              <a:rPr lang="en-US" dirty="0" err="1" smtClean="0"/>
              <a:t>với</a:t>
            </a:r>
            <a:r>
              <a:rPr lang="en-US" dirty="0" smtClean="0"/>
              <a:t> A[</a:t>
            </a:r>
            <a:r>
              <a:rPr lang="en-US" dirty="0" err="1" smtClean="0"/>
              <a:t>i</a:t>
            </a:r>
            <a:r>
              <a:rPr lang="en-US" dirty="0" smtClean="0"/>
              <a:t>] </a:t>
            </a:r>
            <a:r>
              <a:rPr lang="en-US" dirty="0" err="1" smtClean="0"/>
              <a:t>trỏ</a:t>
            </a:r>
            <a:r>
              <a:rPr lang="en-US" dirty="0" smtClean="0"/>
              <a:t> </a:t>
            </a:r>
            <a:r>
              <a:rPr lang="en-US" dirty="0" err="1" smtClean="0"/>
              <a:t>tới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kề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endParaRPr lang="en-US" dirty="0"/>
          </a:p>
        </p:txBody>
      </p:sp>
      <p:pic>
        <p:nvPicPr>
          <p:cNvPr id="4" name="Picture 3" descr="2.bmp"/>
          <p:cNvPicPr>
            <a:picLocks noChangeAspect="1"/>
          </p:cNvPicPr>
          <p:nvPr/>
        </p:nvPicPr>
        <p:blipFill>
          <a:blip r:embed="rId2"/>
          <a:srcRect l="26738" r="26203" b="57172"/>
          <a:stretch>
            <a:fillRect/>
          </a:stretch>
        </p:blipFill>
        <p:spPr>
          <a:xfrm>
            <a:off x="2286000" y="3505200"/>
            <a:ext cx="3170583" cy="2209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2819400"/>
          <a:ext cx="1676400" cy="369529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9100"/>
                <a:gridCol w="419100"/>
                <a:gridCol w="419100"/>
                <a:gridCol w="419100"/>
              </a:tblGrid>
              <a:tr h="615882">
                <a:tc gridSpan="4">
                  <a:txBody>
                    <a:bodyPr/>
                    <a:lstStyle/>
                    <a:p>
                      <a:pPr algn="ctr"/>
                      <a:r>
                        <a:rPr lang="en-US" sz="2100" dirty="0" err="1" smtClean="0"/>
                        <a:t>Mảng</a:t>
                      </a:r>
                      <a:r>
                        <a:rPr lang="en-US" sz="2100" baseline="0" dirty="0" smtClean="0"/>
                        <a:t> A </a:t>
                      </a:r>
                      <a:endParaRPr lang="en-US" sz="2100" dirty="0"/>
                    </a:p>
                  </a:txBody>
                  <a:tcPr marL="108155" marR="108155" marT="54077" marB="540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15882"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2100" b="1" dirty="0">
                        <a:solidFill>
                          <a:srgbClr val="C00000"/>
                        </a:solidFill>
                      </a:endParaRPr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2</a:t>
                      </a:r>
                      <a:endParaRPr lang="en-US" sz="2100" dirty="0"/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3</a:t>
                      </a:r>
                      <a:endParaRPr lang="en-US" sz="2100" dirty="0"/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5</a:t>
                      </a:r>
                      <a:endParaRPr lang="en-US" sz="2100" dirty="0"/>
                    </a:p>
                  </a:txBody>
                  <a:tcPr marL="108155" marR="108155" marT="54077" marB="54077"/>
                </a:tc>
              </a:tr>
              <a:tr h="615882"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2100" b="1" dirty="0">
                        <a:solidFill>
                          <a:srgbClr val="C00000"/>
                        </a:solidFill>
                      </a:endParaRPr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1</a:t>
                      </a:r>
                      <a:endParaRPr lang="en-US" sz="2100" dirty="0"/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3</a:t>
                      </a:r>
                      <a:endParaRPr lang="en-US" sz="2100" dirty="0"/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endParaRPr lang="en-US" sz="2100" dirty="0"/>
                    </a:p>
                  </a:txBody>
                  <a:tcPr marL="108155" marR="108155" marT="54077" marB="54077"/>
                </a:tc>
              </a:tr>
              <a:tr h="615882"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2100" b="1" dirty="0">
                        <a:solidFill>
                          <a:srgbClr val="C00000"/>
                        </a:solidFill>
                      </a:endParaRPr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1</a:t>
                      </a:r>
                      <a:endParaRPr lang="en-US" sz="2100" dirty="0"/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2</a:t>
                      </a:r>
                      <a:endParaRPr lang="en-US" sz="2100" dirty="0"/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4</a:t>
                      </a:r>
                      <a:endParaRPr lang="en-US" sz="2100" dirty="0"/>
                    </a:p>
                  </a:txBody>
                  <a:tcPr marL="108155" marR="108155" marT="54077" marB="54077"/>
                </a:tc>
              </a:tr>
              <a:tr h="615882"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2100" b="1" dirty="0">
                        <a:solidFill>
                          <a:srgbClr val="C00000"/>
                        </a:solidFill>
                      </a:endParaRPr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3</a:t>
                      </a:r>
                      <a:endParaRPr lang="en-US" sz="2100" dirty="0"/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5</a:t>
                      </a:r>
                      <a:endParaRPr lang="en-US" sz="2100" dirty="0"/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endParaRPr lang="en-US" sz="2100" dirty="0"/>
                    </a:p>
                  </a:txBody>
                  <a:tcPr marL="108155" marR="108155" marT="54077" marB="54077"/>
                </a:tc>
              </a:tr>
              <a:tr h="615882"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2100" b="1" dirty="0">
                        <a:solidFill>
                          <a:srgbClr val="C00000"/>
                        </a:solidFill>
                      </a:endParaRPr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1</a:t>
                      </a:r>
                      <a:endParaRPr lang="en-US" sz="2100" dirty="0"/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/>
                        <a:t>4</a:t>
                      </a:r>
                      <a:endParaRPr lang="en-US" sz="2100" dirty="0"/>
                    </a:p>
                  </a:txBody>
                  <a:tcPr marL="108155" marR="108155" marT="54077" marB="54077"/>
                </a:tc>
                <a:tc>
                  <a:txBody>
                    <a:bodyPr/>
                    <a:lstStyle/>
                    <a:p>
                      <a:pPr algn="ctr"/>
                      <a:endParaRPr lang="en-US" sz="2100" dirty="0"/>
                    </a:p>
                  </a:txBody>
                  <a:tcPr marL="108155" marR="108155" marT="54077" marB="54077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G(V,E)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dãy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: x</a:t>
            </a:r>
            <a:r>
              <a:rPr lang="en-US" baseline="-25000" dirty="0" smtClean="0"/>
              <a:t>0</a:t>
            </a:r>
            <a:r>
              <a:rPr lang="en-US" dirty="0" smtClean="0"/>
              <a:t>, x</a:t>
            </a:r>
            <a:r>
              <a:rPr lang="en-US" baseline="-25000" dirty="0" smtClean="0"/>
              <a:t>1</a:t>
            </a:r>
            <a:r>
              <a:rPr lang="en-US" dirty="0" smtClean="0"/>
              <a:t>, …, x</a:t>
            </a:r>
            <a:r>
              <a:rPr lang="en-US" baseline="-25000" dirty="0" smtClean="0"/>
              <a:t>n-1</a:t>
            </a:r>
            <a:r>
              <a:rPr lang="en-US" dirty="0" smtClean="0"/>
              <a:t>,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</a:t>
            </a:r>
            <a:endParaRPr lang="en-US" baseline="-25000" dirty="0" smtClean="0"/>
          </a:p>
          <a:p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u=x</a:t>
            </a:r>
            <a:r>
              <a:rPr lang="en-US" baseline="-25000" dirty="0" smtClean="0"/>
              <a:t>0</a:t>
            </a:r>
            <a:r>
              <a:rPr lang="en-US" dirty="0" smtClean="0"/>
              <a:t>, v=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(x</a:t>
            </a:r>
            <a:r>
              <a:rPr lang="en-US" baseline="-25000" dirty="0" smtClean="0"/>
              <a:t>i,</a:t>
            </a:r>
            <a:r>
              <a:rPr lang="en-US" dirty="0" smtClean="0"/>
              <a:t> x</a:t>
            </a:r>
            <a:r>
              <a:rPr lang="en-US" baseline="-25000" dirty="0" smtClean="0"/>
              <a:t>i+1</a:t>
            </a:r>
            <a:r>
              <a:rPr lang="en-US" dirty="0" smtClean="0"/>
              <a:t>) </a:t>
            </a:r>
            <a:r>
              <a:rPr lang="en-US" dirty="0" err="1" smtClean="0"/>
              <a:t>nằm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E.</a:t>
            </a:r>
          </a:p>
          <a:p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</a:t>
            </a:r>
            <a:r>
              <a:rPr lang="en-US" dirty="0" smtClean="0"/>
              <a:t>=x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chu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G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luôn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kỳ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Nếu</a:t>
            </a:r>
            <a:r>
              <a:rPr lang="en-US" dirty="0" smtClean="0"/>
              <a:t> G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,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, G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chia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con,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con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chung</a:t>
            </a:r>
            <a:r>
              <a:rPr lang="en-US" dirty="0" smtClean="0"/>
              <a:t>.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con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vậy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371600"/>
            <a:ext cx="6096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: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G(V,E), </a:t>
            </a:r>
            <a:r>
              <a:rPr lang="en-US" dirty="0" err="1" smtClean="0"/>
              <a:t>hỏi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hay </a:t>
            </a:r>
            <a:r>
              <a:rPr lang="en-US" dirty="0" err="1" smtClean="0"/>
              <a:t>không</a:t>
            </a:r>
            <a:r>
              <a:rPr lang="en-US" dirty="0" smtClean="0"/>
              <a:t>?</a:t>
            </a:r>
          </a:p>
          <a:p>
            <a:r>
              <a:rPr lang="en-US" dirty="0" err="1" smtClean="0"/>
              <a:t>Tư</a:t>
            </a:r>
            <a:r>
              <a:rPr lang="en-US" dirty="0" smtClean="0"/>
              <a:t> </a:t>
            </a:r>
            <a:r>
              <a:rPr lang="en-US" dirty="0" err="1" smtClean="0"/>
              <a:t>tưởng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kỳ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,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xem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hay </a:t>
            </a:r>
            <a:r>
              <a:rPr lang="en-US" dirty="0" err="1" smtClean="0"/>
              <a:t>không</a:t>
            </a:r>
            <a:r>
              <a:rPr lang="en-US" dirty="0" smtClean="0"/>
              <a:t>.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tức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Bắt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,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cạnh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tắc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.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r>
              <a:rPr lang="en-US" dirty="0" smtClean="0"/>
              <a:t> </a:t>
            </a:r>
            <a:r>
              <a:rPr lang="en-US" dirty="0" err="1" smtClean="0"/>
              <a:t>đô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chiều</a:t>
            </a:r>
            <a:r>
              <a:rPr lang="en-US" dirty="0" smtClean="0"/>
              <a:t> </a:t>
            </a:r>
            <a:r>
              <a:rPr lang="en-US" dirty="0" err="1" smtClean="0"/>
              <a:t>rộng</a:t>
            </a:r>
            <a:endParaRPr lang="en-US" dirty="0" smtClean="0"/>
          </a:p>
          <a:p>
            <a:pPr lvl="1"/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chiều</a:t>
            </a:r>
            <a:r>
              <a:rPr lang="en-US" dirty="0" smtClean="0"/>
              <a:t> </a:t>
            </a:r>
            <a:r>
              <a:rPr lang="en-US" dirty="0" err="1" smtClean="0"/>
              <a:t>sâu</a:t>
            </a:r>
            <a:endParaRPr lang="en-US" dirty="0" smtClean="0"/>
          </a:p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chuyện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DFS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Procedure DFS(x)</a:t>
            </a:r>
            <a:br>
              <a:rPr lang="en-US" dirty="0" smtClean="0"/>
            </a:br>
            <a:r>
              <a:rPr lang="en-US" dirty="0" smtClean="0"/>
              <a:t>begin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xét</a:t>
            </a:r>
            <a:r>
              <a:rPr lang="en-US" dirty="0" smtClean="0"/>
              <a:t> x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{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kề</a:t>
            </a:r>
            <a:r>
              <a:rPr lang="en-US" dirty="0" smtClean="0"/>
              <a:t> x,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xét</a:t>
            </a: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		DFS(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DFS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538188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419600" y="468737"/>
            <a:ext cx="3669792" cy="28194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Procedure DFS(x)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Đánh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dấu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đã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Chọn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một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đỉnh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kề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chưa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DFS(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DFS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538188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4572000" y="3505200"/>
            <a:ext cx="990600" cy="1066800"/>
          </a:xfrm>
          <a:prstGeom prst="ellips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  <a:alpha val="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474208" y="0"/>
            <a:ext cx="3669792" cy="28194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Procedure DFS(x)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Đánh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dấu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đã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Chọn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một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đỉnh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kề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chưa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DFS(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DFS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538188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4572000" y="3505200"/>
            <a:ext cx="990600" cy="10668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81400" y="4572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  <a:alpha val="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474208" y="0"/>
            <a:ext cx="3669792" cy="28194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Procedure DFS(x)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Đánh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dấu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đã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Chọn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một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đỉnh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kề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chưa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DFS(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DFS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538188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4572000" y="3505200"/>
            <a:ext cx="990600" cy="10668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81400" y="4572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81200" y="4800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  <a:alpha val="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474208" y="0"/>
            <a:ext cx="3669792" cy="28194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Procedure DFS(x)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Đánh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dấu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đã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Chọn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một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đỉnh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kề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chưa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DFS(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DFS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538188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4572000" y="3505200"/>
            <a:ext cx="990600" cy="10668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81400" y="4572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81200" y="4800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76400" y="3276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  <a:alpha val="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474208" y="0"/>
            <a:ext cx="3669792" cy="28194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Procedure DFS(x)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Đánh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dấu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đã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Chọn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một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đỉnh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kề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chưa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DFS(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DFS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538188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4572000" y="3505200"/>
            <a:ext cx="990600" cy="10668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81400" y="4572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81200" y="4800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76400" y="3276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00400" y="3048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  <a:alpha val="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474208" y="0"/>
            <a:ext cx="3669792" cy="28194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Procedure DFS(x)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Đánh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dấu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đã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Chọn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một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đỉnh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kề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chưa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DFS(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DFS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538188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4572000" y="3505200"/>
            <a:ext cx="990600" cy="10668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81400" y="4572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81200" y="4800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76400" y="3276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  <a:alpha val="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00400" y="3048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474208" y="0"/>
            <a:ext cx="3669792" cy="28194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Procedure DFS(x)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Đánh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dấu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đã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Chọn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một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đỉnh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kề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chưa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DFS(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DFS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538188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4572000" y="3505200"/>
            <a:ext cx="990600" cy="10668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81400" y="4572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81200" y="4800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76400" y="3276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00400" y="3048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81000" y="24384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  <a:alpha val="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474208" y="0"/>
            <a:ext cx="3669792" cy="28194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Procedure DFS(x)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Đánh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dấu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đã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Chọn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một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đỉnh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kề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chưa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DFS(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DFS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538188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4572000" y="3505200"/>
            <a:ext cx="990600" cy="10668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81400" y="4572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81200" y="4800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76400" y="3276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  <a:alpha val="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00400" y="3048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81000" y="24384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474208" y="0"/>
            <a:ext cx="3669792" cy="28194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Procedure DFS(x)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Đánh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dấu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đã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Chọn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một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đỉnh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kề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chưa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DFS(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DFS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538188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4572000" y="3505200"/>
            <a:ext cx="990600" cy="10668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81400" y="4572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81200" y="4800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  <a:alpha val="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76400" y="3276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00400" y="3048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81000" y="24384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474208" y="0"/>
            <a:ext cx="3669792" cy="28194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Procedure DFS(x)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Đánh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dấu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đã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Chọn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một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đỉnh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kề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chưa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DFS(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DFS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538188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4572000" y="3505200"/>
            <a:ext cx="990600" cy="10668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81400" y="4572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  <a:alpha val="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81200" y="4800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76400" y="3276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00400" y="3048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81000" y="24384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474208" y="0"/>
            <a:ext cx="3669792" cy="28194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Procedure DFS(x)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Đánh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dấu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đã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Chọn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một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đỉnh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kề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chưa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DFS(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DFS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538188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4572000" y="3505200"/>
            <a:ext cx="990600" cy="1066800"/>
          </a:xfrm>
          <a:prstGeom prst="ellips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  <a:alpha val="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81400" y="4572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81200" y="4800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76400" y="3276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00400" y="3048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81000" y="24384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474208" y="0"/>
            <a:ext cx="3669792" cy="28194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Procedure DFS(x)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Đánh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dấu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đã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Chọn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một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đỉnh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kề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chưa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DFS(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DFS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538188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4572000" y="3505200"/>
            <a:ext cx="990600" cy="10668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81400" y="4572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81200" y="4800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76400" y="32766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00400" y="3048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81000" y="24384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474208" y="0"/>
            <a:ext cx="3669792" cy="28194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Procedure DFS(x)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Đánh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dấu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đã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Chọn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một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đỉnh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kề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chưa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xét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DFS(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DFS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143000"/>
            <a:ext cx="538188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6553200" y="2286000"/>
            <a:ext cx="990600" cy="10668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562600" y="33528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962400" y="35814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657600" y="20574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181600" y="18288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362200" y="1219200"/>
            <a:ext cx="9906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124200" y="5257800"/>
            <a:ext cx="4310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/>
              <a:t>1 – 2 – 3 – 4 – 5 – 6</a:t>
            </a:r>
            <a:endParaRPr 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BFS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Procedure BFS(x)</a:t>
            </a:r>
          </a:p>
          <a:p>
            <a:pPr>
              <a:buNone/>
            </a:pPr>
            <a:r>
              <a:rPr lang="en-US" dirty="0" smtClean="0"/>
              <a:t>	begin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quueue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thêm</a:t>
            </a:r>
            <a:r>
              <a:rPr lang="en-US" dirty="0" smtClean="0"/>
              <a:t> x </a:t>
            </a:r>
            <a:r>
              <a:rPr lang="en-US" dirty="0" err="1" smtClean="0"/>
              <a:t>vào</a:t>
            </a:r>
            <a:r>
              <a:rPr lang="en-US" dirty="0" smtClean="0"/>
              <a:t> queue;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x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xét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	while queue &lt;&gt; O do</a:t>
            </a:r>
          </a:p>
          <a:p>
            <a:pPr>
              <a:buNone/>
            </a:pPr>
            <a:r>
              <a:rPr lang="en-US" dirty="0" smtClean="0"/>
              <a:t>			begin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err="1" smtClean="0"/>
              <a:t>lấy</a:t>
            </a:r>
            <a:r>
              <a:rPr lang="en-US" dirty="0" smtClean="0"/>
              <a:t> p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khỏi</a:t>
            </a:r>
            <a:r>
              <a:rPr lang="en-US" dirty="0" smtClean="0"/>
              <a:t> queue;</a:t>
            </a:r>
          </a:p>
          <a:p>
            <a:pPr>
              <a:buNone/>
            </a:pPr>
            <a:r>
              <a:rPr lang="en-US" dirty="0" smtClean="0"/>
              <a:t>				for </a:t>
            </a:r>
            <a:r>
              <a:rPr lang="en-US" dirty="0" err="1" smtClean="0"/>
              <a:t>i</a:t>
            </a:r>
            <a:r>
              <a:rPr lang="en-US" dirty="0" smtClean="0"/>
              <a:t> {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kề</a:t>
            </a:r>
            <a:r>
              <a:rPr lang="en-US" dirty="0" smtClean="0"/>
              <a:t> p,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xét</a:t>
            </a: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queue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xét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end;</a:t>
            </a:r>
          </a:p>
          <a:p>
            <a:pPr>
              <a:buNone/>
            </a:pPr>
            <a:r>
              <a:rPr lang="en-US" dirty="0" smtClean="0"/>
              <a:t>	end;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đợi</a:t>
            </a:r>
            <a:r>
              <a:rPr lang="en-US" dirty="0" smtClean="0"/>
              <a:t> - Queue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143000" y="2895600"/>
          <a:ext cx="749934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67000" y="190500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Xếp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hàng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mua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vé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đợi</a:t>
            </a:r>
            <a:r>
              <a:rPr lang="en-US" dirty="0" smtClean="0"/>
              <a:t> - Queue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143000" y="2895600"/>
          <a:ext cx="749934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</a:tblGrid>
              <a:tr h="370840"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67000" y="190500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Xếp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hàng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phát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vé</a:t>
            </a:r>
            <a:endParaRPr lang="en-US" sz="2800" b="1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143000" y="3581400"/>
            <a:ext cx="1524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1485106" y="2705100"/>
            <a:ext cx="2293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3000" y="426720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Phát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từ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trái</a:t>
            </a:r>
            <a:r>
              <a:rPr lang="en-US" sz="2800" b="1" dirty="0" smtClean="0"/>
              <a:t> sang </a:t>
            </a:r>
            <a:r>
              <a:rPr lang="en-US" sz="2800" b="1" dirty="0" err="1" smtClean="0"/>
              <a:t>phải</a:t>
            </a:r>
            <a:endParaRPr lang="en-US" sz="2800" b="1" dirty="0"/>
          </a:p>
        </p:txBody>
      </p:sp>
      <p:cxnSp>
        <p:nvCxnSpPr>
          <p:cNvPr id="14" name="Straight Arrow Connector 13"/>
          <p:cNvCxnSpPr/>
          <p:nvPr/>
        </p:nvCxnSpPr>
        <p:spPr>
          <a:xfrm rot="5400000">
            <a:off x="4762500" y="2705100"/>
            <a:ext cx="2293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đợi</a:t>
            </a:r>
            <a:r>
              <a:rPr lang="en-US" dirty="0" smtClean="0"/>
              <a:t> - Queue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143000" y="2895600"/>
          <a:ext cx="749934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</a:tblGrid>
              <a:tr h="370840"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67000" y="190500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Xếp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hàng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phát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vé</a:t>
            </a:r>
            <a:endParaRPr lang="en-US" sz="2800" b="1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143000" y="3581400"/>
            <a:ext cx="1524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2247900" y="2705100"/>
            <a:ext cx="2293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3000" y="426720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Phát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từ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trái</a:t>
            </a:r>
            <a:r>
              <a:rPr lang="en-US" sz="2800" b="1" dirty="0" smtClean="0"/>
              <a:t> sang </a:t>
            </a:r>
            <a:r>
              <a:rPr lang="en-US" sz="2800" b="1" dirty="0" err="1" smtClean="0"/>
              <a:t>phải</a:t>
            </a:r>
            <a:endParaRPr lang="en-US" sz="2800" b="1" dirty="0"/>
          </a:p>
        </p:txBody>
      </p:sp>
      <p:cxnSp>
        <p:nvCxnSpPr>
          <p:cNvPr id="14" name="Straight Arrow Connector 13"/>
          <p:cNvCxnSpPr/>
          <p:nvPr/>
        </p:nvCxnSpPr>
        <p:spPr>
          <a:xfrm rot="5400000">
            <a:off x="4762500" y="2705100"/>
            <a:ext cx="2293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đợi</a:t>
            </a:r>
            <a:r>
              <a:rPr lang="en-US" dirty="0" smtClean="0"/>
              <a:t> - Queue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143000" y="2895600"/>
          <a:ext cx="749934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</a:tblGrid>
              <a:tr h="370840"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67000" y="190500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Xếp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hàng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phát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vé</a:t>
            </a:r>
            <a:endParaRPr lang="en-US" sz="2800" b="1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143000" y="3581400"/>
            <a:ext cx="1524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3086100" y="2705100"/>
            <a:ext cx="2293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3000" y="426720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Phát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từ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trái</a:t>
            </a:r>
            <a:r>
              <a:rPr lang="en-US" sz="2800" b="1" dirty="0" smtClean="0"/>
              <a:t> sang </a:t>
            </a:r>
            <a:r>
              <a:rPr lang="en-US" sz="2800" b="1" dirty="0" err="1" smtClean="0"/>
              <a:t>phải</a:t>
            </a:r>
            <a:endParaRPr lang="en-US" sz="2800" b="1" dirty="0"/>
          </a:p>
        </p:txBody>
      </p:sp>
      <p:cxnSp>
        <p:nvCxnSpPr>
          <p:cNvPr id="14" name="Straight Arrow Connector 13"/>
          <p:cNvCxnSpPr/>
          <p:nvPr/>
        </p:nvCxnSpPr>
        <p:spPr>
          <a:xfrm rot="5400000">
            <a:off x="4762500" y="2705100"/>
            <a:ext cx="2293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đợi</a:t>
            </a:r>
            <a:r>
              <a:rPr lang="en-US" dirty="0" smtClean="0"/>
              <a:t> - Queue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143000" y="2895600"/>
          <a:ext cx="749934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67000" y="190500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Xếp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hàng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phát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vé</a:t>
            </a:r>
            <a:endParaRPr lang="en-US" sz="2800" b="1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143000" y="3581400"/>
            <a:ext cx="1524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3086100" y="2705100"/>
            <a:ext cx="2293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96200" y="3810000"/>
          <a:ext cx="8382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</a:tblGrid>
              <a:tr h="238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 rot="5400000">
            <a:off x="4838700" y="2705100"/>
            <a:ext cx="2293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10000" y="4572000"/>
            <a:ext cx="342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Người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đến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sau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xếp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cuối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hàng</a:t>
            </a:r>
            <a:endParaRPr lang="en-US" sz="2800" b="1" dirty="0"/>
          </a:p>
        </p:txBody>
      </p:sp>
      <p:cxnSp>
        <p:nvCxnSpPr>
          <p:cNvPr id="15" name="Straight Arrow Connector 14"/>
          <p:cNvCxnSpPr/>
          <p:nvPr/>
        </p:nvCxnSpPr>
        <p:spPr>
          <a:xfrm rot="10800000">
            <a:off x="5715000" y="3352800"/>
            <a:ext cx="243840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đợi</a:t>
            </a:r>
            <a:r>
              <a:rPr lang="en-US" dirty="0" smtClean="0"/>
              <a:t> - Queue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143000" y="2895600"/>
          <a:ext cx="749934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67000" y="190500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Xếp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hàng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phát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vé</a:t>
            </a:r>
            <a:endParaRPr lang="en-US" sz="2800" b="1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143000" y="3581400"/>
            <a:ext cx="1524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3086100" y="2705100"/>
            <a:ext cx="2293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5600700" y="2705100"/>
            <a:ext cx="2293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10000" y="4572000"/>
            <a:ext cx="342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Người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đến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sau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xếp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cuối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hàng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đợi</a:t>
            </a:r>
            <a:r>
              <a:rPr lang="en-US" dirty="0" smtClean="0"/>
              <a:t> - Queue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143000" y="2895600"/>
          <a:ext cx="749934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67000" y="190500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Xếp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hàng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phát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vé</a:t>
            </a:r>
            <a:endParaRPr lang="en-US" sz="2800" b="1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143000" y="3581400"/>
            <a:ext cx="1524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6362700" y="2705100"/>
            <a:ext cx="2293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5524500" y="2705100"/>
            <a:ext cx="2293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43200" y="4114800"/>
            <a:ext cx="3733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Nếu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phát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xong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cho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người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cuối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cùng</a:t>
            </a:r>
            <a:r>
              <a:rPr lang="en-US" sz="2800" b="1" dirty="0" smtClean="0"/>
              <a:t>,</a:t>
            </a:r>
          </a:p>
          <a:p>
            <a:pPr algn="ctr"/>
            <a:r>
              <a:rPr lang="en-US" sz="2800" b="1" dirty="0" err="1" smtClean="0"/>
              <a:t>ta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nói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hàng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đợi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đã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rỗng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đợi</a:t>
            </a:r>
            <a:r>
              <a:rPr lang="en-US" dirty="0" smtClean="0"/>
              <a:t> - Queue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143000" y="3352800"/>
          <a:ext cx="749934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  <a:gridCol w="833261"/>
              </a:tblGrid>
              <a:tr h="370840"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1143000" y="4038600"/>
            <a:ext cx="1524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1485106" y="3162300"/>
            <a:ext cx="2293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3000" y="426720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Dùng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mảng</a:t>
            </a:r>
            <a:r>
              <a:rPr lang="en-US" sz="2800" b="1" dirty="0" smtClean="0"/>
              <a:t> Queue </a:t>
            </a:r>
            <a:r>
              <a:rPr lang="en-US" sz="2800" b="1" dirty="0" err="1" smtClean="0"/>
              <a:t>để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lưu</a:t>
            </a:r>
            <a:endParaRPr lang="en-US" sz="2800" b="1" dirty="0"/>
          </a:p>
        </p:txBody>
      </p:sp>
      <p:cxnSp>
        <p:nvCxnSpPr>
          <p:cNvPr id="14" name="Straight Arrow Connector 13"/>
          <p:cNvCxnSpPr/>
          <p:nvPr/>
        </p:nvCxnSpPr>
        <p:spPr>
          <a:xfrm rot="5400000">
            <a:off x="4762500" y="3162300"/>
            <a:ext cx="229394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5400000">
            <a:off x="1295797" y="5181203"/>
            <a:ext cx="304800" cy="79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76400" y="5029200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: </a:t>
            </a:r>
            <a:r>
              <a:rPr lang="en-US" b="1" dirty="0" err="1" smtClean="0"/>
              <a:t>đặt</a:t>
            </a:r>
            <a:r>
              <a:rPr lang="en-US" b="1" dirty="0" smtClean="0"/>
              <a:t> </a:t>
            </a:r>
            <a:r>
              <a:rPr lang="en-US" b="1" dirty="0" err="1" smtClean="0"/>
              <a:t>là</a:t>
            </a:r>
            <a:r>
              <a:rPr lang="en-US" b="1" dirty="0" smtClean="0"/>
              <a:t> First</a:t>
            </a:r>
            <a:endParaRPr lang="en-US" b="1" dirty="0"/>
          </a:p>
        </p:txBody>
      </p:sp>
      <p:cxnSp>
        <p:nvCxnSpPr>
          <p:cNvPr id="16" name="Straight Arrow Connector 15"/>
          <p:cNvCxnSpPr/>
          <p:nvPr/>
        </p:nvCxnSpPr>
        <p:spPr>
          <a:xfrm rot="5400000">
            <a:off x="1295003" y="5791597"/>
            <a:ext cx="306388" cy="79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76400" y="5562600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: </a:t>
            </a:r>
            <a:r>
              <a:rPr lang="en-US" b="1" dirty="0" err="1" smtClean="0"/>
              <a:t>đặt</a:t>
            </a:r>
            <a:r>
              <a:rPr lang="en-US" b="1" dirty="0" smtClean="0"/>
              <a:t> </a:t>
            </a:r>
            <a:r>
              <a:rPr lang="en-US" b="1" dirty="0" err="1" smtClean="0"/>
              <a:t>là</a:t>
            </a:r>
            <a:r>
              <a:rPr lang="en-US" b="1" dirty="0" smtClean="0"/>
              <a:t> Last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371600" y="1371600"/>
            <a:ext cx="1982274" cy="147732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Procedure Them(x)</a:t>
            </a:r>
          </a:p>
          <a:p>
            <a:r>
              <a:rPr lang="en-US" dirty="0" smtClean="0"/>
              <a:t>Begin</a:t>
            </a:r>
          </a:p>
          <a:p>
            <a:r>
              <a:rPr lang="en-US" dirty="0" smtClean="0"/>
              <a:t>     Last=Last+1;</a:t>
            </a:r>
          </a:p>
          <a:p>
            <a:r>
              <a:rPr lang="en-US" dirty="0" smtClean="0"/>
              <a:t>     Queue[Last]=x;</a:t>
            </a:r>
          </a:p>
          <a:p>
            <a:r>
              <a:rPr lang="en-US" dirty="0" smtClean="0"/>
              <a:t>End;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810000" y="1371600"/>
            <a:ext cx="1962397" cy="147732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Procedure Lay(x)</a:t>
            </a:r>
          </a:p>
          <a:p>
            <a:r>
              <a:rPr lang="en-US" dirty="0" smtClean="0"/>
              <a:t>Begin</a:t>
            </a:r>
          </a:p>
          <a:p>
            <a:r>
              <a:rPr lang="en-US" dirty="0" smtClean="0"/>
              <a:t>     First=First+1;</a:t>
            </a:r>
          </a:p>
          <a:p>
            <a:r>
              <a:rPr lang="en-US" dirty="0" smtClean="0"/>
              <a:t>     x=Queue[First];</a:t>
            </a:r>
          </a:p>
          <a:p>
            <a:r>
              <a:rPr lang="en-US" dirty="0" smtClean="0"/>
              <a:t>End;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019800" y="1219200"/>
            <a:ext cx="2518638" cy="203132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Function </a:t>
            </a:r>
            <a:r>
              <a:rPr lang="en-US" dirty="0" err="1" smtClean="0"/>
              <a:t>Rong</a:t>
            </a:r>
            <a:r>
              <a:rPr lang="en-US" dirty="0" smtClean="0"/>
              <a:t>: Boolean;</a:t>
            </a:r>
          </a:p>
          <a:p>
            <a:r>
              <a:rPr lang="en-US" dirty="0" smtClean="0"/>
              <a:t>Begin</a:t>
            </a:r>
          </a:p>
          <a:p>
            <a:r>
              <a:rPr lang="en-US" dirty="0" smtClean="0"/>
              <a:t>     if (First &gt; Last) then </a:t>
            </a:r>
          </a:p>
          <a:p>
            <a:r>
              <a:rPr lang="en-US" dirty="0" smtClean="0"/>
              <a:t>         </a:t>
            </a:r>
            <a:r>
              <a:rPr lang="en-US" dirty="0" err="1" smtClean="0"/>
              <a:t>Rong</a:t>
            </a:r>
            <a:r>
              <a:rPr lang="en-US" dirty="0" smtClean="0"/>
              <a:t>=True;</a:t>
            </a:r>
          </a:p>
          <a:p>
            <a:r>
              <a:rPr lang="en-US" dirty="0" smtClean="0"/>
              <a:t>     else</a:t>
            </a:r>
          </a:p>
          <a:p>
            <a:r>
              <a:rPr lang="en-US" dirty="0" smtClean="0"/>
              <a:t>         </a:t>
            </a:r>
            <a:r>
              <a:rPr lang="en-US" dirty="0" err="1" smtClean="0"/>
              <a:t>Rong</a:t>
            </a:r>
            <a:r>
              <a:rPr lang="en-US" dirty="0" smtClean="0"/>
              <a:t>=False;</a:t>
            </a:r>
          </a:p>
          <a:p>
            <a:r>
              <a:rPr lang="en-US" dirty="0" smtClean="0"/>
              <a:t>End;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99" y="2133600"/>
            <a:ext cx="4923853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39000" y="1066800"/>
          <a:ext cx="914400" cy="504825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9144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Queue</a:t>
                      </a:r>
                      <a:endParaRPr lang="en-US" dirty="0"/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4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endParaRPr kumimoji="0" lang="en-US" sz="4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endParaRPr kumimoji="0" lang="en-US" sz="4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endParaRPr kumimoji="0" lang="en-US" sz="4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endParaRPr kumimoji="0" lang="en-US" sz="4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endParaRPr kumimoji="0" lang="en-US" sz="4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5029200" y="32004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99" y="2133600"/>
            <a:ext cx="4923853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39000" y="1066800"/>
          <a:ext cx="914400" cy="504825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9144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Queue</a:t>
                      </a:r>
                      <a:endParaRPr lang="en-US" dirty="0"/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4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endParaRPr kumimoji="0" lang="en-US" sz="4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endParaRPr kumimoji="0" lang="en-US" sz="4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endParaRPr kumimoji="0" lang="en-US" sz="4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5029200" y="32004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14800" y="4114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810000" y="26670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99" y="2133600"/>
            <a:ext cx="4923853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39000" y="1066800"/>
          <a:ext cx="914400" cy="504825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9144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Queue</a:t>
                      </a:r>
                      <a:endParaRPr lang="en-US" dirty="0"/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4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endParaRPr kumimoji="0" lang="en-US" sz="4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endParaRPr kumimoji="0" lang="en-US" sz="4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5029200" y="32004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14800" y="4114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810000" y="26670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667000" y="43434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99" y="2133600"/>
            <a:ext cx="4923853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39000" y="1066800"/>
          <a:ext cx="914400" cy="504825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9144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Queue</a:t>
                      </a:r>
                      <a:endParaRPr lang="en-US" dirty="0"/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4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endParaRPr kumimoji="0" lang="en-US" sz="4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5029200" y="32004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14800" y="4114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810000" y="26670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667000" y="43434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362200" y="2971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99" y="2133600"/>
            <a:ext cx="4923853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39000" y="1066800"/>
          <a:ext cx="914400" cy="504825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9144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Queue</a:t>
                      </a:r>
                      <a:endParaRPr lang="en-US" dirty="0"/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4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endParaRPr kumimoji="0" lang="en-US" sz="4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5029200" y="32004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14800" y="4114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810000" y="26670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667000" y="43434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362200" y="2971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99" y="2133600"/>
            <a:ext cx="4923853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39000" y="1066800"/>
          <a:ext cx="914400" cy="504825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9144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Queue</a:t>
                      </a:r>
                      <a:endParaRPr lang="en-US" dirty="0"/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4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5029200" y="32004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14800" y="4114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810000" y="26670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667000" y="43434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362200" y="2971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219200" y="2209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99" y="2133600"/>
            <a:ext cx="4923853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39000" y="1066800"/>
          <a:ext cx="914400" cy="504825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9144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Queue</a:t>
                      </a:r>
                      <a:endParaRPr lang="en-US" dirty="0"/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4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5029200" y="32004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14800" y="4114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810000" y="26670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667000" y="43434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362200" y="2971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219200" y="2209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BFS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99" y="2133600"/>
            <a:ext cx="4923853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39000" y="1066800"/>
          <a:ext cx="914400" cy="504825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9144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Queue</a:t>
                      </a:r>
                      <a:endParaRPr lang="en-US" dirty="0"/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4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kumimoji="0" lang="en-US" sz="4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5029200" y="32004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14800" y="4114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810000" y="26670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667000" y="43434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362200" y="2971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219200" y="2209800"/>
            <a:ext cx="914400" cy="990600"/>
          </a:xfrm>
          <a:prstGeom prst="ellipse">
            <a:avLst/>
          </a:prstGeom>
          <a:gradFill flip="none" rotWithShape="1">
            <a:gsLst>
              <a:gs pos="0">
                <a:srgbClr val="5E9EFF">
                  <a:alpha val="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524000" y="5715000"/>
            <a:ext cx="472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1 – 2 – 5 – 3 – 4 – 6</a:t>
            </a:r>
            <a:endParaRPr 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BFS </a:t>
            </a:r>
            <a:r>
              <a:rPr lang="en-US" dirty="0" err="1" smtClean="0"/>
              <a:t>và</a:t>
            </a:r>
            <a:r>
              <a:rPr lang="en-US" dirty="0" smtClean="0"/>
              <a:t> DFS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Liệt</a:t>
            </a:r>
            <a:r>
              <a:rPr lang="en-US" dirty="0" smtClean="0"/>
              <a:t> </a:t>
            </a:r>
            <a:r>
              <a:rPr lang="en-US" dirty="0" err="1" smtClean="0"/>
              <a:t>kê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Xét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chu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hay </a:t>
            </a:r>
            <a:r>
              <a:rPr lang="en-US" dirty="0" err="1" smtClean="0"/>
              <a:t>không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: In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qua </a:t>
            </a:r>
            <a:r>
              <a:rPr lang="en-US" dirty="0" err="1" smtClean="0"/>
              <a:t>ít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s </a:t>
            </a:r>
            <a:r>
              <a:rPr lang="en-US" dirty="0" err="1" smtClean="0"/>
              <a:t>đến</a:t>
            </a:r>
            <a:r>
              <a:rPr lang="en-US" smtClean="0"/>
              <a:t> t.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1043</TotalTime>
  <Words>1426</Words>
  <Application>Microsoft Office PowerPoint</Application>
  <PresentationFormat>On-screen Show (4:3)</PresentationFormat>
  <Paragraphs>360</Paragraphs>
  <Slides>50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Calibri</vt:lpstr>
      <vt:lpstr>Times New Roman</vt:lpstr>
      <vt:lpstr>Verdana</vt:lpstr>
      <vt:lpstr>Wingdings</vt:lpstr>
      <vt:lpstr>Wingdings 2</vt:lpstr>
      <vt:lpstr>Solstice</vt:lpstr>
      <vt:lpstr>BÀI GiẢNG ĐỒ THỊ 1</vt:lpstr>
      <vt:lpstr>Khái niệm cơ bản</vt:lpstr>
      <vt:lpstr>Khái niệm cơ bản</vt:lpstr>
      <vt:lpstr>Khái niệm cơ bản</vt:lpstr>
      <vt:lpstr>Khái niệm cơ bản</vt:lpstr>
      <vt:lpstr>Biểu diễn đồ thị</vt:lpstr>
      <vt:lpstr>Biểu diễn đồ thị</vt:lpstr>
      <vt:lpstr>Biểu diễn đồ thị</vt:lpstr>
      <vt:lpstr>Biểu diễn đồ thị</vt:lpstr>
      <vt:lpstr>Biểu diễn đồ thị</vt:lpstr>
      <vt:lpstr>Biểu diễn đồ thị</vt:lpstr>
      <vt:lpstr>Biểu diễn đồ thị</vt:lpstr>
      <vt:lpstr>Đồ thị liên thông</vt:lpstr>
      <vt:lpstr>Đồ thị liên thông</vt:lpstr>
      <vt:lpstr>Đồ thị liên thông</vt:lpstr>
      <vt:lpstr>Kiểm tra tính liên thông của đồ thị</vt:lpstr>
      <vt:lpstr>Duyệt đồ thị</vt:lpstr>
      <vt:lpstr>Thuật toán DFS</vt:lpstr>
      <vt:lpstr>DFS</vt:lpstr>
      <vt:lpstr>DFS</vt:lpstr>
      <vt:lpstr>DFS</vt:lpstr>
      <vt:lpstr>DFS</vt:lpstr>
      <vt:lpstr>DFS</vt:lpstr>
      <vt:lpstr>DFS</vt:lpstr>
      <vt:lpstr>DFS</vt:lpstr>
      <vt:lpstr>DFS</vt:lpstr>
      <vt:lpstr>DFS</vt:lpstr>
      <vt:lpstr>DFS</vt:lpstr>
      <vt:lpstr>DFS</vt:lpstr>
      <vt:lpstr>DFS</vt:lpstr>
      <vt:lpstr>DFS</vt:lpstr>
      <vt:lpstr>DFS</vt:lpstr>
      <vt:lpstr>Thuật toán BFS</vt:lpstr>
      <vt:lpstr>Hàng đợi - Queue</vt:lpstr>
      <vt:lpstr>Hàng đợi - Queue</vt:lpstr>
      <vt:lpstr>Hàng đợi - Queue</vt:lpstr>
      <vt:lpstr>Hàng đợi - Queue</vt:lpstr>
      <vt:lpstr>Hàng đợi - Queue</vt:lpstr>
      <vt:lpstr>Hàng đợi - Queue</vt:lpstr>
      <vt:lpstr>Hàng đợi - Queue</vt:lpstr>
      <vt:lpstr>Hàng đợi - Queue</vt:lpstr>
      <vt:lpstr>BFS</vt:lpstr>
      <vt:lpstr>BFS</vt:lpstr>
      <vt:lpstr>BFS</vt:lpstr>
      <vt:lpstr>BFS</vt:lpstr>
      <vt:lpstr>BFS</vt:lpstr>
      <vt:lpstr>BFS</vt:lpstr>
      <vt:lpstr>BFS</vt:lpstr>
      <vt:lpstr>BFS</vt:lpstr>
      <vt:lpstr>Ứng dụng của BFS và DFS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giảng Đồ Thị</dc:title>
  <dc:creator>Giang Nam</dc:creator>
  <cp:lastModifiedBy>HuongDK</cp:lastModifiedBy>
  <cp:revision>327</cp:revision>
  <dcterms:created xsi:type="dcterms:W3CDTF">2001-12-31T17:02:21Z</dcterms:created>
  <dcterms:modified xsi:type="dcterms:W3CDTF">2018-03-21T07:37:32Z</dcterms:modified>
</cp:coreProperties>
</file>