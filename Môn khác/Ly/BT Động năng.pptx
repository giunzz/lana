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14"/>
  </p:notesMasterIdLst>
  <p:handoutMasterIdLst>
    <p:handoutMasterId r:id="rId15"/>
  </p:handoutMasterIdLst>
  <p:sldIdLst>
    <p:sldId id="279" r:id="rId5"/>
    <p:sldId id="280" r:id="rId6"/>
    <p:sldId id="292" r:id="rId7"/>
    <p:sldId id="295" r:id="rId8"/>
    <p:sldId id="296" r:id="rId9"/>
    <p:sldId id="297" r:id="rId10"/>
    <p:sldId id="298" r:id="rId11"/>
    <p:sldId id="299" r:id="rId12"/>
    <p:sldId id="300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1" autoAdjust="0"/>
  </p:normalViewPr>
  <p:slideViewPr>
    <p:cSldViewPr>
      <p:cViewPr varScale="1">
        <p:scale>
          <a:sx n="66" d="100"/>
          <a:sy n="66" d="100"/>
        </p:scale>
        <p:origin x="672" y="44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4/6/2020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4/6/2020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6792" y="1905003"/>
            <a:ext cx="9435241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2103" y="3657123"/>
            <a:ext cx="942993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1218882" y="1600200"/>
            <a:ext cx="9739746" cy="73152"/>
            <a:chOff x="914400" y="1200150"/>
            <a:chExt cx="7306712" cy="54864"/>
          </a:xfrm>
        </p:grpSpPr>
        <p:sp>
          <p:nvSpPr>
            <p:cNvPr id="8" name="Oval 7"/>
            <p:cNvSpPr/>
            <p:nvPr/>
          </p:nvSpPr>
          <p:spPr>
            <a:xfrm>
              <a:off x="8166248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914400" y="12001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036847" y="12076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/>
          <p:cNvGrpSpPr/>
          <p:nvPr/>
        </p:nvGrpSpPr>
        <p:grpSpPr>
          <a:xfrm>
            <a:off x="1218882" y="4851400"/>
            <a:ext cx="9739746" cy="73152"/>
            <a:chOff x="914400" y="3638550"/>
            <a:chExt cx="7306712" cy="54864"/>
          </a:xfrm>
        </p:grpSpPr>
        <p:sp>
          <p:nvSpPr>
            <p:cNvPr id="14" name="Oval 13"/>
            <p:cNvSpPr/>
            <p:nvPr/>
          </p:nvSpPr>
          <p:spPr>
            <a:xfrm>
              <a:off x="8166248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914400" y="3638550"/>
              <a:ext cx="54864" cy="5486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036847" y="3646026"/>
              <a:ext cx="7074290" cy="38998"/>
              <a:chOff x="2141408" y="1752956"/>
              <a:chExt cx="7315200" cy="38998"/>
            </a:xfrm>
            <a:solidFill>
              <a:schemeClr val="tx2"/>
            </a:solidFill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141408" y="1752956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41408" y="1791954"/>
                <a:ext cx="7315200" cy="0"/>
              </a:xfrm>
              <a:prstGeom prst="lin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3764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06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030" y="990599"/>
            <a:ext cx="9344765" cy="2235203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030" y="3733800"/>
            <a:ext cx="9344765" cy="12192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3273781" y="3475736"/>
            <a:ext cx="5641265" cy="54864"/>
            <a:chOff x="2455975" y="2588441"/>
            <a:chExt cx="4232051" cy="41148"/>
          </a:xfrm>
        </p:grpSpPr>
        <p:sp>
          <p:nvSpPr>
            <p:cNvPr id="14" name="Oval 13"/>
            <p:cNvSpPr/>
            <p:nvPr/>
          </p:nvSpPr>
          <p:spPr>
            <a:xfrm>
              <a:off x="6642306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455975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563229" y="2594391"/>
              <a:ext cx="4023360" cy="29249"/>
              <a:chOff x="2550323" y="3458731"/>
              <a:chExt cx="4023360" cy="3899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550323" y="3458731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550323" y="3497729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803400"/>
            <a:ext cx="4773956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77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2945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0049" y="1803400"/>
            <a:ext cx="4769806" cy="7112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5986" y="2514600"/>
            <a:ext cx="4773956" cy="35560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58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22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34563" y="434975"/>
            <a:ext cx="1168400" cy="5661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434975"/>
            <a:ext cx="8413750" cy="566102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57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304721" y="301752"/>
            <a:ext cx="11579384" cy="6254496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>
            <a:noFill/>
          </a:ln>
          <a:effectLst>
            <a:innerShdw blurRad="508000">
              <a:srgbClr val="FFD14B">
                <a:alpha val="69804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168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803400"/>
            <a:ext cx="975106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2" y="6172200"/>
            <a:ext cx="741487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4/6/2020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8928" y="6172200"/>
            <a:ext cx="711015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631" y="1066800"/>
            <a:ext cx="9435241" cy="1625599"/>
          </a:xfrm>
        </p:spPr>
        <p:txBody>
          <a:bodyPr>
            <a:normAutofit/>
          </a:bodyPr>
          <a:lstStyle/>
          <a:p>
            <a:r>
              <a:rPr lang="en-US" sz="6000" dirty="0"/>
              <a:t>VẬT LÝ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1412" y="3048000"/>
            <a:ext cx="10287000" cy="1219200"/>
          </a:xfrm>
        </p:spPr>
        <p:txBody>
          <a:bodyPr>
            <a:normAutofit/>
          </a:bodyPr>
          <a:lstStyle/>
          <a:p>
            <a:r>
              <a:rPr lang="en-US" sz="3600" dirty="0"/>
              <a:t>BÀI TẬP VỀ </a:t>
            </a:r>
            <a:r>
              <a:rPr lang="en-US" sz="3600" dirty="0" err="1"/>
              <a:t>Chủ</a:t>
            </a:r>
            <a:r>
              <a:rPr lang="en-US" sz="3600" dirty="0"/>
              <a:t> ĐỀ : </a:t>
            </a:r>
            <a:r>
              <a:rPr lang="en-US" sz="3600" dirty="0" err="1"/>
              <a:t>Động</a:t>
            </a:r>
            <a:r>
              <a:rPr lang="en-US" sz="3600" dirty="0"/>
              <a:t> </a:t>
            </a:r>
            <a:r>
              <a:rPr lang="en-US" sz="3600" dirty="0" err="1" smtClean="0"/>
              <a:t>năng</a:t>
            </a:r>
            <a:r>
              <a:rPr lang="en-US" sz="3600" dirty="0" smtClean="0"/>
              <a:t> – </a:t>
            </a:r>
            <a:r>
              <a:rPr lang="en-US" sz="3600" dirty="0" err="1" smtClean="0"/>
              <a:t>định</a:t>
            </a:r>
            <a:r>
              <a:rPr lang="en-US" sz="3600" dirty="0" smtClean="0"/>
              <a:t> </a:t>
            </a:r>
            <a:r>
              <a:rPr lang="en-US" sz="3600" dirty="0" err="1" smtClean="0"/>
              <a:t>lý</a:t>
            </a:r>
            <a:r>
              <a:rPr lang="en-US" sz="3600" dirty="0" smtClean="0"/>
              <a:t> </a:t>
            </a:r>
            <a:r>
              <a:rPr lang="en-US" sz="3600" dirty="0" err="1" smtClean="0"/>
              <a:t>động</a:t>
            </a:r>
            <a:r>
              <a:rPr lang="en-US" sz="3600" dirty="0" smtClean="0"/>
              <a:t> </a:t>
            </a:r>
            <a:r>
              <a:rPr lang="en-US" sz="3600" smtClean="0"/>
              <a:t>năng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6189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8612" y="533400"/>
            <a:ext cx="8990329" cy="711200"/>
          </a:xfrm>
        </p:spPr>
        <p:txBody>
          <a:bodyPr/>
          <a:lstStyle/>
          <a:p>
            <a:r>
              <a:rPr lang="en-US"/>
              <a:t>Phần  :  Động năng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065212" y="1600200"/>
                <a:ext cx="10591800" cy="4495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1. Nếu khối lượng của một vật giảm đi 2 lần nhưng tốc độ của vật tăng gấp 2 lần thì động năng của vật 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AutoNum type="alphaUcPeriod"/>
                </a:pPr>
                <a:r>
                  <a:rPr lang="en-US">
                    <a:latin typeface="Constantia" panose="02030602050306030303" pitchFamily="18" charset="0"/>
                  </a:rPr>
                  <a:t>không đổi					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AutoNum type="alphaUcPeriod"/>
                </a:pPr>
                <a:r>
                  <a:rPr lang="en-US">
                    <a:latin typeface="Constantia" panose="02030602050306030303" pitchFamily="18" charset="0"/>
                  </a:rPr>
                  <a:t>tăng 2 lần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C. tăng 4 lần					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D. tăng 8 lần</a:t>
                </a:r>
                <a:endParaRPr lang="en-US">
                  <a:solidFill>
                    <a:srgbClr val="7030A0"/>
                  </a:solidFill>
                  <a:latin typeface="Constantia" panose="02030602050306030303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Kết quả là B,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tăng 2 lần vì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2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5212" y="1600200"/>
                <a:ext cx="10591800" cy="4495800"/>
              </a:xfrm>
              <a:blipFill>
                <a:blip r:embed="rId2"/>
                <a:stretch>
                  <a:fillRect l="-921" t="-1900" r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38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2 : </a:t>
                </a:r>
                <a:r>
                  <a:rPr lang="en-US"/>
                  <a:t>công thức nào sau đây là mối liên hệ giữa động lượng p và động năng W</a:t>
                </a:r>
                <a:r>
                  <a:rPr lang="en-US" baseline="-25000"/>
                  <a:t>đ </a:t>
                </a:r>
                <a:r>
                  <a:rPr lang="en-US"/>
                  <a:t>?</a:t>
                </a:r>
              </a:p>
              <a:p>
                <a:pPr marL="457200" indent="-457200">
                  <a:buAutoNum type="alphaUcPeriod"/>
                </a:pPr>
                <a:r>
                  <a:rPr lang="en-US"/>
                  <a:t>p</a:t>
                </a:r>
                <a:r>
                  <a:rPr lang="en-US" baseline="30000"/>
                  <a:t>2</a:t>
                </a:r>
                <a:r>
                  <a:rPr lang="en-US"/>
                  <a:t> = 2mW</a:t>
                </a:r>
                <a:r>
                  <a:rPr lang="en-US" baseline="-25000"/>
                  <a:t>đ</a:t>
                </a:r>
                <a:r>
                  <a:rPr lang="en-US"/>
                  <a:t>.                    			</a:t>
                </a:r>
              </a:p>
              <a:p>
                <a:pPr marL="457200" indent="-457200">
                  <a:buAutoNum type="alphaUcPeriod"/>
                </a:pPr>
                <a:r>
                  <a:rPr lang="en-US"/>
                  <a:t>p</a:t>
                </a:r>
                <a:r>
                  <a:rPr lang="en-US" baseline="30000"/>
                  <a:t>2</a:t>
                </a:r>
                <a:r>
                  <a:rPr lang="en-US"/>
                  <a:t> = mW</a:t>
                </a:r>
                <a:r>
                  <a:rPr lang="en-US" baseline="-25000"/>
                  <a:t>đ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r>
                  <a:rPr lang="en-US"/>
                  <a:t>C. p</a:t>
                </a:r>
                <a:r>
                  <a:rPr lang="en-US" baseline="30000"/>
                  <a:t>2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					</a:t>
                </a:r>
              </a:p>
              <a:p>
                <a:pPr marL="0" indent="0">
                  <a:buNone/>
                </a:pPr>
                <a:r>
                  <a:rPr lang="en-US"/>
                  <a:t>D. p</a:t>
                </a:r>
                <a:r>
                  <a:rPr lang="en-US" baseline="30000"/>
                  <a:t>2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 </a:t>
                </a:r>
              </a:p>
              <a:p>
                <a:pPr marL="0" indent="0">
                  <a:buNone/>
                </a:pP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 đáp án A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vì 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W</a:t>
                </a:r>
                <a:r>
                  <a:rPr lang="en-US" baseline="-250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đ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 và p = mv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2m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>
                            <a:solidFill>
                              <a:srgbClr val="7030A0"/>
                            </a:solidFill>
                          </a:rPr>
                          <m:t>m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2m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  <a:blipFill>
                <a:blip r:embed="rId2"/>
                <a:stretch>
                  <a:fillRect l="-990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69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3 : </a:t>
                </a:r>
                <a:r>
                  <a:rPr lang="en-US"/>
                  <a:t>Lực nào sau đây không làm vật thay đổi động năng?</a:t>
                </a:r>
              </a:p>
              <a:p>
                <a:pPr marL="0" indent="0">
                  <a:buNone/>
                </a:pPr>
                <a:r>
                  <a:rPr lang="en-US"/>
                  <a:t> A. Lực cùng hướng với vận tốc vật		</a:t>
                </a:r>
              </a:p>
              <a:p>
                <a:pPr marL="0" indent="0">
                  <a:buNone/>
                </a:pPr>
                <a:r>
                  <a:rPr lang="en-US"/>
                  <a:t> B. Lực vuông góc với vận tốc vật</a:t>
                </a:r>
              </a:p>
              <a:p>
                <a:pPr marL="0" indent="0">
                  <a:buNone/>
                </a:pPr>
                <a:r>
                  <a:rPr lang="en-US"/>
                  <a:t> C. Lực ngược hướng với vận tốc vật		</a:t>
                </a:r>
              </a:p>
              <a:p>
                <a:pPr marL="0" indent="0">
                  <a:buNone/>
                </a:pPr>
                <a:r>
                  <a:rPr lang="en-US"/>
                  <a:t> D. Lực hợp với vận tốc 1 góc nào đó.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 đáp án B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Theo định lý động năng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A = F s cos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cos 90</a:t>
                </a:r>
                <a:r>
                  <a:rPr lang="en-US" baseline="30000">
                    <a:solidFill>
                      <a:srgbClr val="7030A0"/>
                    </a:solidFill>
                  </a:rPr>
                  <a:t>o</a:t>
                </a:r>
                <a:r>
                  <a:rPr lang="en-US">
                    <a:solidFill>
                      <a:srgbClr val="7030A0"/>
                    </a:solidFill>
                  </a:rPr>
                  <a:t> = 0 nên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</m:t>
                        </m:r>
                      </m:sub>
                    </m:sSub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= 0 hay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  <a:blipFill>
                <a:blip r:embed="rId2"/>
                <a:stretch>
                  <a:fillRect l="-990" t="-1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83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4 : </a:t>
                </a:r>
                <a:r>
                  <a:rPr lang="en-US"/>
                  <a:t>Động năng của vật tăng khi:</a:t>
                </a:r>
              </a:p>
              <a:p>
                <a:pPr marL="0" indent="0">
                  <a:buNone/>
                </a:pPr>
                <a:r>
                  <a:rPr lang="en-US"/>
                  <a:t>A. Vận tốc của vật dương.				</a:t>
                </a:r>
              </a:p>
              <a:p>
                <a:pPr marL="0" indent="0">
                  <a:buNone/>
                </a:pPr>
                <a:r>
                  <a:rPr lang="en-US"/>
                  <a:t>B. Gia tốc  của vật dương.</a:t>
                </a:r>
              </a:p>
              <a:p>
                <a:pPr marL="0" indent="0">
                  <a:buNone/>
                </a:pPr>
                <a:r>
                  <a:rPr lang="en-US"/>
                  <a:t>C. Gia tốc vật tăng.				</a:t>
                </a:r>
              </a:p>
              <a:p>
                <a:pPr marL="0" indent="0">
                  <a:buNone/>
                </a:pPr>
                <a:r>
                  <a:rPr lang="en-US"/>
                  <a:t>D. Ngoại lực tác dụng lên vật sinh công dương.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 đáp án D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Theo định lý động năng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A &gt;0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nên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0 hay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9852344" cy="4861560"/>
              </a:xfrm>
              <a:prstGeom prst="rect">
                <a:avLst/>
              </a:prstGeom>
              <a:blipFill>
                <a:blip r:embed="rId2"/>
                <a:stretch>
                  <a:fillRect l="-990" t="-1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18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10444544" cy="50139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5 : </a:t>
                </a:r>
                <a:r>
                  <a:rPr lang="vi-VN">
                    <a:latin typeface="Constantia" panose="02030602050306030303" pitchFamily="18" charset="0"/>
                  </a:rPr>
                  <a:t>Một viên đạn có khối lượng 10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:r>
                  <a:rPr lang="vi-VN">
                    <a:latin typeface="Constantia" panose="02030602050306030303" pitchFamily="18" charset="0"/>
                  </a:rPr>
                  <a:t>g bay khỏi nòng súng với tốc </a:t>
                </a:r>
                <a:r>
                  <a:rPr lang="en-US">
                    <a:latin typeface="Constantia" panose="02030602050306030303" pitchFamily="18" charset="0"/>
                  </a:rPr>
                  <a:t>độ 600 m/s</a:t>
                </a:r>
                <a:r>
                  <a:rPr lang="vi-VN">
                    <a:latin typeface="Constantia" panose="02030602050306030303" pitchFamily="18" charset="0"/>
                  </a:rPr>
                  <a:t>  và xuyên qua tấm gỗ dầy 10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:r>
                  <a:rPr lang="vi-VN">
                    <a:latin typeface="Constantia" panose="02030602050306030303" pitchFamily="18" charset="0"/>
                  </a:rPr>
                  <a:t>cm. Sau khi xuyên qua tấm gỗ viên đạn có tốc   </a:t>
                </a:r>
                <a:r>
                  <a:rPr lang="en-US">
                    <a:latin typeface="Constantia" panose="02030602050306030303" pitchFamily="18" charset="0"/>
                  </a:rPr>
                  <a:t>độ 400 </a:t>
                </a:r>
                <a:r>
                  <a:rPr lang="vi-VN">
                    <a:latin typeface="Constantia" panose="02030602050306030303" pitchFamily="18" charset="0"/>
                  </a:rPr>
                  <a:t>m/s. Lực cản trung bình của tấm gỗ là</a:t>
                </a: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A. </a:t>
                </a:r>
                <a:r>
                  <a:rPr lang="en-US">
                    <a:latin typeface="Constantia" panose="02030602050306030303" pitchFamily="18" charset="0"/>
                  </a:rPr>
                  <a:t>2</a:t>
                </a:r>
                <a:r>
                  <a:rPr lang="vi-VN">
                    <a:latin typeface="Constantia" panose="02030602050306030303" pitchFamily="18" charset="0"/>
                  </a:rPr>
                  <a:t>0000N</a:t>
                </a:r>
                <a:r>
                  <a:rPr lang="en-US">
                    <a:latin typeface="Constantia" panose="02030602050306030303" pitchFamily="18" charset="0"/>
                  </a:rPr>
                  <a:t>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</a:t>
                </a:r>
                <a:r>
                  <a:rPr lang="vi-VN">
                    <a:latin typeface="Constantia" panose="02030602050306030303" pitchFamily="18" charset="0"/>
                  </a:rPr>
                  <a:t>B. </a:t>
                </a:r>
                <a:r>
                  <a:rPr lang="en-US">
                    <a:latin typeface="Constantia" panose="02030602050306030303" pitchFamily="18" charset="0"/>
                  </a:rPr>
                  <a:t>15</a:t>
                </a:r>
                <a:r>
                  <a:rPr lang="vi-VN">
                    <a:latin typeface="Constantia" panose="02030602050306030303" pitchFamily="18" charset="0"/>
                  </a:rPr>
                  <a:t>000N</a:t>
                </a:r>
                <a:r>
                  <a:rPr lang="en-US">
                    <a:latin typeface="Constantia" panose="02030602050306030303" pitchFamily="18" charset="0"/>
                  </a:rPr>
                  <a:t>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C.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:r>
                  <a:rPr lang="vi-VN">
                    <a:latin typeface="Constantia" panose="02030602050306030303" pitchFamily="18" charset="0"/>
                  </a:rPr>
                  <a:t>1</a:t>
                </a:r>
                <a:r>
                  <a:rPr lang="en-US">
                    <a:latin typeface="Constantia" panose="02030602050306030303" pitchFamily="18" charset="0"/>
                  </a:rPr>
                  <a:t>0</a:t>
                </a:r>
                <a:r>
                  <a:rPr lang="vi-VN">
                    <a:latin typeface="Constantia" panose="02030602050306030303" pitchFamily="18" charset="0"/>
                  </a:rPr>
                  <a:t>000N</a:t>
                </a:r>
                <a:r>
                  <a:rPr lang="en-US">
                    <a:latin typeface="Constantia" panose="02030602050306030303" pitchFamily="18" charset="0"/>
                  </a:rPr>
                  <a:t>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</a:t>
                </a:r>
                <a:r>
                  <a:rPr lang="vi-VN">
                    <a:latin typeface="Constantia" panose="02030602050306030303" pitchFamily="18" charset="0"/>
                  </a:rPr>
                  <a:t>D.</a:t>
                </a:r>
                <a:r>
                  <a:rPr lang="en-US">
                    <a:latin typeface="Constantia" panose="02030602050306030303" pitchFamily="18" charset="0"/>
                  </a:rPr>
                  <a:t> 5000</a:t>
                </a:r>
                <a:r>
                  <a:rPr lang="vi-VN">
                    <a:latin typeface="Constantia" panose="02030602050306030303" pitchFamily="18" charset="0"/>
                  </a:rPr>
                  <a:t>N</a:t>
                </a:r>
                <a:r>
                  <a:rPr lang="en-US">
                    <a:latin typeface="Constantia" panose="02030602050306030303" pitchFamily="18" charset="0"/>
                  </a:rPr>
                  <a:t>.</a:t>
                </a:r>
                <a:endParaRPr lang="vi-VN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đáp án C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Theo định lý động năng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A</a:t>
                </a:r>
                <a:r>
                  <a:rPr lang="en-US" baseline="-25000">
                    <a:solidFill>
                      <a:srgbClr val="7030A0"/>
                    </a:solidFill>
                  </a:rPr>
                  <a:t>FC</a:t>
                </a:r>
                <a:r>
                  <a:rPr lang="en-US">
                    <a:solidFill>
                      <a:srgbClr val="7030A0"/>
                    </a:solidFill>
                  </a:rPr>
                  <a:t> = - F</a:t>
                </a:r>
                <a:r>
                  <a:rPr lang="en-US" baseline="-25000">
                    <a:solidFill>
                      <a:srgbClr val="7030A0"/>
                    </a:solidFill>
                  </a:rPr>
                  <a:t>C</a:t>
                </a:r>
                <a:r>
                  <a:rPr lang="en-US">
                    <a:solidFill>
                      <a:srgbClr val="7030A0"/>
                    </a:solidFill>
                  </a:rPr>
                  <a:t> . s</a:t>
                </a:r>
              </a:p>
              <a:p>
                <a:pPr marL="0" indent="0">
                  <a:buNone/>
                </a:pPr>
                <a:r>
                  <a:rPr lang="en-US" sz="2600">
                    <a:solidFill>
                      <a:srgbClr val="7030A0"/>
                    </a:solidFill>
                  </a:rPr>
                  <a:t>F</a:t>
                </a:r>
                <a:r>
                  <a:rPr lang="en-US" sz="2600" baseline="-25000">
                    <a:solidFill>
                      <a:srgbClr val="7030A0"/>
                    </a:solidFill>
                  </a:rPr>
                  <a:t>C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6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 </m:t>
                        </m:r>
                        <m:sSubSup>
                          <m:sSubSupPr>
                            <m:ctrlP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sSubSup>
                          <m:sSubSupPr>
                            <m:ctrlP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)</m:t>
                        </m:r>
                      </m:num>
                      <m:den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6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6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.  0,01( </m:t>
                        </m:r>
                        <m:sSup>
                          <m:sSupPr>
                            <m:ctrlP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400</m:t>
                            </m:r>
                          </m:e>
                          <m:sup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p>
                          <m:sSupPr>
                            <m:ctrlP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600</m:t>
                            </m:r>
                          </m:e>
                          <m:sup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) </m:t>
                        </m:r>
                      </m:num>
                      <m:den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− 0,1</m:t>
                        </m:r>
                      </m:den>
                    </m:f>
                    <m:r>
                      <a:rPr lang="en-US" sz="2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6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10000 (N)</a:t>
                </a: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10444544" cy="5013960"/>
              </a:xfrm>
              <a:prstGeom prst="rect">
                <a:avLst/>
              </a:prstGeom>
              <a:blipFill>
                <a:blip r:embed="rId2"/>
                <a:stretch>
                  <a:fillRect l="-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54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10444544" cy="4861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6 : Một vật 200g đang chuyển động với động năng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 250</m:t>
                    </m:r>
                  </m:oMath>
                </a14:m>
                <a:r>
                  <a:rPr lang="en-US">
                    <a:latin typeface="Constantia" panose="02030602050306030303" pitchFamily="18" charset="0"/>
                  </a:rPr>
                  <a:t> J. </a:t>
                </a:r>
              </a:p>
              <a:p>
                <a:pPr marL="0" indent="0"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Động lượng của vật có độ lớn là </a:t>
                </a:r>
                <a:endParaRPr lang="vi-VN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A. </a:t>
                </a:r>
                <a:r>
                  <a:rPr lang="en-US">
                    <a:latin typeface="Constantia" panose="02030602050306030303" pitchFamily="18" charset="0"/>
                  </a:rPr>
                  <a:t>5</a:t>
                </a:r>
                <a:r>
                  <a:rPr lang="vi-VN">
                    <a:latin typeface="Constantia" panose="02030602050306030303" pitchFamily="18" charset="0"/>
                  </a:rPr>
                  <a:t>0</a:t>
                </a:r>
                <a:r>
                  <a:rPr lang="en-US">
                    <a:latin typeface="Constantia" panose="02030602050306030303" pitchFamily="18" charset="0"/>
                  </a:rPr>
                  <a:t> kgm/s.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</a:t>
                </a:r>
                <a:r>
                  <a:rPr lang="vi-VN">
                    <a:latin typeface="Constantia" panose="02030602050306030303" pitchFamily="18" charset="0"/>
                  </a:rPr>
                  <a:t>B. </a:t>
                </a:r>
                <a:r>
                  <a:rPr lang="en-US">
                    <a:latin typeface="Constantia" panose="02030602050306030303" pitchFamily="18" charset="0"/>
                  </a:rPr>
                  <a:t>25 kgm/s.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C.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:r>
                  <a:rPr lang="vi-VN">
                    <a:latin typeface="Constantia" panose="02030602050306030303" pitchFamily="18" charset="0"/>
                  </a:rPr>
                  <a:t>1</a:t>
                </a:r>
                <a:r>
                  <a:rPr lang="en-US">
                    <a:latin typeface="Constantia" panose="02030602050306030303" pitchFamily="18" charset="0"/>
                  </a:rPr>
                  <a:t>0 kgm/s.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</a:t>
                </a:r>
                <a:r>
                  <a:rPr lang="vi-VN">
                    <a:latin typeface="Constantia" panose="02030602050306030303" pitchFamily="18" charset="0"/>
                  </a:rPr>
                  <a:t>D.</a:t>
                </a:r>
                <a:r>
                  <a:rPr lang="en-US">
                    <a:latin typeface="Constantia" panose="02030602050306030303" pitchFamily="18" charset="0"/>
                  </a:rPr>
                  <a:t> 5 kgm/s.</a:t>
                </a:r>
                <a:endParaRPr lang="vi-VN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đáp án C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 ta có  p</a:t>
                </a:r>
                <a:r>
                  <a:rPr lang="en-US" baseline="30000">
                    <a:solidFill>
                      <a:srgbClr val="7030A0"/>
                    </a:solidFill>
                  </a:rPr>
                  <a:t>2</a:t>
                </a:r>
                <a:r>
                  <a:rPr lang="en-US">
                    <a:solidFill>
                      <a:srgbClr val="7030A0"/>
                    </a:solidFill>
                  </a:rPr>
                  <a:t> = 2mW</a:t>
                </a:r>
                <a:r>
                  <a:rPr lang="en-US" baseline="-25000">
                    <a:solidFill>
                      <a:srgbClr val="7030A0"/>
                    </a:solidFill>
                  </a:rPr>
                  <a:t>đ</a:t>
                </a:r>
                <a:r>
                  <a:rPr lang="en-US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p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2. 0,2.250 </m:t>
                        </m:r>
                      </m:e>
                    </m:rad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= 10 (kgm/s)</a:t>
                </a:r>
              </a:p>
              <a:p>
                <a:pPr marL="0" indent="0">
                  <a:buNone/>
                </a:pPr>
                <a:endParaRPr lang="en-US" sz="20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10444544" cy="4861560"/>
              </a:xfrm>
              <a:prstGeom prst="rect">
                <a:avLst/>
              </a:prstGeom>
              <a:blipFill>
                <a:blip r:embed="rId2"/>
                <a:stretch>
                  <a:fillRect l="-934" t="-1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56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10444544" cy="56235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7 : </a:t>
                </a:r>
                <a:r>
                  <a:rPr lang="vi-VN">
                    <a:latin typeface="Constantia" panose="02030602050306030303" pitchFamily="18" charset="0"/>
                  </a:rPr>
                  <a:t>Một đầu đạn nằm yên sau đó nổ thành 2 mảnh </a:t>
                </a:r>
                <a:r>
                  <a:rPr lang="en-US">
                    <a:latin typeface="Constantia" panose="02030602050306030303" pitchFamily="18" charset="0"/>
                  </a:rPr>
                  <a:t>, mảnh I </a:t>
                </a:r>
                <a:r>
                  <a:rPr lang="vi-VN">
                    <a:latin typeface="Constantia" panose="02030602050306030303" pitchFamily="18" charset="0"/>
                  </a:rPr>
                  <a:t>có khối lượng  gấp 2 mảnh </a:t>
                </a:r>
                <a:r>
                  <a:rPr lang="en-US">
                    <a:latin typeface="Constantia" panose="02030602050306030303" pitchFamily="18" charset="0"/>
                  </a:rPr>
                  <a:t>II</a:t>
                </a:r>
                <a:r>
                  <a:rPr lang="vi-VN">
                    <a:latin typeface="Constantia" panose="02030602050306030303" pitchFamily="18" charset="0"/>
                  </a:rPr>
                  <a:t>. Cho động năng tổng cộng là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. Động năng của mảnh bé là</a:t>
                </a:r>
                <a:r>
                  <a:rPr lang="en-US">
                    <a:latin typeface="Constantia" panose="02030602050306030303" pitchFamily="18" charset="0"/>
                  </a:rPr>
                  <a:t> </a:t>
                </a:r>
                <a:endParaRPr lang="vi-VN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	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</a:t>
                </a:r>
                <a:r>
                  <a:rPr lang="vi-VN">
                    <a:latin typeface="Constantia" panose="02030602050306030303" pitchFamily="18" charset="0"/>
                  </a:rPr>
                  <a:t>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 			</a:t>
                </a: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	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 		    </a:t>
                </a:r>
                <a:r>
                  <a:rPr lang="en-US">
                    <a:latin typeface="Constantia" panose="02030602050306030303" pitchFamily="18" charset="0"/>
                  </a:rPr>
                  <a:t>			</a:t>
                </a:r>
                <a:r>
                  <a:rPr lang="vi-VN">
                    <a:latin typeface="Constantia" panose="02030602050306030303" pitchFamily="18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vi-VN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endParaRPr lang="en-US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Kết quả là đáp án B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 ta có  lúc đầu vật đứng yên, đạn nổ là hệ cô lập nên động lượng được bảo toàn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𝑠𝑎𝑢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𝑡𝑟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ướ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 nên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2m</a:t>
                </a:r>
                <a:r>
                  <a:rPr lang="en-US" baseline="-250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1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W</a:t>
                </a:r>
                <a:r>
                  <a:rPr lang="en-US" baseline="-250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đ1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2m</a:t>
                </a:r>
                <a:r>
                  <a:rPr lang="en-US" baseline="-250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2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W</a:t>
                </a:r>
                <a:r>
                  <a:rPr lang="en-US" baseline="-25000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đ2 </a:t>
                </a:r>
                <a:endParaRPr lang="en-US">
                  <a:solidFill>
                    <a:srgbClr val="7030A0"/>
                  </a:solidFill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</a:rPr>
                  <a:t>m</a:t>
                </a:r>
                <a:r>
                  <a:rPr lang="en-US" baseline="-25000">
                    <a:solidFill>
                      <a:srgbClr val="7030A0"/>
                    </a:solidFill>
                  </a:rPr>
                  <a:t>1</a:t>
                </a:r>
                <a:r>
                  <a:rPr lang="en-US">
                    <a:solidFill>
                      <a:srgbClr val="7030A0"/>
                    </a:solidFill>
                  </a:rPr>
                  <a:t> = 2m</a:t>
                </a:r>
                <a:r>
                  <a:rPr lang="en-US" baseline="-25000">
                    <a:solidFill>
                      <a:srgbClr val="7030A0"/>
                    </a:solidFill>
                  </a:rPr>
                  <a:t>2</a:t>
                </a:r>
                <a:r>
                  <a:rPr lang="en-US">
                    <a:solidFill>
                      <a:srgbClr val="7030A0"/>
                    </a:solidFill>
                  </a:rPr>
                  <a:t> nên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đ1</a:t>
                </a:r>
                <a:r>
                  <a:rPr lang="en-US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đ2 </a:t>
                </a:r>
                <a:r>
                  <a:rPr lang="en-US">
                    <a:solidFill>
                      <a:srgbClr val="7030A0"/>
                    </a:solidFill>
                  </a:rPr>
                  <a:t> với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đ1</a:t>
                </a:r>
                <a:r>
                  <a:rPr lang="en-US">
                    <a:solidFill>
                      <a:srgbClr val="7030A0"/>
                    </a:solidFill>
                  </a:rPr>
                  <a:t> +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đ2</a:t>
                </a:r>
                <a:r>
                  <a:rPr lang="en-US">
                    <a:solidFill>
                      <a:srgbClr val="7030A0"/>
                    </a:solidFill>
                  </a:rPr>
                  <a:t> =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</a:t>
                </a: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đ2</a:t>
                </a:r>
                <a:r>
                  <a:rPr lang="en-US">
                    <a:solidFill>
                      <a:srgbClr val="7030A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W</a:t>
                </a:r>
                <a:r>
                  <a:rPr lang="en-US" baseline="-25000">
                    <a:solidFill>
                      <a:srgbClr val="7030A0"/>
                    </a:solidFill>
                  </a:rPr>
                  <a:t>đ</a:t>
                </a:r>
                <a:endParaRPr lang="en-US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10444544" cy="5623560"/>
              </a:xfrm>
              <a:prstGeom prst="rect">
                <a:avLst/>
              </a:prstGeom>
              <a:blipFill>
                <a:blip r:embed="rId2"/>
                <a:stretch>
                  <a:fillRect l="-584" b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50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3"/>
          <p:cNvSpPr txBox="1">
            <a:spLocks/>
          </p:cNvSpPr>
          <p:nvPr/>
        </p:nvSpPr>
        <p:spPr>
          <a:xfrm>
            <a:off x="1244537" y="6057900"/>
            <a:ext cx="9852343" cy="16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n-US" sz="2000"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 txBox="1">
                <a:spLocks/>
              </p:cNvSpPr>
              <p:nvPr/>
            </p:nvSpPr>
            <p:spPr>
              <a:xfrm>
                <a:off x="1212468" y="624840"/>
                <a:ext cx="10444544" cy="54330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46888" indent="-246888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039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5214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53896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tx1"/>
                  </a:buClr>
                  <a:buFont typeface="Arial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>
                    <a:latin typeface="Constantia" panose="02030602050306030303" pitchFamily="18" charset="0"/>
                  </a:rPr>
                  <a:t>Câu 8 : Một vật khối lượng 100g được thả rơi tự do từ một nơi có gia tốc trọng trường 10 m/s</a:t>
                </a:r>
                <a:r>
                  <a:rPr lang="en-US" baseline="30000">
                    <a:latin typeface="Constantia" panose="02030602050306030303" pitchFamily="18" charset="0"/>
                  </a:rPr>
                  <a:t>2</a:t>
                </a:r>
                <a:r>
                  <a:rPr lang="en-US">
                    <a:latin typeface="Constantia" panose="02030602050306030303" pitchFamily="18" charset="0"/>
                  </a:rPr>
                  <a:t> , quãng đường vật rơi được khi động năng của vật đạt đến 1,5 J là </a:t>
                </a:r>
                <a:endParaRPr lang="vi-VN"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A. </a:t>
                </a:r>
                <a:r>
                  <a:rPr lang="en-US">
                    <a:latin typeface="Constantia" panose="02030602050306030303" pitchFamily="18" charset="0"/>
                  </a:rPr>
                  <a:t>1 m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  <a:r>
                  <a:rPr lang="en-US">
                    <a:latin typeface="Constantia" panose="02030602050306030303" pitchFamily="18" charset="0"/>
                  </a:rPr>
                  <a:t>			</a:t>
                </a:r>
                <a:r>
                  <a:rPr lang="vi-VN">
                    <a:latin typeface="Constantia" panose="02030602050306030303" pitchFamily="18" charset="0"/>
                  </a:rPr>
                  <a:t>B. </a:t>
                </a:r>
                <a:r>
                  <a:rPr lang="en-US">
                    <a:latin typeface="Constantia" panose="02030602050306030303" pitchFamily="18" charset="0"/>
                  </a:rPr>
                  <a:t>1,5 m</a:t>
                </a:r>
                <a:r>
                  <a:rPr lang="vi-VN">
                    <a:latin typeface="Constantia" panose="02030602050306030303" pitchFamily="18" charset="0"/>
                  </a:rPr>
                  <a:t>			</a:t>
                </a:r>
              </a:p>
              <a:p>
                <a:pPr marL="0" indent="0">
                  <a:buNone/>
                </a:pPr>
                <a:r>
                  <a:rPr lang="vi-VN">
                    <a:latin typeface="Constantia" panose="02030602050306030303" pitchFamily="18" charset="0"/>
                  </a:rPr>
                  <a:t>C. </a:t>
                </a:r>
                <a:r>
                  <a:rPr lang="en-US">
                    <a:latin typeface="Constantia" panose="02030602050306030303" pitchFamily="18" charset="0"/>
                  </a:rPr>
                  <a:t>2 m</a:t>
                </a:r>
                <a:r>
                  <a:rPr lang="vi-VN">
                    <a:latin typeface="Constantia" panose="02030602050306030303" pitchFamily="18" charset="0"/>
                  </a:rPr>
                  <a:t>		    </a:t>
                </a:r>
                <a:r>
                  <a:rPr lang="en-US">
                    <a:latin typeface="Constantia" panose="02030602050306030303" pitchFamily="18" charset="0"/>
                  </a:rPr>
                  <a:t>				</a:t>
                </a:r>
                <a:r>
                  <a:rPr lang="vi-VN">
                    <a:latin typeface="Constantia" panose="02030602050306030303" pitchFamily="18" charset="0"/>
                  </a:rPr>
                  <a:t>D. </a:t>
                </a:r>
                <a:r>
                  <a:rPr lang="en-US">
                    <a:latin typeface="Constantia" panose="02030602050306030303" pitchFamily="18" charset="0"/>
                  </a:rPr>
                  <a:t>2,5 m</a:t>
                </a:r>
              </a:p>
              <a:p>
                <a:pPr marL="0" indent="0">
                  <a:buNone/>
                </a:pPr>
                <a:endParaRPr lang="en-US">
                  <a:solidFill>
                    <a:srgbClr val="7030A0"/>
                  </a:solidFill>
                  <a:latin typeface="Constantia" panose="02030602050306030303" pitchFamily="18" charset="0"/>
                </a:endParaRP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Kết quả là đáp án B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Dùng định lý động năng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đ2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đ1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A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đ</m:t>
                        </m:r>
                      </m:sub>
                    </m:sSub>
                  </m:oMath>
                </a14:m>
                <a:r>
                  <a:rPr lang="en-US">
                    <a:latin typeface="Constantia" panose="02030602050306030303" pitchFamily="18" charset="0"/>
                  </a:rPr>
                  <a:t> </a:t>
                </a: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= mgh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đ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𝑚𝑔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1,5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0,1. 10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7030A0"/>
                    </a:solidFill>
                    <a:latin typeface="Constantia" panose="02030602050306030303" pitchFamily="18" charset="0"/>
                  </a:rPr>
                  <a:t> = 1,5 (m)</a:t>
                </a:r>
              </a:p>
            </p:txBody>
          </p:sp>
        </mc:Choice>
        <mc:Fallback xmlns="">
          <p:sp>
            <p:nvSpPr>
              <p:cNvPr id="5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468" y="624840"/>
                <a:ext cx="10444544" cy="5433060"/>
              </a:xfrm>
              <a:prstGeom prst="rect">
                <a:avLst/>
              </a:prstGeom>
              <a:blipFill>
                <a:blip r:embed="rId2"/>
                <a:stretch>
                  <a:fillRect l="-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5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.potx" id="{C5FD5170-17AC-4815-968A-FDC1AAB6E99D}" vid="{74C691A5-1550-4555-B870-169F3443F41D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ED80E12-3BE9-4746-820E-FFB249F467F2}">
  <ds:schemaRefs>
    <ds:schemaRef ds:uri="http://schemas.microsoft.com/office/2006/documentManagement/types"/>
    <ds:schemaRef ds:uri="4873beb7-5857-4685-be1f-d57550cc96cc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book education presentation (widescreen)</Template>
  <TotalTime>2606</TotalTime>
  <Words>259</Words>
  <Application>Microsoft Office PowerPoint</Application>
  <PresentationFormat>Custom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Constantia</vt:lpstr>
      <vt:lpstr>Books Classic 16x9</vt:lpstr>
      <vt:lpstr>VẬT LÝ 10</vt:lpstr>
      <vt:lpstr>Phần  :  Động năng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VẬT LÝ 10</dc:title>
  <dc:creator>Hai Huynh Minh</dc:creator>
  <cp:lastModifiedBy>ASUS</cp:lastModifiedBy>
  <cp:revision>99</cp:revision>
  <dcterms:created xsi:type="dcterms:W3CDTF">2019-08-25T13:02:58Z</dcterms:created>
  <dcterms:modified xsi:type="dcterms:W3CDTF">2020-04-06T13:31:48Z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