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1" r:id="rId5"/>
    <p:sldId id="263" r:id="rId6"/>
    <p:sldId id="264" r:id="rId7"/>
    <p:sldId id="268" r:id="rId8"/>
    <p:sldId id="269" r:id="rId9"/>
    <p:sldId id="265" r:id="rId10"/>
    <p:sldId id="267" r:id="rId11"/>
    <p:sldId id="266" r:id="rId12"/>
    <p:sldId id="25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59" r:id="rId27"/>
    <p:sldId id="283" r:id="rId28"/>
    <p:sldId id="284" r:id="rId29"/>
    <p:sldId id="286" r:id="rId30"/>
    <p:sldId id="285" r:id="rId31"/>
    <p:sldId id="314" r:id="rId32"/>
    <p:sldId id="287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260" r:id="rId56"/>
    <p:sldId id="311" r:id="rId57"/>
    <p:sldId id="312" r:id="rId58"/>
    <p:sldId id="313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EE464B4-BED7-4660-944A-CE29C8104C03}" type="datetimeFigureOut">
              <a:rPr lang="en-US" smtClean="0"/>
              <a:pPr/>
              <a:t>07-Mar-18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BÀI </a:t>
            </a:r>
            <a:r>
              <a:rPr lang="en-US" dirty="0" err="1" smtClean="0"/>
              <a:t>GiẢNG</a:t>
            </a:r>
            <a:r>
              <a:rPr lang="en-US" dirty="0" smtClean="0"/>
              <a:t> ĐỒ THỊ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7406640" cy="3179136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r>
              <a:rPr lang="en-US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Floyd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(</a:t>
            </a:r>
            <a:r>
              <a:rPr lang="en-US" dirty="0" err="1" smtClean="0"/>
              <a:t>i,j</a:t>
            </a:r>
            <a:r>
              <a:rPr lang="en-US" dirty="0" smtClean="0"/>
              <a:t>)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A(</a:t>
            </a:r>
            <a:r>
              <a:rPr lang="en-US" dirty="0" err="1" smtClean="0"/>
              <a:t>i,j</a:t>
            </a:r>
            <a:r>
              <a:rPr lang="en-US" dirty="0" smtClean="0"/>
              <a:t>)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.</a:t>
            </a:r>
          </a:p>
          <a:p>
            <a:r>
              <a:rPr lang="en-US" dirty="0" smtClean="0"/>
              <a:t>Ta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ước</a:t>
            </a:r>
            <a:r>
              <a:rPr lang="en-US" dirty="0" smtClean="0"/>
              <a:t> A(</a:t>
            </a:r>
            <a:r>
              <a:rPr lang="en-US" dirty="0" err="1" smtClean="0"/>
              <a:t>i,j</a:t>
            </a:r>
            <a:r>
              <a:rPr lang="en-US" dirty="0" smtClean="0"/>
              <a:t>) = ∞, </a:t>
            </a:r>
            <a:r>
              <a:rPr lang="en-US" dirty="0" err="1" smtClean="0"/>
              <a:t>nếu</a:t>
            </a:r>
            <a:r>
              <a:rPr lang="en-US" dirty="0" smtClean="0"/>
              <a:t> (</a:t>
            </a:r>
            <a:r>
              <a:rPr lang="en-US" dirty="0" err="1" smtClean="0"/>
              <a:t>i,j</a:t>
            </a:r>
            <a:r>
              <a:rPr lang="en-US" dirty="0" smtClean="0"/>
              <a:t>)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E. A(</a:t>
            </a:r>
            <a:r>
              <a:rPr lang="en-US" dirty="0" err="1" smtClean="0"/>
              <a:t>i,i</a:t>
            </a:r>
            <a:r>
              <a:rPr lang="en-US" dirty="0" smtClean="0"/>
              <a:t>) = 0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Cho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G.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86200"/>
            <a:ext cx="7498080" cy="2362200"/>
          </a:xfrm>
        </p:spPr>
        <p:txBody>
          <a:bodyPr/>
          <a:lstStyle/>
          <a:p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: A B E M</a:t>
            </a:r>
          </a:p>
          <a:p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: (A, B) + (B, E) + (E, M) = 12 + 9 + 26 </a:t>
            </a:r>
            <a:r>
              <a:rPr lang="en-US" smtClean="0"/>
              <a:t>= </a:t>
            </a:r>
            <a:r>
              <a:rPr lang="en-US" smtClean="0"/>
              <a:t>47</a:t>
            </a:r>
            <a:endParaRPr lang="en-US" dirty="0"/>
          </a:p>
        </p:txBody>
      </p:sp>
      <p:pic>
        <p:nvPicPr>
          <p:cNvPr id="1028" name="Picture 4" descr="C:\Documents and Settings\mr Nam\Desktop\main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295400"/>
            <a:ext cx="3844770" cy="2406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: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G (E,V).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s,t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V.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s </a:t>
            </a:r>
            <a:r>
              <a:rPr lang="en-US" dirty="0" err="1" smtClean="0"/>
              <a:t>và</a:t>
            </a:r>
            <a:r>
              <a:rPr lang="en-US" dirty="0" smtClean="0"/>
              <a:t> 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: A H G M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743200" y="3048000"/>
            <a:ext cx="4267200" cy="2514600"/>
            <a:chOff x="2743200" y="3124200"/>
            <a:chExt cx="4625897" cy="2895600"/>
          </a:xfrm>
        </p:grpSpPr>
        <p:pic>
          <p:nvPicPr>
            <p:cNvPr id="4" name="Picture 4" descr="C:\Documents and Settings\mr Nam\Desktop\main.gif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743200" y="3124200"/>
              <a:ext cx="4625897" cy="2895600"/>
            </a:xfrm>
            <a:prstGeom prst="rect">
              <a:avLst/>
            </a:prstGeom>
            <a:noFill/>
          </p:spPr>
        </p:pic>
        <p:sp>
          <p:nvSpPr>
            <p:cNvPr id="5" name="Oval 4"/>
            <p:cNvSpPr/>
            <p:nvPr/>
          </p:nvSpPr>
          <p:spPr>
            <a:xfrm>
              <a:off x="2819400" y="3200400"/>
              <a:ext cx="533400" cy="457200"/>
            </a:xfrm>
            <a:prstGeom prst="ellipse">
              <a:avLst/>
            </a:prstGeom>
            <a:gradFill>
              <a:gsLst>
                <a:gs pos="0">
                  <a:schemeClr val="accent1">
                    <a:tint val="1000"/>
                    <a:alpha val="0"/>
                  </a:schemeClr>
                </a:gs>
                <a:gs pos="68000">
                  <a:schemeClr val="accent1">
                    <a:tint val="77000"/>
                  </a:schemeClr>
                </a:gs>
                <a:gs pos="81000">
                  <a:schemeClr val="accent1">
                    <a:tint val="79000"/>
                  </a:schemeClr>
                </a:gs>
                <a:gs pos="86000">
                  <a:schemeClr val="accent1">
                    <a:tint val="73000"/>
                  </a:schemeClr>
                </a:gs>
                <a:gs pos="100000">
                  <a:schemeClr val="accent1">
                    <a:tint val="35000"/>
                  </a:schemeClr>
                </a:gs>
              </a:gsLst>
            </a:gra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781800" y="5410200"/>
              <a:ext cx="533400" cy="457200"/>
            </a:xfrm>
            <a:prstGeom prst="ellipse">
              <a:avLst/>
            </a:prstGeom>
            <a:gradFill>
              <a:gsLst>
                <a:gs pos="0">
                  <a:schemeClr val="accent1">
                    <a:tint val="1000"/>
                    <a:alpha val="0"/>
                  </a:schemeClr>
                </a:gs>
                <a:gs pos="68000">
                  <a:schemeClr val="accent1">
                    <a:tint val="77000"/>
                  </a:schemeClr>
                </a:gs>
                <a:gs pos="81000">
                  <a:schemeClr val="accent1">
                    <a:tint val="79000"/>
                  </a:schemeClr>
                </a:gs>
                <a:gs pos="86000">
                  <a:schemeClr val="accent1">
                    <a:tint val="73000"/>
                  </a:schemeClr>
                </a:gs>
                <a:gs pos="100000">
                  <a:schemeClr val="accent1">
                    <a:tint val="35000"/>
                  </a:schemeClr>
                </a:gs>
              </a:gsLst>
            </a:gra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733800"/>
            <a:ext cx="7498080" cy="2514600"/>
          </a:xfrm>
        </p:spPr>
        <p:txBody>
          <a:bodyPr>
            <a:normAutofit/>
          </a:bodyPr>
          <a:lstStyle/>
          <a:p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: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A H G M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con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</a:p>
          <a:p>
            <a:r>
              <a:rPr lang="en-US" dirty="0" smtClean="0"/>
              <a:t>A H G, H G M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đđ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2819400" y="1295400"/>
            <a:ext cx="4267200" cy="2514600"/>
            <a:chOff x="2743200" y="3124200"/>
            <a:chExt cx="4625897" cy="2895600"/>
          </a:xfrm>
        </p:grpSpPr>
        <p:pic>
          <p:nvPicPr>
            <p:cNvPr id="4" name="Picture 4" descr="C:\Documents and Settings\mr Nam\Desktop\main.gif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743200" y="3124200"/>
              <a:ext cx="4625897" cy="2895600"/>
            </a:xfrm>
            <a:prstGeom prst="rect">
              <a:avLst/>
            </a:prstGeom>
            <a:noFill/>
          </p:spPr>
        </p:pic>
        <p:sp>
          <p:nvSpPr>
            <p:cNvPr id="5" name="Oval 4"/>
            <p:cNvSpPr/>
            <p:nvPr/>
          </p:nvSpPr>
          <p:spPr>
            <a:xfrm>
              <a:off x="2819400" y="3200400"/>
              <a:ext cx="533400" cy="457200"/>
            </a:xfrm>
            <a:prstGeom prst="ellipse">
              <a:avLst/>
            </a:prstGeom>
            <a:gradFill>
              <a:gsLst>
                <a:gs pos="0">
                  <a:schemeClr val="accent1">
                    <a:tint val="1000"/>
                    <a:alpha val="0"/>
                  </a:schemeClr>
                </a:gs>
                <a:gs pos="68000">
                  <a:schemeClr val="accent1">
                    <a:tint val="77000"/>
                  </a:schemeClr>
                </a:gs>
                <a:gs pos="81000">
                  <a:schemeClr val="accent1">
                    <a:tint val="79000"/>
                  </a:schemeClr>
                </a:gs>
                <a:gs pos="86000">
                  <a:schemeClr val="accent1">
                    <a:tint val="73000"/>
                  </a:schemeClr>
                </a:gs>
                <a:gs pos="100000">
                  <a:schemeClr val="accent1">
                    <a:tint val="35000"/>
                  </a:schemeClr>
                </a:gs>
              </a:gsLst>
            </a:gra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781800" y="5410200"/>
              <a:ext cx="533400" cy="457200"/>
            </a:xfrm>
            <a:prstGeom prst="ellipse">
              <a:avLst/>
            </a:prstGeom>
            <a:gradFill>
              <a:gsLst>
                <a:gs pos="0">
                  <a:schemeClr val="accent1">
                    <a:tint val="1000"/>
                    <a:alpha val="0"/>
                  </a:schemeClr>
                </a:gs>
                <a:gs pos="68000">
                  <a:schemeClr val="accent1">
                    <a:tint val="77000"/>
                  </a:schemeClr>
                </a:gs>
                <a:gs pos="81000">
                  <a:schemeClr val="accent1">
                    <a:tint val="79000"/>
                  </a:schemeClr>
                </a:gs>
                <a:gs pos="86000">
                  <a:schemeClr val="accent1">
                    <a:tint val="73000"/>
                  </a:schemeClr>
                </a:gs>
                <a:gs pos="100000">
                  <a:schemeClr val="accent1">
                    <a:tint val="35000"/>
                  </a:schemeClr>
                </a:gs>
              </a:gsLst>
            </a:gra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s </a:t>
            </a:r>
            <a:r>
              <a:rPr lang="en-US" dirty="0" err="1" smtClean="0"/>
              <a:t>và</a:t>
            </a:r>
            <a:r>
              <a:rPr lang="en-US" dirty="0" smtClean="0"/>
              <a:t> t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chu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Gọi</a:t>
            </a:r>
            <a:r>
              <a:rPr lang="en-US" dirty="0" smtClean="0"/>
              <a:t> D[</a:t>
            </a:r>
            <a:r>
              <a:rPr lang="en-US" dirty="0" err="1" smtClean="0"/>
              <a:t>s,t</a:t>
            </a:r>
            <a:r>
              <a:rPr lang="en-US" dirty="0" smtClean="0"/>
              <a:t>]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đến</a:t>
            </a:r>
            <a:r>
              <a:rPr lang="en-US" dirty="0" smtClean="0"/>
              <a:t> t.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ước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đến</a:t>
            </a:r>
            <a:r>
              <a:rPr lang="en-US" dirty="0" smtClean="0"/>
              <a:t> t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			D[</a:t>
            </a:r>
            <a:r>
              <a:rPr lang="en-US" dirty="0" err="1" smtClean="0"/>
              <a:t>s,t</a:t>
            </a:r>
            <a:r>
              <a:rPr lang="en-US" dirty="0" smtClean="0"/>
              <a:t>] = ∞.</a:t>
            </a:r>
          </a:p>
          <a:p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t,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rằng</a:t>
            </a:r>
            <a:r>
              <a:rPr lang="en-US" dirty="0" smtClean="0"/>
              <a:t> </a:t>
            </a:r>
            <a:r>
              <a:rPr lang="en-US" dirty="0" err="1" smtClean="0"/>
              <a:t>luôn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t1 </a:t>
            </a:r>
            <a:r>
              <a:rPr lang="en-US" dirty="0" err="1" smtClean="0"/>
              <a:t>khác</a:t>
            </a:r>
            <a:r>
              <a:rPr lang="en-US" dirty="0" smtClean="0"/>
              <a:t> t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		D[</a:t>
            </a:r>
            <a:r>
              <a:rPr lang="en-US" dirty="0" err="1" smtClean="0"/>
              <a:t>s,t</a:t>
            </a:r>
            <a:r>
              <a:rPr lang="en-US" dirty="0" smtClean="0"/>
              <a:t>]=D[s,t1] + A[t1,t]</a:t>
            </a:r>
          </a:p>
          <a:p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ý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đến</a:t>
            </a:r>
            <a:r>
              <a:rPr lang="en-US" dirty="0" smtClean="0"/>
              <a:t> t,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t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t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t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(t</a:t>
            </a:r>
            <a:r>
              <a:rPr lang="en-US" baseline="-25000" dirty="0" smtClean="0"/>
              <a:t>1</a:t>
            </a:r>
            <a:r>
              <a:rPr lang="en-US" dirty="0" smtClean="0"/>
              <a:t>,t).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endCxn id="6" idx="2"/>
          </p:cNvCxnSpPr>
          <p:nvPr/>
        </p:nvCxnSpPr>
        <p:spPr>
          <a:xfrm flipV="1">
            <a:off x="1981200" y="2895600"/>
            <a:ext cx="4191000" cy="152400"/>
          </a:xfrm>
          <a:prstGeom prst="line">
            <a:avLst/>
          </a:prstGeom>
          <a:ln w="57150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066800" y="27432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S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172200" y="25908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V="1">
            <a:off x="1981200" y="2667000"/>
            <a:ext cx="2209800" cy="381000"/>
          </a:xfrm>
          <a:prstGeom prst="line">
            <a:avLst/>
          </a:prstGeom>
          <a:ln w="57150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6" idx="2"/>
          </p:cNvCxnSpPr>
          <p:nvPr/>
        </p:nvCxnSpPr>
        <p:spPr>
          <a:xfrm>
            <a:off x="4876800" y="2667000"/>
            <a:ext cx="1295400" cy="228600"/>
          </a:xfrm>
          <a:prstGeom prst="line">
            <a:avLst/>
          </a:prstGeom>
          <a:ln w="571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066800" y="27432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S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172200" y="25908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t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23622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</a:t>
            </a:r>
            <a:r>
              <a:rPr lang="en-US" sz="4000" baseline="-25000" dirty="0" smtClean="0"/>
              <a:t>1</a:t>
            </a:r>
            <a:endParaRPr lang="en-US" sz="1200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2590800" y="2438400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D(s,t</a:t>
            </a:r>
            <a:r>
              <a:rPr lang="en-US" baseline="-25000" dirty="0" smtClean="0"/>
              <a:t>1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181600" y="2362200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A(t</a:t>
            </a:r>
            <a:r>
              <a:rPr lang="en-US" sz="1600" baseline="-25000" dirty="0" smtClean="0"/>
              <a:t>1</a:t>
            </a:r>
            <a:r>
              <a:rPr lang="en-US" dirty="0" smtClean="0"/>
              <a:t>,t)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V="1">
            <a:off x="1981200" y="2667000"/>
            <a:ext cx="2209800" cy="381000"/>
          </a:xfrm>
          <a:prstGeom prst="line">
            <a:avLst/>
          </a:prstGeom>
          <a:ln w="571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6" idx="2"/>
          </p:cNvCxnSpPr>
          <p:nvPr/>
        </p:nvCxnSpPr>
        <p:spPr>
          <a:xfrm>
            <a:off x="4876800" y="2667000"/>
            <a:ext cx="1295400" cy="228600"/>
          </a:xfrm>
          <a:prstGeom prst="line">
            <a:avLst/>
          </a:prstGeom>
          <a:ln w="571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066800" y="27432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S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172200" y="25908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t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23622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</a:t>
            </a:r>
            <a:r>
              <a:rPr lang="en-US" sz="4000" baseline="-25000" dirty="0" smtClean="0"/>
              <a:t>1</a:t>
            </a:r>
            <a:endParaRPr lang="en-US" sz="1200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2590800" y="2438400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D(s,t</a:t>
            </a:r>
            <a:r>
              <a:rPr lang="en-US" baseline="-25000" dirty="0" smtClean="0"/>
              <a:t>1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181600" y="236220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A(t</a:t>
            </a:r>
            <a:r>
              <a:rPr lang="en-US" baseline="-25000" dirty="0" smtClean="0"/>
              <a:t>1</a:t>
            </a:r>
            <a:r>
              <a:rPr lang="en-US" dirty="0" smtClean="0"/>
              <a:t>,t)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914400" y="1905000"/>
            <a:ext cx="4191000" cy="1905000"/>
          </a:xfrm>
          <a:prstGeom prst="ellipse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81000" y="4038600"/>
            <a:ext cx="7321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Đi</a:t>
            </a:r>
            <a:r>
              <a:rPr lang="en-US" sz="3200" dirty="0" smtClean="0"/>
              <a:t> </a:t>
            </a:r>
            <a:r>
              <a:rPr lang="en-US" sz="3200" dirty="0" err="1" smtClean="0"/>
              <a:t>theo</a:t>
            </a:r>
            <a:r>
              <a:rPr lang="en-US" sz="3200" dirty="0" smtClean="0"/>
              <a:t> </a:t>
            </a:r>
            <a:r>
              <a:rPr lang="en-US" sz="3200" dirty="0" err="1" smtClean="0"/>
              <a:t>một</a:t>
            </a:r>
            <a:r>
              <a:rPr lang="en-US" sz="3200" dirty="0" smtClean="0"/>
              <a:t> </a:t>
            </a:r>
            <a:r>
              <a:rPr lang="en-US" sz="3200" dirty="0" err="1" smtClean="0"/>
              <a:t>đường</a:t>
            </a:r>
            <a:r>
              <a:rPr lang="en-US" sz="3200" dirty="0" smtClean="0"/>
              <a:t> </a:t>
            </a:r>
            <a:r>
              <a:rPr lang="en-US" sz="3200" dirty="0" err="1" smtClean="0"/>
              <a:t>đi</a:t>
            </a:r>
            <a:r>
              <a:rPr lang="en-US" sz="3200" dirty="0" smtClean="0"/>
              <a:t> </a:t>
            </a:r>
            <a:r>
              <a:rPr lang="en-US" sz="3200" dirty="0" err="1" smtClean="0"/>
              <a:t>ngắn</a:t>
            </a:r>
            <a:r>
              <a:rPr lang="en-US" sz="3200" dirty="0" smtClean="0"/>
              <a:t> </a:t>
            </a:r>
            <a:r>
              <a:rPr lang="en-US" sz="3200" dirty="0" err="1" smtClean="0"/>
              <a:t>nhất</a:t>
            </a:r>
            <a:r>
              <a:rPr lang="en-US" sz="3200" dirty="0" smtClean="0"/>
              <a:t> </a:t>
            </a:r>
            <a:r>
              <a:rPr lang="en-US" sz="3200" dirty="0" err="1" smtClean="0"/>
              <a:t>từ</a:t>
            </a:r>
            <a:r>
              <a:rPr lang="en-US" sz="3200" dirty="0" smtClean="0"/>
              <a:t> S </a:t>
            </a:r>
            <a:r>
              <a:rPr lang="en-US" sz="3200" dirty="0" err="1" smtClean="0"/>
              <a:t>đến</a:t>
            </a:r>
            <a:r>
              <a:rPr lang="en-US" sz="3200" dirty="0" smtClean="0"/>
              <a:t> t</a:t>
            </a:r>
            <a:r>
              <a:rPr lang="en-US" sz="3200" baseline="-25000" dirty="0" smtClean="0"/>
              <a:t>1</a:t>
            </a:r>
            <a:endParaRPr lang="en-US" sz="32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V="1">
            <a:off x="1981200" y="2667000"/>
            <a:ext cx="2209800" cy="381000"/>
          </a:xfrm>
          <a:prstGeom prst="line">
            <a:avLst/>
          </a:prstGeom>
          <a:ln w="571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6" idx="2"/>
          </p:cNvCxnSpPr>
          <p:nvPr/>
        </p:nvCxnSpPr>
        <p:spPr>
          <a:xfrm>
            <a:off x="4876800" y="2667000"/>
            <a:ext cx="1295400" cy="228600"/>
          </a:xfrm>
          <a:prstGeom prst="line">
            <a:avLst/>
          </a:prstGeom>
          <a:ln w="571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066800" y="27432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S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172200" y="25908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t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2362200"/>
            <a:ext cx="838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</a:t>
            </a:r>
            <a:r>
              <a:rPr lang="en-US" sz="4000" baseline="-25000" dirty="0" smtClean="0"/>
              <a:t>1</a:t>
            </a:r>
            <a:endParaRPr lang="en-US" sz="1200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2590800" y="2438400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D(s,t</a:t>
            </a:r>
            <a:r>
              <a:rPr lang="en-US" baseline="-25000" dirty="0" smtClean="0"/>
              <a:t>1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181600" y="236220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A(t</a:t>
            </a:r>
            <a:r>
              <a:rPr lang="en-US" baseline="-25000" dirty="0" smtClean="0"/>
              <a:t>1</a:t>
            </a:r>
            <a:r>
              <a:rPr lang="en-US" dirty="0" smtClean="0"/>
              <a:t>,t)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914400" y="1905000"/>
            <a:ext cx="4191000" cy="1905000"/>
          </a:xfrm>
          <a:prstGeom prst="ellipse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28600" y="4038600"/>
            <a:ext cx="6421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/>
              <a:t>Đi</a:t>
            </a:r>
            <a:r>
              <a:rPr lang="en-US" sz="2800" dirty="0" smtClean="0"/>
              <a:t> </a:t>
            </a:r>
            <a:r>
              <a:rPr lang="en-US" sz="2800" dirty="0" err="1" smtClean="0"/>
              <a:t>theo</a:t>
            </a:r>
            <a:r>
              <a:rPr lang="en-US" sz="2800" dirty="0" smtClean="0"/>
              <a:t> </a:t>
            </a:r>
            <a:r>
              <a:rPr lang="en-US" sz="2800" dirty="0" err="1" smtClean="0"/>
              <a:t>một</a:t>
            </a:r>
            <a:r>
              <a:rPr lang="en-US" sz="2800" dirty="0" smtClean="0"/>
              <a:t> </a:t>
            </a:r>
            <a:r>
              <a:rPr lang="en-US" sz="2800" dirty="0" err="1" smtClean="0"/>
              <a:t>đường</a:t>
            </a:r>
            <a:r>
              <a:rPr lang="en-US" sz="2800" dirty="0" smtClean="0"/>
              <a:t> </a:t>
            </a:r>
            <a:r>
              <a:rPr lang="en-US" sz="2800" dirty="0" err="1" smtClean="0"/>
              <a:t>đi</a:t>
            </a:r>
            <a:r>
              <a:rPr lang="en-US" sz="2800" dirty="0" smtClean="0"/>
              <a:t> </a:t>
            </a:r>
            <a:r>
              <a:rPr lang="en-US" sz="2800" dirty="0" err="1" smtClean="0"/>
              <a:t>ngắn</a:t>
            </a:r>
            <a:r>
              <a:rPr lang="en-US" sz="2800" dirty="0" smtClean="0"/>
              <a:t> </a:t>
            </a:r>
            <a:r>
              <a:rPr lang="en-US" sz="2800" dirty="0" err="1" smtClean="0"/>
              <a:t>nhất</a:t>
            </a:r>
            <a:r>
              <a:rPr lang="en-US" sz="2800" dirty="0" smtClean="0"/>
              <a:t> </a:t>
            </a:r>
            <a:r>
              <a:rPr lang="en-US" sz="2800" dirty="0" err="1" smtClean="0"/>
              <a:t>từ</a:t>
            </a:r>
            <a:r>
              <a:rPr lang="en-US" sz="2800" dirty="0" smtClean="0"/>
              <a:t> S </a:t>
            </a:r>
            <a:r>
              <a:rPr lang="en-US" sz="2800" dirty="0" err="1" smtClean="0"/>
              <a:t>đến</a:t>
            </a:r>
            <a:r>
              <a:rPr lang="en-US" sz="2800" dirty="0" smtClean="0"/>
              <a:t> t</a:t>
            </a:r>
            <a:r>
              <a:rPr lang="en-US" sz="2800" baseline="-25000" dirty="0" smtClean="0"/>
              <a:t>1</a:t>
            </a:r>
            <a:endParaRPr lang="en-US" sz="2800" baseline="-25000" dirty="0"/>
          </a:p>
        </p:txBody>
      </p:sp>
      <p:sp>
        <p:nvSpPr>
          <p:cNvPr id="12" name="TextBox 11"/>
          <p:cNvSpPr txBox="1"/>
          <p:nvPr/>
        </p:nvSpPr>
        <p:spPr>
          <a:xfrm>
            <a:off x="4876800" y="1600200"/>
            <a:ext cx="3799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Rồi</a:t>
            </a:r>
            <a:r>
              <a:rPr lang="en-US" sz="3200" dirty="0" smtClean="0"/>
              <a:t> </a:t>
            </a:r>
            <a:r>
              <a:rPr lang="en-US" sz="3200" dirty="0" err="1" smtClean="0"/>
              <a:t>theo</a:t>
            </a:r>
            <a:r>
              <a:rPr lang="en-US" sz="3200" dirty="0" smtClean="0"/>
              <a:t> </a:t>
            </a:r>
            <a:r>
              <a:rPr lang="en-US" sz="3200" dirty="0" err="1" smtClean="0"/>
              <a:t>cạnh</a:t>
            </a:r>
            <a:r>
              <a:rPr lang="en-US" sz="3200" dirty="0" smtClean="0"/>
              <a:t> t</a:t>
            </a:r>
            <a:r>
              <a:rPr lang="en-US" sz="3200" baseline="-25000" dirty="0" smtClean="0"/>
              <a:t>1</a:t>
            </a:r>
            <a:r>
              <a:rPr lang="en-US" sz="3200" dirty="0" smtClean="0"/>
              <a:t> </a:t>
            </a:r>
            <a:r>
              <a:rPr lang="en-US" sz="3200" dirty="0" err="1" smtClean="0"/>
              <a:t>đến</a:t>
            </a:r>
            <a:r>
              <a:rPr lang="en-US" sz="3200" dirty="0" smtClean="0"/>
              <a:t> t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 qua 3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 – Bellman: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s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r>
              <a:rPr lang="en-US" dirty="0" smtClean="0"/>
              <a:t>: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s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Floyd: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 smtClean="0"/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tư</a:t>
            </a:r>
            <a:r>
              <a:rPr lang="en-US" dirty="0" smtClean="0"/>
              <a:t> </a:t>
            </a:r>
            <a:r>
              <a:rPr lang="en-US" dirty="0" err="1" smtClean="0"/>
              <a:t>tưởng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nói</a:t>
            </a:r>
            <a:r>
              <a:rPr lang="en-US" dirty="0" smtClean="0"/>
              <a:t> ở </a:t>
            </a:r>
            <a:r>
              <a:rPr lang="en-US" dirty="0" err="1" smtClean="0"/>
              <a:t>phía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s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tư</a:t>
            </a:r>
            <a:r>
              <a:rPr lang="en-US" dirty="0" smtClean="0"/>
              <a:t> </a:t>
            </a:r>
            <a:r>
              <a:rPr lang="en-US" dirty="0" err="1" smtClean="0"/>
              <a:t>tưởng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nói</a:t>
            </a:r>
            <a:r>
              <a:rPr lang="en-US" dirty="0" smtClean="0"/>
              <a:t> ở </a:t>
            </a:r>
            <a:r>
              <a:rPr lang="en-US" dirty="0" err="1" smtClean="0"/>
              <a:t>trên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Tuy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s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cố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,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D[</a:t>
            </a:r>
            <a:r>
              <a:rPr lang="en-US" dirty="0" err="1" smtClean="0"/>
              <a:t>s,t</a:t>
            </a:r>
            <a:r>
              <a:rPr lang="en-US" dirty="0" smtClean="0"/>
              <a:t>]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D[t]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ý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t.</a:t>
            </a:r>
          </a:p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D[t]= ∞ </a:t>
            </a:r>
            <a:r>
              <a:rPr lang="en-US" dirty="0" err="1" smtClean="0"/>
              <a:t>với</a:t>
            </a:r>
            <a:r>
              <a:rPr lang="en-US" dirty="0" smtClean="0"/>
              <a:t> t </a:t>
            </a:r>
            <a:r>
              <a:rPr lang="en-US" dirty="0" err="1" smtClean="0"/>
              <a:t>khác</a:t>
            </a:r>
            <a:r>
              <a:rPr lang="en-US" dirty="0" smtClean="0"/>
              <a:t> s (D[s]=0).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D[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 </a:t>
            </a:r>
            <a:r>
              <a:rPr lang="en-US" dirty="0" err="1" smtClean="0"/>
              <a:t>xét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u,i</a:t>
            </a:r>
            <a:r>
              <a:rPr lang="en-US" dirty="0" smtClean="0"/>
              <a:t>,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thỏa</a:t>
            </a:r>
            <a:r>
              <a:rPr lang="en-US" dirty="0" smtClean="0"/>
              <a:t> </a:t>
            </a:r>
            <a:r>
              <a:rPr lang="en-US" dirty="0" err="1" smtClean="0"/>
              <a:t>mãn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		D[</a:t>
            </a:r>
            <a:r>
              <a:rPr lang="en-US" dirty="0" err="1" smtClean="0"/>
              <a:t>i</a:t>
            </a:r>
            <a:r>
              <a:rPr lang="en-US" dirty="0" smtClean="0"/>
              <a:t>]&gt;D[u]+A[</a:t>
            </a:r>
            <a:r>
              <a:rPr lang="en-US" dirty="0" err="1" smtClean="0"/>
              <a:t>u,i</a:t>
            </a:r>
            <a:r>
              <a:rPr lang="en-US" dirty="0" smtClean="0"/>
              <a:t>]</a:t>
            </a:r>
            <a:br>
              <a:rPr lang="en-US" dirty="0" smtClean="0"/>
            </a:b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D[</a:t>
            </a:r>
            <a:r>
              <a:rPr lang="en-US" dirty="0" err="1" smtClean="0"/>
              <a:t>i</a:t>
            </a:r>
            <a:r>
              <a:rPr lang="en-US" dirty="0" smtClean="0"/>
              <a:t>]=D[u]+A[</a:t>
            </a:r>
            <a:r>
              <a:rPr lang="en-US" dirty="0" err="1" smtClean="0"/>
              <a:t>u,i</a:t>
            </a:r>
            <a:r>
              <a:rPr lang="en-US" dirty="0" smtClean="0"/>
              <a:t>].</a:t>
            </a:r>
          </a:p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nữa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Repeat</a:t>
            </a:r>
          </a:p>
          <a:p>
            <a:pPr>
              <a:buNone/>
            </a:pPr>
            <a:r>
              <a:rPr lang="en-US" dirty="0" smtClean="0"/>
              <a:t>	Stop:=true;</a:t>
            </a:r>
          </a:p>
          <a:p>
            <a:pPr>
              <a:buNone/>
            </a:pPr>
            <a:r>
              <a:rPr lang="en-US" dirty="0" smtClean="0"/>
              <a:t>	for (u </a:t>
            </a:r>
            <a:r>
              <a:rPr lang="en-US" dirty="0" err="1" smtClean="0"/>
              <a:t>thuộc</a:t>
            </a:r>
            <a:r>
              <a:rPr lang="en-US" dirty="0" smtClean="0"/>
              <a:t> V) do</a:t>
            </a:r>
          </a:p>
          <a:p>
            <a:pPr>
              <a:buNone/>
            </a:pPr>
            <a:r>
              <a:rPr lang="en-US" dirty="0" smtClean="0"/>
              <a:t>		for (v </a:t>
            </a:r>
            <a:r>
              <a:rPr lang="en-US" dirty="0" err="1" smtClean="0"/>
              <a:t>thuộc</a:t>
            </a:r>
            <a:r>
              <a:rPr lang="en-US" dirty="0" smtClean="0"/>
              <a:t> V do)</a:t>
            </a:r>
          </a:p>
          <a:p>
            <a:pPr>
              <a:buNone/>
            </a:pPr>
            <a:r>
              <a:rPr lang="en-US" dirty="0" smtClean="0"/>
              <a:t>		      if (d[v]&gt;d[u]+A[</a:t>
            </a:r>
            <a:r>
              <a:rPr lang="en-US" dirty="0" err="1" smtClean="0"/>
              <a:t>u,v</a:t>
            </a:r>
            <a:r>
              <a:rPr lang="en-US" dirty="0" smtClean="0"/>
              <a:t>]) then</a:t>
            </a:r>
          </a:p>
          <a:p>
            <a:pPr>
              <a:buNone/>
            </a:pPr>
            <a:r>
              <a:rPr lang="en-US" dirty="0" smtClean="0"/>
              <a:t>			begin</a:t>
            </a:r>
          </a:p>
          <a:p>
            <a:pPr>
              <a:buNone/>
            </a:pPr>
            <a:r>
              <a:rPr lang="en-US" dirty="0" smtClean="0"/>
              <a:t>			      d[v]:=d[u]+A[</a:t>
            </a:r>
            <a:r>
              <a:rPr lang="en-US" dirty="0" err="1" smtClean="0"/>
              <a:t>u,v</a:t>
            </a:r>
            <a:r>
              <a:rPr lang="en-US" dirty="0" smtClean="0"/>
              <a:t>];</a:t>
            </a:r>
          </a:p>
          <a:p>
            <a:pPr>
              <a:buNone/>
            </a:pPr>
            <a:r>
              <a:rPr lang="en-US" dirty="0" smtClean="0"/>
              <a:t>			      </a:t>
            </a:r>
            <a:r>
              <a:rPr lang="en-US" dirty="0" err="1" smtClean="0"/>
              <a:t>truoc</a:t>
            </a:r>
            <a:r>
              <a:rPr lang="en-US" dirty="0" smtClean="0"/>
              <a:t>[v]:=u; </a:t>
            </a:r>
            <a:r>
              <a:rPr lang="en-US" sz="3000" i="1" dirty="0" smtClean="0">
                <a:solidFill>
                  <a:schemeClr val="accent1">
                    <a:lumMod val="75000"/>
                  </a:schemeClr>
                </a:solidFill>
              </a:rPr>
              <a:t>{</a:t>
            </a:r>
            <a:r>
              <a:rPr lang="en-US" sz="3000" i="1" dirty="0" err="1" smtClean="0">
                <a:solidFill>
                  <a:schemeClr val="accent1">
                    <a:lumMod val="75000"/>
                  </a:schemeClr>
                </a:solidFill>
              </a:rPr>
              <a:t>Lưu</a:t>
            </a:r>
            <a:r>
              <a:rPr lang="en-US" sz="30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i="1" dirty="0" err="1" smtClean="0">
                <a:solidFill>
                  <a:schemeClr val="accent1">
                    <a:lumMod val="75000"/>
                  </a:schemeClr>
                </a:solidFill>
              </a:rPr>
              <a:t>trữ</a:t>
            </a:r>
            <a:r>
              <a:rPr lang="en-US" sz="30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i="1" dirty="0" err="1" smtClean="0">
                <a:solidFill>
                  <a:schemeClr val="accent1">
                    <a:lumMod val="75000"/>
                  </a:schemeClr>
                </a:solidFill>
              </a:rPr>
              <a:t>đường</a:t>
            </a:r>
            <a:r>
              <a:rPr lang="en-US" sz="30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i="1" dirty="0" err="1" smtClean="0">
                <a:solidFill>
                  <a:schemeClr val="accent1">
                    <a:lumMod val="75000"/>
                  </a:schemeClr>
                </a:solidFill>
              </a:rPr>
              <a:t>đi</a:t>
            </a:r>
            <a:r>
              <a:rPr lang="en-US" sz="3000" i="1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  <a:p>
            <a:pPr>
              <a:buNone/>
            </a:pPr>
            <a:r>
              <a:rPr lang="en-US" sz="3000" i="1" dirty="0" smtClean="0">
                <a:solidFill>
                  <a:schemeClr val="accent1">
                    <a:lumMod val="75000"/>
                  </a:schemeClr>
                </a:solidFill>
              </a:rPr>
              <a:t>			       </a:t>
            </a:r>
            <a:r>
              <a:rPr lang="en-US" dirty="0" smtClean="0"/>
              <a:t>Stop:=false;</a:t>
            </a:r>
          </a:p>
          <a:p>
            <a:pPr>
              <a:buNone/>
            </a:pPr>
            <a:r>
              <a:rPr lang="en-US" dirty="0" smtClean="0"/>
              <a:t>			end;</a:t>
            </a:r>
          </a:p>
          <a:p>
            <a:pPr>
              <a:buNone/>
            </a:pPr>
            <a:r>
              <a:rPr lang="en-US" dirty="0" smtClean="0"/>
              <a:t>Until Stop;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đắn</a:t>
            </a:r>
            <a:endParaRPr lang="en-US" dirty="0" smtClean="0"/>
          </a:p>
          <a:p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: D[v] = ∞. </a:t>
            </a:r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v qua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0 </a:t>
            </a:r>
            <a:r>
              <a:rPr lang="en-US" dirty="0" err="1" smtClean="0"/>
              <a:t>cạnh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, D[v]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v qua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i-1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Do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v qua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v qua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sz="3200" b="1" dirty="0" smtClean="0">
                <a:solidFill>
                  <a:srgbClr val="C00000"/>
                </a:solidFill>
              </a:rPr>
              <a:t>i-1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u qua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sz="3200" b="1" dirty="0" smtClean="0">
                <a:solidFill>
                  <a:srgbClr val="C00000"/>
                </a:solidFill>
              </a:rPr>
              <a:t>i-1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(</a:t>
            </a:r>
            <a:r>
              <a:rPr lang="en-US" dirty="0" err="1" smtClean="0"/>
              <a:t>u,v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Theo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v qua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sz="3500" b="1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. </a:t>
            </a:r>
          </a:p>
          <a:p>
            <a:r>
              <a:rPr lang="en-US" dirty="0" smtClean="0"/>
              <a:t>Do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chu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v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sz="3500" b="1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. Do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219200" y="5029200"/>
            <a:ext cx="5639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Khởi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tạo</a:t>
            </a:r>
            <a:r>
              <a:rPr lang="en-US" sz="4000" b="1" dirty="0" smtClean="0"/>
              <a:t>: D[</a:t>
            </a:r>
            <a:r>
              <a:rPr lang="en-US" sz="4000" b="1" dirty="0" err="1" smtClean="0"/>
              <a:t>i</a:t>
            </a:r>
            <a:r>
              <a:rPr lang="en-US" sz="4000" b="1" dirty="0" smtClean="0"/>
              <a:t>]=∞, D[s]=0</a:t>
            </a:r>
            <a:endParaRPr lang="en-US" sz="4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4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38400" y="31242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6200" y="14478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24600" y="28194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91400" y="12954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219200" y="5029200"/>
            <a:ext cx="77925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Lần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lặp</a:t>
            </a:r>
            <a:r>
              <a:rPr lang="en-US" sz="4000" b="1" dirty="0" smtClean="0"/>
              <a:t> 1: </a:t>
            </a:r>
            <a:r>
              <a:rPr lang="en-US" sz="4000" b="1" dirty="0" err="1" smtClean="0"/>
              <a:t>đđ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ngắn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nhất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từ</a:t>
            </a:r>
            <a:r>
              <a:rPr lang="en-US" sz="4000" b="1" dirty="0" smtClean="0"/>
              <a:t> 1 </a:t>
            </a:r>
            <a:r>
              <a:rPr lang="en-US" sz="4000" b="1" dirty="0" err="1" smtClean="0"/>
              <a:t>đến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</a:t>
            </a:r>
            <a:r>
              <a:rPr lang="en-US" sz="4000" b="1" dirty="0" smtClean="0"/>
              <a:t> </a:t>
            </a:r>
          </a:p>
          <a:p>
            <a:r>
              <a:rPr lang="en-US" sz="4000" b="1" dirty="0" smtClean="0"/>
              <a:t>qua </a:t>
            </a:r>
            <a:r>
              <a:rPr lang="en-US" sz="4000" b="1" dirty="0" err="1" smtClean="0"/>
              <a:t>không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quá</a:t>
            </a:r>
            <a:r>
              <a:rPr lang="en-US" sz="4000" b="1" dirty="0" smtClean="0"/>
              <a:t> 1 </a:t>
            </a:r>
            <a:r>
              <a:rPr lang="en-US" sz="4000" b="1" dirty="0" err="1" smtClean="0"/>
              <a:t>cạnh</a:t>
            </a:r>
            <a:r>
              <a:rPr lang="en-US" sz="4000" b="1" dirty="0" smtClean="0"/>
              <a:t>.</a:t>
            </a:r>
            <a:endParaRPr lang="en-US" sz="4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4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38400" y="31242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6200" y="14478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24600" y="28194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91400" y="12954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219200" y="5029200"/>
            <a:ext cx="77925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Lần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lặp</a:t>
            </a:r>
            <a:r>
              <a:rPr lang="en-US" sz="4000" b="1" dirty="0" smtClean="0"/>
              <a:t> 1: </a:t>
            </a:r>
            <a:r>
              <a:rPr lang="en-US" sz="4000" b="1" dirty="0" err="1" smtClean="0"/>
              <a:t>đđ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ngắn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nhất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từ</a:t>
            </a:r>
            <a:r>
              <a:rPr lang="en-US" sz="4000" b="1" dirty="0" smtClean="0"/>
              <a:t> 1 </a:t>
            </a:r>
            <a:r>
              <a:rPr lang="en-US" sz="4000" b="1" dirty="0" err="1" smtClean="0"/>
              <a:t>đến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</a:t>
            </a:r>
            <a:r>
              <a:rPr lang="en-US" sz="4000" b="1" dirty="0" smtClean="0"/>
              <a:t> </a:t>
            </a:r>
          </a:p>
          <a:p>
            <a:r>
              <a:rPr lang="en-US" sz="4000" b="1" dirty="0" smtClean="0"/>
              <a:t>qua </a:t>
            </a:r>
            <a:r>
              <a:rPr lang="en-US" sz="4000" b="1" dirty="0" err="1" smtClean="0"/>
              <a:t>không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quá</a:t>
            </a:r>
            <a:r>
              <a:rPr lang="en-US" sz="4000" b="1" dirty="0" smtClean="0"/>
              <a:t> 1 </a:t>
            </a:r>
            <a:r>
              <a:rPr lang="en-US" sz="4000" b="1" dirty="0" err="1" smtClean="0"/>
              <a:t>cạnh</a:t>
            </a:r>
            <a:r>
              <a:rPr lang="en-US" sz="4000" b="1" dirty="0" smtClean="0"/>
              <a:t>.</a:t>
            </a:r>
            <a:endParaRPr lang="en-US" sz="4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4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38400" y="31242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6200" y="14478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24600" y="28194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91400" y="12954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219200" y="5029200"/>
            <a:ext cx="77925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Lần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lặp</a:t>
            </a:r>
            <a:r>
              <a:rPr lang="en-US" sz="4000" b="1" dirty="0" smtClean="0"/>
              <a:t> 2: </a:t>
            </a:r>
            <a:r>
              <a:rPr lang="en-US" sz="4000" b="1" dirty="0" err="1" smtClean="0"/>
              <a:t>đđ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ngắn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nhất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từ</a:t>
            </a:r>
            <a:r>
              <a:rPr lang="en-US" sz="4000" b="1" dirty="0" smtClean="0"/>
              <a:t> 1 </a:t>
            </a:r>
            <a:r>
              <a:rPr lang="en-US" sz="4000" b="1" dirty="0" err="1" smtClean="0"/>
              <a:t>đến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</a:t>
            </a:r>
            <a:r>
              <a:rPr lang="en-US" sz="4000" b="1" dirty="0" smtClean="0"/>
              <a:t> </a:t>
            </a:r>
          </a:p>
          <a:p>
            <a:r>
              <a:rPr lang="en-US" sz="4000" b="1" dirty="0" smtClean="0"/>
              <a:t>qua </a:t>
            </a:r>
            <a:r>
              <a:rPr lang="en-US" sz="4000" b="1" dirty="0" err="1" smtClean="0"/>
              <a:t>không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quá</a:t>
            </a:r>
            <a:r>
              <a:rPr lang="en-US" sz="4000" b="1" dirty="0" smtClean="0"/>
              <a:t> 2 </a:t>
            </a:r>
            <a:r>
              <a:rPr lang="en-US" sz="4000" b="1" dirty="0" err="1" smtClean="0"/>
              <a:t>cạnh</a:t>
            </a:r>
            <a:r>
              <a:rPr lang="en-US" sz="4000" b="1" dirty="0" smtClean="0"/>
              <a:t>.</a:t>
            </a:r>
            <a:endParaRPr lang="en-US" sz="4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4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38400" y="31242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6200" y="14478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24600" y="28194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91400" y="1295400"/>
            <a:ext cx="478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∞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219200" y="5029200"/>
            <a:ext cx="77925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Lần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lặp</a:t>
            </a:r>
            <a:r>
              <a:rPr lang="en-US" sz="4000" b="1" dirty="0" smtClean="0"/>
              <a:t> 2: </a:t>
            </a:r>
            <a:r>
              <a:rPr lang="en-US" sz="4000" b="1" dirty="0" err="1" smtClean="0"/>
              <a:t>đđ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ngắn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nhất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từ</a:t>
            </a:r>
            <a:r>
              <a:rPr lang="en-US" sz="4000" b="1" dirty="0" smtClean="0"/>
              <a:t> 1 </a:t>
            </a:r>
            <a:r>
              <a:rPr lang="en-US" sz="4000" b="1" dirty="0" err="1" smtClean="0"/>
              <a:t>đến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</a:t>
            </a:r>
            <a:r>
              <a:rPr lang="en-US" sz="4000" b="1" dirty="0" smtClean="0"/>
              <a:t> </a:t>
            </a:r>
          </a:p>
          <a:p>
            <a:r>
              <a:rPr lang="en-US" sz="4000" b="1" dirty="0" smtClean="0"/>
              <a:t>qua </a:t>
            </a:r>
            <a:r>
              <a:rPr lang="en-US" sz="4000" b="1" dirty="0" err="1" smtClean="0"/>
              <a:t>không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quá</a:t>
            </a:r>
            <a:r>
              <a:rPr lang="en-US" sz="4000" b="1" dirty="0" smtClean="0"/>
              <a:t> 2 </a:t>
            </a:r>
            <a:r>
              <a:rPr lang="en-US" sz="4000" b="1" dirty="0" err="1" smtClean="0"/>
              <a:t>cạnh</a:t>
            </a:r>
            <a:r>
              <a:rPr lang="en-US" sz="4000" b="1" dirty="0" smtClean="0"/>
              <a:t>.</a:t>
            </a:r>
            <a:endParaRPr lang="en-US" sz="4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4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38400" y="31242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6200" y="14478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72200" y="2819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91400" y="1295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42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219200" y="5029200"/>
            <a:ext cx="77925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Lần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lặp</a:t>
            </a:r>
            <a:r>
              <a:rPr lang="en-US" sz="4000" b="1" dirty="0" smtClean="0"/>
              <a:t> 3: </a:t>
            </a:r>
            <a:r>
              <a:rPr lang="en-US" sz="4000" b="1" dirty="0" err="1" smtClean="0"/>
              <a:t>đđ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ngắn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nhất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từ</a:t>
            </a:r>
            <a:r>
              <a:rPr lang="en-US" sz="4000" b="1" dirty="0" smtClean="0"/>
              <a:t> 1 </a:t>
            </a:r>
            <a:r>
              <a:rPr lang="en-US" sz="4000" b="1" dirty="0" err="1" smtClean="0"/>
              <a:t>đến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</a:t>
            </a:r>
            <a:r>
              <a:rPr lang="en-US" sz="4000" b="1" dirty="0" smtClean="0"/>
              <a:t> </a:t>
            </a:r>
          </a:p>
          <a:p>
            <a:r>
              <a:rPr lang="en-US" sz="4000" b="1" dirty="0" smtClean="0"/>
              <a:t>qua </a:t>
            </a:r>
            <a:r>
              <a:rPr lang="en-US" sz="4000" b="1" dirty="0" err="1" smtClean="0"/>
              <a:t>không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quá</a:t>
            </a:r>
            <a:r>
              <a:rPr lang="en-US" sz="4000" b="1" dirty="0" smtClean="0"/>
              <a:t> 3 </a:t>
            </a:r>
            <a:r>
              <a:rPr lang="en-US" sz="4000" b="1" dirty="0" err="1" smtClean="0"/>
              <a:t>cạnh</a:t>
            </a:r>
            <a:r>
              <a:rPr lang="en-US" sz="4000" b="1" dirty="0" smtClean="0"/>
              <a:t>.</a:t>
            </a:r>
            <a:endParaRPr lang="en-US" sz="4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4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38400" y="31242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6200" y="14478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72200" y="2819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91400" y="1295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42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219200" y="5029200"/>
            <a:ext cx="77925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Lần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lặp</a:t>
            </a:r>
            <a:r>
              <a:rPr lang="en-US" sz="4000" b="1" dirty="0" smtClean="0"/>
              <a:t> 3: </a:t>
            </a:r>
            <a:r>
              <a:rPr lang="en-US" sz="4000" b="1" dirty="0" err="1" smtClean="0"/>
              <a:t>đđ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ngắn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nhất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từ</a:t>
            </a:r>
            <a:r>
              <a:rPr lang="en-US" sz="4000" b="1" dirty="0" smtClean="0"/>
              <a:t> 1 </a:t>
            </a:r>
            <a:r>
              <a:rPr lang="en-US" sz="4000" b="1" dirty="0" err="1" smtClean="0"/>
              <a:t>đến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</a:t>
            </a:r>
            <a:r>
              <a:rPr lang="en-US" sz="4000" b="1" dirty="0" smtClean="0"/>
              <a:t> </a:t>
            </a:r>
          </a:p>
          <a:p>
            <a:r>
              <a:rPr lang="en-US" sz="4000" b="1" dirty="0" smtClean="0"/>
              <a:t>qua </a:t>
            </a:r>
            <a:r>
              <a:rPr lang="en-US" sz="4000" b="1" dirty="0" err="1" smtClean="0"/>
              <a:t>không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quá</a:t>
            </a:r>
            <a:r>
              <a:rPr lang="en-US" sz="4000" b="1" dirty="0" smtClean="0"/>
              <a:t> 3 </a:t>
            </a:r>
            <a:r>
              <a:rPr lang="en-US" sz="4000" b="1" dirty="0" err="1" smtClean="0"/>
              <a:t>cạnh</a:t>
            </a:r>
            <a:r>
              <a:rPr lang="en-US" sz="4000" b="1" dirty="0" smtClean="0"/>
              <a:t>.</a:t>
            </a:r>
            <a:endParaRPr lang="en-US" sz="4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4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38400" y="31242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6200" y="14478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72200" y="2819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91400" y="1295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26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rot="5400000">
            <a:off x="6362700" y="22479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14800" y="21336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552700" y="24765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43200" y="36576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22860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6400" y="21336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25527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95400" y="16764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810000" y="19050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362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248400" y="3276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7526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0800" y="1676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895600" y="2819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67200" y="3276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0" y="2590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1752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524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38400" y="31242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6200" y="14478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72200" y="2819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91400" y="1295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26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D[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D[u]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D[</a:t>
            </a:r>
            <a:r>
              <a:rPr lang="en-US" dirty="0" err="1" smtClean="0"/>
              <a:t>i</a:t>
            </a:r>
            <a:r>
              <a:rPr lang="en-US" dirty="0" smtClean="0"/>
              <a:t>]=min(D[</a:t>
            </a:r>
            <a:r>
              <a:rPr lang="en-US" dirty="0" err="1" smtClean="0"/>
              <a:t>i</a:t>
            </a:r>
            <a:r>
              <a:rPr lang="en-US" dirty="0" smtClean="0"/>
              <a:t>],D[u]+A[</a:t>
            </a:r>
            <a:r>
              <a:rPr lang="en-US" dirty="0" err="1" smtClean="0"/>
              <a:t>u,i</a:t>
            </a:r>
            <a:r>
              <a:rPr lang="en-US" dirty="0" smtClean="0"/>
              <a:t>])</a:t>
            </a:r>
          </a:p>
          <a:p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,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, D[u]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,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, </a:t>
            </a:r>
            <a:r>
              <a:rPr lang="en-US" dirty="0" err="1" smtClean="0"/>
              <a:t>khi</a:t>
            </a:r>
            <a:r>
              <a:rPr lang="en-US" dirty="0" smtClean="0"/>
              <a:t> D[u]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D[</a:t>
            </a:r>
            <a:r>
              <a:rPr lang="en-US" dirty="0" err="1" smtClean="0"/>
              <a:t>i</a:t>
            </a:r>
            <a:r>
              <a:rPr lang="en-US" dirty="0" smtClean="0"/>
              <a:t>].</a:t>
            </a:r>
          </a:p>
          <a:p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,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D[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u </a:t>
            </a:r>
            <a:r>
              <a:rPr lang="en-US" dirty="0" err="1" smtClean="0"/>
              <a:t>mà</a:t>
            </a:r>
            <a:r>
              <a:rPr lang="en-US" dirty="0" smtClean="0"/>
              <a:t> D[u]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nữa</a:t>
            </a:r>
            <a:r>
              <a:rPr lang="en-US" dirty="0" smtClean="0"/>
              <a:t>.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đây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s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(</a:t>
            </a:r>
            <a:r>
              <a:rPr lang="en-US" dirty="0" err="1" smtClean="0"/>
              <a:t>từ</a:t>
            </a:r>
            <a:r>
              <a:rPr lang="en-US" dirty="0" smtClean="0"/>
              <a:t> A </a:t>
            </a:r>
            <a:r>
              <a:rPr lang="en-US" dirty="0" err="1" smtClean="0"/>
              <a:t>đến</a:t>
            </a:r>
            <a:r>
              <a:rPr lang="en-US" dirty="0" smtClean="0"/>
              <a:t> F):</a:t>
            </a:r>
            <a:br>
              <a:rPr lang="en-US" dirty="0" smtClean="0"/>
            </a:br>
            <a:r>
              <a:rPr lang="en-US" dirty="0" smtClean="0"/>
              <a:t>			A B C D E F</a:t>
            </a:r>
          </a:p>
          <a:p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, AB, ABC, ABCD …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Để</a:t>
            </a:r>
            <a:r>
              <a:rPr lang="en-US" dirty="0" smtClean="0"/>
              <a:t> ý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Ford-Bellman,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qua </a:t>
            </a:r>
            <a:r>
              <a:rPr lang="en-US" dirty="0" err="1" smtClean="0"/>
              <a:t>đỉnh</a:t>
            </a:r>
            <a:r>
              <a:rPr lang="en-US" dirty="0" smtClean="0"/>
              <a:t> v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(</a:t>
            </a:r>
            <a:r>
              <a:rPr lang="en-US" dirty="0" err="1" smtClean="0"/>
              <a:t>từ</a:t>
            </a:r>
            <a:r>
              <a:rPr lang="en-US" dirty="0" smtClean="0"/>
              <a:t> A </a:t>
            </a:r>
            <a:r>
              <a:rPr lang="en-US" dirty="0" err="1" smtClean="0"/>
              <a:t>đến</a:t>
            </a:r>
            <a:r>
              <a:rPr lang="en-US" dirty="0" smtClean="0"/>
              <a:t> F):</a:t>
            </a:r>
            <a:br>
              <a:rPr lang="en-US" dirty="0" smtClean="0"/>
            </a:br>
            <a:r>
              <a:rPr lang="en-US" dirty="0" smtClean="0"/>
              <a:t>			A B C D E F</a:t>
            </a:r>
          </a:p>
          <a:p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, AB, ABC, ABCD …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.</a:t>
            </a:r>
          </a:p>
          <a:p>
            <a:r>
              <a:rPr lang="en-US" dirty="0" smtClean="0"/>
              <a:t>Do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 ở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u,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nữa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 </a:t>
            </a:r>
            <a:r>
              <a:rPr lang="en-US" dirty="0" err="1" smtClean="0"/>
              <a:t>đó</a:t>
            </a:r>
            <a:r>
              <a:rPr lang="en-US" dirty="0" smtClean="0"/>
              <a:t>,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đẩy</a:t>
            </a:r>
            <a:r>
              <a:rPr lang="en-US" dirty="0" smtClean="0"/>
              <a:t> </a:t>
            </a:r>
            <a:r>
              <a:rPr lang="en-US" dirty="0" err="1" smtClean="0"/>
              <a:t>nhanh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,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lần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nữa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2 </a:t>
            </a:r>
            <a:r>
              <a:rPr lang="en-US" dirty="0" err="1" smtClean="0"/>
              <a:t>nhãn</a:t>
            </a:r>
            <a:r>
              <a:rPr lang="en-US" dirty="0" smtClean="0"/>
              <a:t>: </a:t>
            </a:r>
          </a:p>
          <a:p>
            <a:pPr lvl="2"/>
            <a:r>
              <a:rPr lang="en-US" dirty="0" err="1" smtClean="0"/>
              <a:t>Nhãn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Check[</a:t>
            </a:r>
            <a:r>
              <a:rPr lang="en-US" dirty="0" err="1" smtClean="0"/>
              <a:t>i</a:t>
            </a:r>
            <a:r>
              <a:rPr lang="en-US" dirty="0" smtClean="0"/>
              <a:t>]. Check[</a:t>
            </a:r>
            <a:r>
              <a:rPr lang="en-US" dirty="0" err="1" smtClean="0"/>
              <a:t>i</a:t>
            </a:r>
            <a:r>
              <a:rPr lang="en-US" dirty="0" smtClean="0"/>
              <a:t>]=0 </a:t>
            </a:r>
            <a:r>
              <a:rPr lang="en-US" dirty="0" err="1" smtClean="0"/>
              <a:t>nếu</a:t>
            </a:r>
            <a:r>
              <a:rPr lang="en-US" dirty="0" smtClean="0"/>
              <a:t> D[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. Check[</a:t>
            </a:r>
            <a:r>
              <a:rPr lang="en-US" dirty="0" err="1" smtClean="0"/>
              <a:t>i</a:t>
            </a:r>
            <a:r>
              <a:rPr lang="en-US" dirty="0" smtClean="0"/>
              <a:t>]=1 </a:t>
            </a:r>
            <a:r>
              <a:rPr lang="en-US" dirty="0" err="1" smtClean="0"/>
              <a:t>nếu</a:t>
            </a:r>
            <a:r>
              <a:rPr lang="en-US" dirty="0" smtClean="0"/>
              <a:t> D[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nữa</a:t>
            </a:r>
            <a:r>
              <a:rPr lang="en-US" dirty="0" smtClean="0"/>
              <a:t>.</a:t>
            </a:r>
          </a:p>
          <a:p>
            <a:pPr lvl="2"/>
            <a:r>
              <a:rPr lang="en-US" dirty="0" err="1" smtClean="0"/>
              <a:t>Nhãn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D[</a:t>
            </a:r>
            <a:r>
              <a:rPr lang="en-US" dirty="0" err="1" smtClean="0"/>
              <a:t>i</a:t>
            </a:r>
            <a:r>
              <a:rPr lang="en-US" dirty="0" smtClean="0"/>
              <a:t>].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err="1" smtClean="0"/>
              <a:t>Bước</a:t>
            </a:r>
            <a:r>
              <a:rPr lang="en-US" dirty="0" smtClean="0"/>
              <a:t> 1: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{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v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qua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	D[v]=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; D[s]=0;</a:t>
            </a:r>
          </a:p>
          <a:p>
            <a:pPr>
              <a:buNone/>
            </a:pPr>
            <a:r>
              <a:rPr lang="en-US" dirty="0" smtClean="0"/>
              <a:t>	Check[v]=0; </a:t>
            </a:r>
          </a:p>
          <a:p>
            <a:pPr>
              <a:buNone/>
            </a:pPr>
            <a:r>
              <a:rPr lang="en-US" dirty="0" err="1" smtClean="0"/>
              <a:t>Bước</a:t>
            </a:r>
            <a:r>
              <a:rPr lang="en-US" dirty="0" smtClean="0"/>
              <a:t> 2: </a:t>
            </a:r>
            <a:r>
              <a:rPr lang="en-US" dirty="0" err="1" smtClean="0"/>
              <a:t>lặp</a:t>
            </a:r>
            <a:r>
              <a:rPr lang="en-US" dirty="0" smtClean="0"/>
              <a:t>,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thao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u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D[u]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nữa</a:t>
            </a:r>
            <a:r>
              <a:rPr lang="en-US" dirty="0" smtClean="0"/>
              <a:t>: </a:t>
            </a:r>
            <a:r>
              <a:rPr lang="en-US" dirty="0" err="1" smtClean="0"/>
              <a:t>đỉnh</a:t>
            </a:r>
            <a:r>
              <a:rPr lang="en-US" dirty="0" smtClean="0"/>
              <a:t> u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u </a:t>
            </a:r>
            <a:r>
              <a:rPr lang="en-US" dirty="0" err="1" smtClean="0"/>
              <a:t>có</a:t>
            </a:r>
            <a:r>
              <a:rPr lang="en-US" dirty="0" smtClean="0"/>
              <a:t> D[u]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(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Check[v]=0).</a:t>
            </a:r>
          </a:p>
          <a:p>
            <a:pPr lvl="1"/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u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nữa</a:t>
            </a:r>
            <a:r>
              <a:rPr lang="en-US" dirty="0" smtClean="0"/>
              <a:t> (Check[u]=1)</a:t>
            </a:r>
          </a:p>
          <a:p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u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endParaRPr lang="en-US" dirty="0" smtClean="0"/>
          </a:p>
          <a:p>
            <a:pPr lvl="1"/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v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(Check[v]=0),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u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</a:t>
            </a:r>
          </a:p>
          <a:p>
            <a:pPr lvl="2">
              <a:buNone/>
            </a:pPr>
            <a:r>
              <a:rPr lang="en-US" dirty="0" smtClean="0"/>
              <a:t>			D[v]=min{D[v],D[u]+A[</a:t>
            </a:r>
            <a:r>
              <a:rPr lang="en-US" dirty="0" err="1" smtClean="0"/>
              <a:t>u,v</a:t>
            </a:r>
            <a:r>
              <a:rPr lang="en-US" dirty="0" smtClean="0"/>
              <a:t>]}</a:t>
            </a:r>
          </a:p>
          <a:p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nhãn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Procedure DD</a:t>
            </a:r>
          </a:p>
          <a:p>
            <a:pPr>
              <a:buNone/>
            </a:pPr>
            <a:r>
              <a:rPr lang="en-US" dirty="0" smtClean="0"/>
              <a:t>Begin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D[</a:t>
            </a:r>
            <a:r>
              <a:rPr lang="en-US" dirty="0" err="1" smtClean="0"/>
              <a:t>i</a:t>
            </a:r>
            <a:r>
              <a:rPr lang="en-US" dirty="0" smtClean="0"/>
              <a:t>]=VC, Check[</a:t>
            </a:r>
            <a:r>
              <a:rPr lang="en-US" dirty="0" err="1" smtClean="0"/>
              <a:t>i</a:t>
            </a:r>
            <a:r>
              <a:rPr lang="en-US" dirty="0" smtClean="0"/>
              <a:t>]=0, Trace[</a:t>
            </a:r>
            <a:r>
              <a:rPr lang="en-US" dirty="0" err="1" smtClean="0"/>
              <a:t>i</a:t>
            </a:r>
            <a:r>
              <a:rPr lang="en-US" dirty="0" smtClean="0"/>
              <a:t>]=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D[s]=0; </a:t>
            </a:r>
          </a:p>
          <a:p>
            <a:pPr>
              <a:buNone/>
            </a:pPr>
            <a:r>
              <a:rPr lang="en-US" dirty="0" smtClean="0"/>
              <a:t>	dung=false</a:t>
            </a:r>
          </a:p>
          <a:p>
            <a:pPr>
              <a:buNone/>
            </a:pPr>
            <a:r>
              <a:rPr lang="en-US" dirty="0" smtClean="0"/>
              <a:t>	repeat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tìm</a:t>
            </a:r>
            <a:r>
              <a:rPr lang="en-US" dirty="0" smtClean="0"/>
              <a:t> u </a:t>
            </a:r>
            <a:r>
              <a:rPr lang="en-US" dirty="0" err="1" smtClean="0"/>
              <a:t>có</a:t>
            </a:r>
            <a:r>
              <a:rPr lang="en-US" dirty="0" smtClean="0"/>
              <a:t> Check[u]=0 </a:t>
            </a:r>
            <a:r>
              <a:rPr lang="en-US" dirty="0" err="1" smtClean="0"/>
              <a:t>và</a:t>
            </a:r>
            <a:r>
              <a:rPr lang="en-US" dirty="0" smtClean="0"/>
              <a:t> D[u]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Chech</a:t>
            </a:r>
            <a:r>
              <a:rPr lang="en-US" dirty="0" smtClean="0"/>
              <a:t>[u]=1;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v </a:t>
            </a:r>
            <a:r>
              <a:rPr lang="en-US" dirty="0" err="1" smtClean="0"/>
              <a:t>kề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u </a:t>
            </a:r>
            <a:r>
              <a:rPr lang="en-US" dirty="0" err="1" smtClean="0"/>
              <a:t>có</a:t>
            </a:r>
            <a:r>
              <a:rPr lang="en-US" dirty="0" smtClean="0"/>
              <a:t> Check[u]=0, </a:t>
            </a:r>
          </a:p>
          <a:p>
            <a:pPr>
              <a:buNone/>
            </a:pPr>
            <a:r>
              <a:rPr lang="en-US" dirty="0" smtClean="0"/>
              <a:t>		        </a:t>
            </a:r>
            <a:r>
              <a:rPr lang="en-US" dirty="0" err="1" smtClean="0"/>
              <a:t>nếu</a:t>
            </a:r>
            <a:r>
              <a:rPr lang="en-US" dirty="0" smtClean="0"/>
              <a:t> D[v]&lt;D[u]+a[</a:t>
            </a:r>
            <a:r>
              <a:rPr lang="en-US" dirty="0" err="1" smtClean="0"/>
              <a:t>u,v</a:t>
            </a:r>
            <a:r>
              <a:rPr lang="en-US" dirty="0" smtClean="0"/>
              <a:t>]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D[v]=D[u]+a[</a:t>
            </a:r>
            <a:r>
              <a:rPr lang="en-US" dirty="0" err="1" smtClean="0"/>
              <a:t>u,v</a:t>
            </a:r>
            <a:r>
              <a:rPr lang="en-US" dirty="0" smtClean="0"/>
              <a:t>];</a:t>
            </a:r>
          </a:p>
          <a:p>
            <a:pPr>
              <a:buNone/>
            </a:pPr>
            <a:r>
              <a:rPr lang="en-US" dirty="0" smtClean="0"/>
              <a:t>			trace[v]=u;</a:t>
            </a:r>
          </a:p>
          <a:p>
            <a:pPr>
              <a:buNone/>
            </a:pPr>
            <a:r>
              <a:rPr lang="en-US" dirty="0" smtClean="0"/>
              <a:t>	until dung;</a:t>
            </a:r>
          </a:p>
          <a:p>
            <a:pPr>
              <a:buNone/>
            </a:pPr>
            <a:r>
              <a:rPr lang="en-US" dirty="0" smtClean="0"/>
              <a:t>end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600200" y="5715000"/>
            <a:ext cx="55098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Khởi</a:t>
            </a:r>
            <a:r>
              <a:rPr lang="en-US" sz="3200" dirty="0" smtClean="0"/>
              <a:t> </a:t>
            </a:r>
            <a:r>
              <a:rPr lang="en-US" sz="3200" dirty="0" err="1" smtClean="0"/>
              <a:t>tạo</a:t>
            </a:r>
            <a:r>
              <a:rPr lang="en-US" sz="3200" dirty="0" smtClean="0"/>
              <a:t>: </a:t>
            </a:r>
            <a:r>
              <a:rPr lang="en-US" sz="3200" dirty="0" err="1" smtClean="0"/>
              <a:t>gán</a:t>
            </a:r>
            <a:r>
              <a:rPr lang="en-US" sz="3200" dirty="0" smtClean="0"/>
              <a:t> </a:t>
            </a:r>
            <a:r>
              <a:rPr lang="en-US" sz="3200" dirty="0" err="1" smtClean="0"/>
              <a:t>nhãn</a:t>
            </a:r>
            <a:r>
              <a:rPr lang="en-US" sz="3200" dirty="0" smtClean="0"/>
              <a:t> </a:t>
            </a:r>
            <a:r>
              <a:rPr lang="en-US" sz="3200" dirty="0" err="1" smtClean="0"/>
              <a:t>cho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đỉnh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057400" y="5943600"/>
            <a:ext cx="55098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Khởi</a:t>
            </a:r>
            <a:r>
              <a:rPr lang="en-US" sz="3200" dirty="0" smtClean="0"/>
              <a:t> </a:t>
            </a:r>
            <a:r>
              <a:rPr lang="en-US" sz="3200" dirty="0" err="1" smtClean="0"/>
              <a:t>tạo</a:t>
            </a:r>
            <a:r>
              <a:rPr lang="en-US" sz="3200" dirty="0" smtClean="0"/>
              <a:t>: </a:t>
            </a:r>
            <a:r>
              <a:rPr lang="en-US" sz="3200" dirty="0" err="1" smtClean="0"/>
              <a:t>gán</a:t>
            </a:r>
            <a:r>
              <a:rPr lang="en-US" sz="3200" dirty="0" smtClean="0"/>
              <a:t> </a:t>
            </a:r>
            <a:r>
              <a:rPr lang="en-US" sz="3200" dirty="0" err="1" smtClean="0"/>
              <a:t>nhãn</a:t>
            </a:r>
            <a:r>
              <a:rPr lang="en-US" sz="3200" dirty="0" smtClean="0"/>
              <a:t> </a:t>
            </a:r>
            <a:r>
              <a:rPr lang="en-US" sz="3200" dirty="0" err="1" smtClean="0"/>
              <a:t>cho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đỉnh</a:t>
            </a:r>
            <a:endParaRPr lang="en-US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1: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1: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411340" y="5486400"/>
            <a:ext cx="5732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1: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Dùng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đó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khác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411340" y="5486400"/>
            <a:ext cx="5732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1: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Dùng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đó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khác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124200" y="5638800"/>
            <a:ext cx="5827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Kết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thúc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lần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lặp</a:t>
            </a:r>
            <a:r>
              <a:rPr lang="en-US" sz="2400" b="1" dirty="0" smtClean="0"/>
              <a:t> 1, </a:t>
            </a:r>
            <a:r>
              <a:rPr lang="en-US" sz="2400" b="1" dirty="0" err="1" smtClean="0"/>
              <a:t>ta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được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độ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dài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đường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đi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err="1" smtClean="0"/>
              <a:t>ngắn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nhất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từ</a:t>
            </a:r>
            <a:r>
              <a:rPr lang="en-US" sz="2400" b="1" dirty="0" smtClean="0"/>
              <a:t> s </a:t>
            </a:r>
            <a:r>
              <a:rPr lang="en-US" sz="2400" b="1" dirty="0" err="1" smtClean="0"/>
              <a:t>tới</a:t>
            </a:r>
            <a:r>
              <a:rPr lang="en-US" sz="2400" b="1" dirty="0" smtClean="0"/>
              <a:t> v qua </a:t>
            </a:r>
            <a:r>
              <a:rPr lang="en-US" sz="2400" b="1" dirty="0" err="1" smtClean="0"/>
              <a:t>không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quá</a:t>
            </a:r>
            <a:r>
              <a:rPr lang="en-US" sz="2400" b="1" dirty="0" smtClean="0"/>
              <a:t> 1 </a:t>
            </a:r>
            <a:r>
              <a:rPr lang="en-US" sz="2400" b="1" dirty="0" err="1" smtClean="0"/>
              <a:t>cạnh</a:t>
            </a:r>
            <a:endParaRPr lang="en-US" sz="2400" b="1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2: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2: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2: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còn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2: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còn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3: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3: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3: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còn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3: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còn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4: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4: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4: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còn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4: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còn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5: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5291" y="5486400"/>
            <a:ext cx="5118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Lặp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5: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nữa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Dijkstra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6362700" y="2857500"/>
            <a:ext cx="1524000" cy="1143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114800" y="2743200"/>
            <a:ext cx="3505200" cy="2286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 flipH="1" flipV="1">
            <a:off x="2552700" y="3086100"/>
            <a:ext cx="1676400" cy="14478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43200" y="4267200"/>
            <a:ext cx="3810000" cy="381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2895600"/>
            <a:ext cx="2438400" cy="1295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2743200"/>
            <a:ext cx="2514600" cy="152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6200000" flipH="1">
            <a:off x="1333500" y="3162300"/>
            <a:ext cx="1600200" cy="9144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5400" y="22860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810000" y="25146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62200" y="4267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48400" y="3886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362200"/>
            <a:ext cx="685800" cy="685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2286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95600" y="3429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21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0" y="3505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13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3886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3340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38800" y="2362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30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3200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12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1524000"/>
            <a:ext cx="1356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5200" y="16002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200" y="14478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0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530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24400"/>
            <a:ext cx="1356462" cy="8309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Check: 1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D: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6600" y="5410200"/>
            <a:ext cx="55771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Lặp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lần</a:t>
            </a:r>
            <a:r>
              <a:rPr lang="en-US" sz="2400" b="1" dirty="0" smtClean="0"/>
              <a:t> 5:</a:t>
            </a:r>
          </a:p>
          <a:p>
            <a:r>
              <a:rPr lang="en-US" sz="2400" b="1" dirty="0" smtClean="0"/>
              <a:t>	</a:t>
            </a:r>
            <a:r>
              <a:rPr lang="en-US" sz="2400" b="1" dirty="0" err="1" smtClean="0"/>
              <a:t>Tất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cả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đỉnh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đã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được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đánh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dấu</a:t>
            </a:r>
            <a:endParaRPr lang="en-US" sz="2400" b="1" dirty="0" smtClean="0"/>
          </a:p>
          <a:p>
            <a:r>
              <a:rPr lang="en-US" sz="2400" b="1" dirty="0" smtClean="0"/>
              <a:t>	</a:t>
            </a:r>
            <a:r>
              <a:rPr lang="en-US" sz="2400" b="1" dirty="0" err="1" smtClean="0"/>
              <a:t>Thuật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toán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kết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thúc</a:t>
            </a:r>
            <a:r>
              <a:rPr lang="en-US" sz="2400" b="1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Floyd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endParaRPr lang="en-US" dirty="0" smtClean="0"/>
          </a:p>
          <a:p>
            <a:r>
              <a:rPr lang="en-US" dirty="0" err="1" smtClean="0"/>
              <a:t>Gọi</a:t>
            </a:r>
            <a:r>
              <a:rPr lang="en-US" dirty="0" smtClean="0"/>
              <a:t> D[</a:t>
            </a:r>
            <a:r>
              <a:rPr lang="en-US" dirty="0" err="1" smtClean="0"/>
              <a:t>i,j</a:t>
            </a:r>
            <a:r>
              <a:rPr lang="en-US" dirty="0" smtClean="0"/>
              <a:t>]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j.</a:t>
            </a:r>
          </a:p>
          <a:p>
            <a:r>
              <a:rPr lang="en-US" dirty="0" smtClean="0"/>
              <a:t>Ta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tiểu</a:t>
            </a:r>
            <a:r>
              <a:rPr lang="en-US" dirty="0" smtClean="0"/>
              <a:t> D[</a:t>
            </a:r>
            <a:r>
              <a:rPr lang="en-US" dirty="0" err="1" smtClean="0"/>
              <a:t>i,j</a:t>
            </a:r>
            <a:r>
              <a:rPr lang="en-US" dirty="0" smtClean="0"/>
              <a:t>]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k </a:t>
            </a:r>
            <a:r>
              <a:rPr lang="en-US" dirty="0" err="1" smtClean="0"/>
              <a:t>xét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1 … n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	D[</a:t>
            </a:r>
            <a:r>
              <a:rPr lang="en-US" dirty="0" err="1" smtClean="0"/>
              <a:t>i,j</a:t>
            </a:r>
            <a:r>
              <a:rPr lang="en-US" dirty="0" smtClean="0"/>
              <a:t>]=min{D[</a:t>
            </a:r>
            <a:r>
              <a:rPr lang="en-US" dirty="0" err="1" smtClean="0"/>
              <a:t>i,j</a:t>
            </a:r>
            <a:r>
              <a:rPr lang="en-US" dirty="0" smtClean="0"/>
              <a:t>],D[</a:t>
            </a:r>
            <a:r>
              <a:rPr lang="en-US" dirty="0" err="1" smtClean="0"/>
              <a:t>i,k</a:t>
            </a:r>
            <a:r>
              <a:rPr lang="en-US" dirty="0" smtClean="0"/>
              <a:t>]+D[</a:t>
            </a:r>
            <a:r>
              <a:rPr lang="en-US" dirty="0" err="1" smtClean="0"/>
              <a:t>k,j</a:t>
            </a:r>
            <a:r>
              <a:rPr lang="en-US" dirty="0" smtClean="0"/>
              <a:t>]}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Floyd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bày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for k:=1 to n do</a:t>
            </a:r>
          </a:p>
          <a:p>
            <a:pPr>
              <a:buNone/>
            </a:pPr>
            <a:r>
              <a:rPr lang="en-US" dirty="0" smtClean="0"/>
              <a:t>	for </a:t>
            </a:r>
            <a:r>
              <a:rPr lang="en-US" dirty="0" err="1" smtClean="0"/>
              <a:t>i</a:t>
            </a:r>
            <a:r>
              <a:rPr lang="en-US" dirty="0" smtClean="0"/>
              <a:t>:=1 to n do</a:t>
            </a:r>
          </a:p>
          <a:p>
            <a:pPr>
              <a:buNone/>
            </a:pPr>
            <a:r>
              <a:rPr lang="en-US" dirty="0" smtClean="0"/>
              <a:t>		for j:=1 to n do</a:t>
            </a:r>
          </a:p>
          <a:p>
            <a:pPr>
              <a:buNone/>
            </a:pPr>
            <a:r>
              <a:rPr lang="en-US" dirty="0" smtClean="0"/>
              <a:t>		     D[</a:t>
            </a:r>
            <a:r>
              <a:rPr lang="en-US" dirty="0" err="1" smtClean="0"/>
              <a:t>i,j</a:t>
            </a:r>
            <a:r>
              <a:rPr lang="en-US" dirty="0" smtClean="0"/>
              <a:t>]=min{D[</a:t>
            </a:r>
            <a:r>
              <a:rPr lang="en-US" dirty="0" err="1" smtClean="0"/>
              <a:t>i,j</a:t>
            </a:r>
            <a:r>
              <a:rPr lang="en-US" dirty="0" smtClean="0"/>
              <a:t>], D[</a:t>
            </a:r>
            <a:r>
              <a:rPr lang="en-US" dirty="0" err="1" smtClean="0"/>
              <a:t>i,k</a:t>
            </a:r>
            <a:r>
              <a:rPr lang="en-US" dirty="0" smtClean="0"/>
              <a:t>]+D[</a:t>
            </a:r>
            <a:r>
              <a:rPr lang="en-US" dirty="0" err="1" smtClean="0"/>
              <a:t>k,j</a:t>
            </a:r>
            <a:r>
              <a:rPr lang="en-US" dirty="0" smtClean="0"/>
              <a:t>]}</a:t>
            </a:r>
          </a:p>
          <a:p>
            <a:r>
              <a:rPr lang="en-US" dirty="0" smtClean="0"/>
              <a:t>Ta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đắn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Floyd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Dk</a:t>
            </a:r>
            <a:r>
              <a:rPr lang="en-US" dirty="0" smtClean="0"/>
              <a:t>[</a:t>
            </a:r>
            <a:r>
              <a:rPr lang="en-US" dirty="0" err="1" smtClean="0"/>
              <a:t>i,j</a:t>
            </a:r>
            <a:r>
              <a:rPr lang="en-US" dirty="0" smtClean="0"/>
              <a:t>]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j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qua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{1,..,k}.</a:t>
            </a:r>
          </a:p>
          <a:p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D0[</a:t>
            </a:r>
            <a:r>
              <a:rPr lang="en-US" dirty="0" err="1" smtClean="0"/>
              <a:t>i,j</a:t>
            </a:r>
            <a:r>
              <a:rPr lang="en-US" dirty="0" smtClean="0"/>
              <a:t>]=A[</a:t>
            </a:r>
            <a:r>
              <a:rPr lang="en-US" dirty="0" err="1" smtClean="0"/>
              <a:t>i,j</a:t>
            </a:r>
            <a:r>
              <a:rPr lang="en-US" dirty="0" smtClean="0"/>
              <a:t>]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D(k-1)[</a:t>
            </a:r>
            <a:r>
              <a:rPr lang="en-US" dirty="0" err="1" smtClean="0"/>
              <a:t>i,j</a:t>
            </a:r>
            <a:r>
              <a:rPr lang="en-US" dirty="0" smtClean="0"/>
              <a:t>],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Dk</a:t>
            </a:r>
            <a:r>
              <a:rPr lang="en-US" dirty="0" smtClean="0"/>
              <a:t>[</a:t>
            </a:r>
            <a:r>
              <a:rPr lang="en-US" dirty="0" err="1" smtClean="0"/>
              <a:t>i,j</a:t>
            </a:r>
            <a:r>
              <a:rPr lang="en-US" dirty="0" smtClean="0"/>
              <a:t>]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lầy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endParaRPr lang="en-US" dirty="0" smtClean="0"/>
          </a:p>
          <a:p>
            <a:pPr lvl="1"/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qua k: 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err="1" smtClean="0"/>
              <a:t>Dk</a:t>
            </a:r>
            <a:r>
              <a:rPr lang="en-US" dirty="0" smtClean="0"/>
              <a:t>[</a:t>
            </a:r>
            <a:r>
              <a:rPr lang="en-US" dirty="0" err="1" smtClean="0"/>
              <a:t>i,j</a:t>
            </a:r>
            <a:r>
              <a:rPr lang="en-US" dirty="0" smtClean="0"/>
              <a:t>]=D(k-1)[</a:t>
            </a:r>
            <a:r>
              <a:rPr lang="en-US" dirty="0" err="1" smtClean="0"/>
              <a:t>i,j</a:t>
            </a:r>
            <a:r>
              <a:rPr lang="en-US" dirty="0" smtClean="0"/>
              <a:t>]</a:t>
            </a:r>
          </a:p>
          <a:p>
            <a:pPr lvl="1"/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qua k: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</a:t>
            </a:r>
            <a:r>
              <a:rPr lang="en-US" dirty="0" err="1" smtClean="0"/>
              <a:t>Dk</a:t>
            </a:r>
            <a:r>
              <a:rPr lang="en-US" dirty="0" smtClean="0"/>
              <a:t>[</a:t>
            </a:r>
            <a:r>
              <a:rPr lang="en-US" dirty="0" err="1" smtClean="0"/>
              <a:t>i,j</a:t>
            </a:r>
            <a:r>
              <a:rPr lang="en-US" dirty="0" smtClean="0"/>
              <a:t>]=D(k-1)[</a:t>
            </a:r>
            <a:r>
              <a:rPr lang="en-US" dirty="0" err="1" smtClean="0"/>
              <a:t>i,u</a:t>
            </a:r>
            <a:r>
              <a:rPr lang="en-US" dirty="0" smtClean="0"/>
              <a:t>]+D(k-1)[</a:t>
            </a:r>
            <a:r>
              <a:rPr lang="en-US" dirty="0" err="1" smtClean="0"/>
              <a:t>u,j</a:t>
            </a:r>
            <a:r>
              <a:rPr lang="en-US" dirty="0" smtClean="0"/>
              <a:t>].</a:t>
            </a:r>
          </a:p>
          <a:p>
            <a:r>
              <a:rPr lang="en-US" dirty="0" err="1" smtClean="0"/>
              <a:t>Khi</a:t>
            </a:r>
            <a:r>
              <a:rPr lang="en-US" dirty="0" smtClean="0"/>
              <a:t> k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n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tới</a:t>
            </a:r>
            <a:r>
              <a:rPr lang="en-US" dirty="0" smtClean="0"/>
              <a:t> j qua {1..n} </a:t>
            </a:r>
            <a:r>
              <a:rPr lang="en-US" dirty="0" err="1" smtClean="0"/>
              <a:t>đỉnh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plat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215</TotalTime>
  <Words>2472</Words>
  <Application>Microsoft Office PowerPoint</Application>
  <PresentationFormat>On-screen Show (4:3)</PresentationFormat>
  <Paragraphs>884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Times New Roman</vt:lpstr>
      <vt:lpstr>Verdana</vt:lpstr>
      <vt:lpstr>Wingdings 2</vt:lpstr>
      <vt:lpstr>Template</vt:lpstr>
      <vt:lpstr>BÀI GiẢNG ĐỒ THỊ 3</vt:lpstr>
      <vt:lpstr>Bài toán đường đi ngắn nhất</vt:lpstr>
      <vt:lpstr>Bài toán đường đi ngắn nhất</vt:lpstr>
      <vt:lpstr>Bài toán đường đi ngắn nhất</vt:lpstr>
      <vt:lpstr>Bài toán đường đi ngắn nhất</vt:lpstr>
      <vt:lpstr>Bài toán đường đi ngắn nhất</vt:lpstr>
      <vt:lpstr>Bài toán đường đi ngắn nhất</vt:lpstr>
      <vt:lpstr>Bài toán đường đi ngắn nhất</vt:lpstr>
      <vt:lpstr>Bài toán đường đi ngắn nhất</vt:lpstr>
      <vt:lpstr>Bài toán đường đi ngắn nhất</vt:lpstr>
      <vt:lpstr>Bài toán đường đi ngắn nhất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Ford-Bellman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Dijkstra</vt:lpstr>
      <vt:lpstr>Thuật toán Floyd</vt:lpstr>
      <vt:lpstr>Thuật toán Floyd</vt:lpstr>
      <vt:lpstr>Thuật toán Floyd</vt:lpstr>
      <vt:lpstr>Bài tập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GiẢNG ĐỒ THỊ 2</dc:title>
  <dc:creator>mr Nam</dc:creator>
  <cp:lastModifiedBy>HuongDK</cp:lastModifiedBy>
  <cp:revision>176</cp:revision>
  <dcterms:created xsi:type="dcterms:W3CDTF">2011-06-10T12:22:53Z</dcterms:created>
  <dcterms:modified xsi:type="dcterms:W3CDTF">2018-03-07T02:59:29Z</dcterms:modified>
</cp:coreProperties>
</file>